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Lst>
  <p:notesMasterIdLst>
    <p:notesMasterId r:id="rId21"/>
  </p:notesMasterIdLst>
  <p:sldIdLst>
    <p:sldId id="291" r:id="rId3"/>
    <p:sldId id="282" r:id="rId4"/>
    <p:sldId id="266" r:id="rId5"/>
    <p:sldId id="295" r:id="rId6"/>
    <p:sldId id="267" r:id="rId7"/>
    <p:sldId id="261" r:id="rId8"/>
    <p:sldId id="292" r:id="rId9"/>
    <p:sldId id="293" r:id="rId10"/>
    <p:sldId id="294" r:id="rId11"/>
    <p:sldId id="270" r:id="rId12"/>
    <p:sldId id="278" r:id="rId13"/>
    <p:sldId id="280" r:id="rId14"/>
    <p:sldId id="296" r:id="rId15"/>
    <p:sldId id="297" r:id="rId16"/>
    <p:sldId id="298" r:id="rId17"/>
    <p:sldId id="299" r:id="rId18"/>
    <p:sldId id="300" r:id="rId19"/>
    <p:sldId id="30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77" userDrawn="1">
          <p15:clr>
            <a:srgbClr val="A4A3A4"/>
          </p15:clr>
        </p15:guide>
        <p15:guide id="2" pos="370" userDrawn="1">
          <p15:clr>
            <a:srgbClr val="A4A3A4"/>
          </p15:clr>
        </p15:guide>
        <p15:guide id="3" pos="7310" userDrawn="1">
          <p15:clr>
            <a:srgbClr val="A4A3A4"/>
          </p15:clr>
        </p15:guide>
        <p15:guide id="4" orient="horz" pos="572" userDrawn="1">
          <p15:clr>
            <a:srgbClr val="A4A3A4"/>
          </p15:clr>
        </p15:guide>
        <p15:guide id="5" orient="horz" pos="3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7E8"/>
    <a:srgbClr val="582A04"/>
    <a:srgbClr val="50260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096A97-E15C-46AF-9AF6-4DE0802ADBE8}" v="74" dt="2024-04-12T06:57:22.404"/>
    <p1510:client id="{29E2CAA8-FC4D-4B33-A4A5-FD03BAFA8FB2}" v="397" dt="2024-04-12T07:17:06.947"/>
    <p1510:client id="{3330FBE7-1696-4DFF-83C1-BE9B5EE4A995}" v="2699" dt="2024-04-12T00:18:22.675"/>
    <p1510:client id="{518648C3-B1C5-4982-B1C3-3AECF7AF06E3}" v="2310" dt="2024-04-11T19:06:46.197"/>
    <p1510:client id="{5CB36EFB-CD45-45A4-9856-42441EE7FD3A}" v="1070" dt="2024-04-11T21:35:18.586"/>
    <p1510:client id="{A981661D-8641-4CE0-8E42-66893947AC38}" v="1924" dt="2024-04-11T16:15:16.610"/>
    <p1510:client id="{F84634B0-FE74-4B01-B481-C5B52E8A94E5}" v="3077" dt="2024-04-11T18:49:04.2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876" y="108"/>
      </p:cViewPr>
      <p:guideLst>
        <p:guide orient="horz" pos="777"/>
        <p:guide pos="370"/>
        <p:guide pos="7310"/>
        <p:guide orient="horz" pos="572"/>
        <p:guide orient="horz" pos="37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5/10/relationships/revisionInfo" Target="revisionInfo.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D2806B-2165-4AE0-A8E4-31D34A4638EF}" type="datetimeFigureOut">
              <a:rPr lang="en-CA" smtClean="0"/>
              <a:t>2024-04-12</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C74087-0FC1-4949-85BC-FE38376F7F6B}" type="slidenum">
              <a:rPr lang="en-CA" smtClean="0"/>
              <a:t>‹#›</a:t>
            </a:fld>
            <a:endParaRPr lang="en-CA"/>
          </a:p>
        </p:txBody>
      </p:sp>
    </p:spTree>
    <p:extLst>
      <p:ext uri="{BB962C8B-B14F-4D97-AF65-F5344CB8AC3E}">
        <p14:creationId xmlns:p14="http://schemas.microsoft.com/office/powerpoint/2010/main" val="31496138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8DC74087-0FC1-4949-85BC-FE38376F7F6B}" type="slidenum">
              <a:rPr lang="en-CA" smtClean="0"/>
              <a:t>3</a:t>
            </a:fld>
            <a:endParaRPr lang="en-CA"/>
          </a:p>
        </p:txBody>
      </p:sp>
    </p:spTree>
    <p:extLst>
      <p:ext uri="{BB962C8B-B14F-4D97-AF65-F5344CB8AC3E}">
        <p14:creationId xmlns:p14="http://schemas.microsoft.com/office/powerpoint/2010/main" val="40095135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t>“ 1,000 key Grand Hyatt-managed hotel, 2,000 condominium hotel</a:t>
            </a:r>
            <a:br>
              <a:rPr lang="en-US"/>
            </a:br>
            <a:r>
              <a:rPr lang="en-US"/>
              <a:t>units totaling approximately 2,232,000 square feet, a 75,000 square foot</a:t>
            </a:r>
            <a:br>
              <a:rPr lang="en-US"/>
            </a:br>
            <a:r>
              <a:rPr lang="en-US"/>
              <a:t>casino, 275,000 square feet of retail and restaurant space, 150,000 square</a:t>
            </a:r>
            <a:br>
              <a:rPr lang="en-US"/>
            </a:br>
            <a:r>
              <a:rPr lang="en-US"/>
              <a:t>feet of meeting and ballroom space” - http://greatlasvegascondos.com/cosmopolitan_construction_financing.htm</a:t>
            </a:r>
          </a:p>
          <a:p>
            <a:pPr marL="181830" indent="-181830">
              <a:buFontTx/>
              <a:buChar char="-"/>
            </a:pPr>
            <a:r>
              <a:rPr lang="en-US"/>
              <a:t>2,200 condo-hotel units or 2,000 units?</a:t>
            </a:r>
          </a:p>
          <a:p>
            <a:r>
              <a:rPr lang="en-US"/>
              <a:t>“Approximately 2,700 keys comprised of luxury condo-hotel units and hotel rooms with over 1,700 condo-hotel units offered for sale” - http://www.hotel-online.com/News/PR2005_2nd/Apr05_HyattCosmopolitan.html</a:t>
            </a:r>
          </a:p>
          <a:p>
            <a:endParaRPr lang="en-US"/>
          </a:p>
          <a:p>
            <a:r>
              <a:rPr lang="en-US"/>
              <a:t>“- Initial developer Ian </a:t>
            </a:r>
            <a:r>
              <a:rPr lang="en-US" err="1"/>
              <a:t>Eichner</a:t>
            </a:r>
            <a:r>
              <a:rPr lang="en-US"/>
              <a:t> exhausts project funding / defaults on construction loans of $760 million and enters foreclosure” - http://www.examiner.com/article/cosmopolitan-the-rocky-past-and-uncertain-future-of-the-newest-vegas-resort</a:t>
            </a:r>
          </a:p>
          <a:p>
            <a:r>
              <a:rPr lang="en-US"/>
              <a:t>- Confirmed at 760 with Bloomberg article</a:t>
            </a:r>
          </a:p>
          <a:p>
            <a:endParaRPr lang="en-US"/>
          </a:p>
          <a:p>
            <a:r>
              <a:rPr lang="en-US"/>
              <a:t>€500m write-off in 2009 (annual report 2010) ~ $750m</a:t>
            </a:r>
          </a:p>
          <a:p>
            <a:endParaRPr lang="en-US"/>
          </a:p>
          <a:p>
            <a:endParaRPr lang="en-US"/>
          </a:p>
          <a:p>
            <a:endParaRPr lang="en-US"/>
          </a:p>
        </p:txBody>
      </p:sp>
      <p:sp>
        <p:nvSpPr>
          <p:cNvPr id="4" name="Slide Number Placeholder 3"/>
          <p:cNvSpPr>
            <a:spLocks noGrp="1"/>
          </p:cNvSpPr>
          <p:nvPr>
            <p:ph type="sldNum" sz="quarter" idx="10"/>
          </p:nvPr>
        </p:nvSpPr>
        <p:spPr/>
        <p:txBody>
          <a:bodyPr/>
          <a:lstStyle/>
          <a:p>
            <a:fld id="{6F311871-A143-41E3-A3EB-2A29833AA8CF}" type="slidenum">
              <a:rPr lang="en-US" smtClean="0">
                <a:solidFill>
                  <a:prstClr val="black"/>
                </a:solidFill>
              </a:rPr>
              <a:pPr/>
              <a:t>11</a:t>
            </a:fld>
            <a:endParaRPr lang="en-US">
              <a:solidFill>
                <a:prstClr val="black"/>
              </a:solidFill>
            </a:endParaRPr>
          </a:p>
        </p:txBody>
      </p:sp>
    </p:spTree>
    <p:extLst>
      <p:ext uri="{BB962C8B-B14F-4D97-AF65-F5344CB8AC3E}">
        <p14:creationId xmlns:p14="http://schemas.microsoft.com/office/powerpoint/2010/main" val="15762936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340AF-40F2-43EF-A424-FBD5620B0B32}"/>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1ECD4490-21DB-4A8D-BE3A-5ADB9EBADA3C}"/>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9C0BBF8A-0B5A-49D8-98BB-00CDE5BBFCF6}"/>
              </a:ext>
            </a:extLst>
          </p:cNvPr>
          <p:cNvSpPr>
            <a:spLocks noGrp="1"/>
          </p:cNvSpPr>
          <p:nvPr>
            <p:ph type="dt" sz="half" idx="10"/>
          </p:nvPr>
        </p:nvSpPr>
        <p:spPr>
          <a:xfrm>
            <a:off x="838200" y="6356350"/>
            <a:ext cx="2743200" cy="365125"/>
          </a:xfrm>
          <a:prstGeom prst="rect">
            <a:avLst/>
          </a:prstGeom>
        </p:spPr>
        <p:txBody>
          <a:bodyPr/>
          <a:lstStyle/>
          <a:p>
            <a:fld id="{349B1BB6-17BA-48C2-8395-62EAB74B79B4}" type="datetimeFigureOut">
              <a:rPr lang="en-CA" smtClean="0"/>
              <a:t>2024-04-12</a:t>
            </a:fld>
            <a:endParaRPr lang="en-CA"/>
          </a:p>
        </p:txBody>
      </p:sp>
      <p:sp>
        <p:nvSpPr>
          <p:cNvPr id="5" name="Footer Placeholder 4">
            <a:extLst>
              <a:ext uri="{FF2B5EF4-FFF2-40B4-BE49-F238E27FC236}">
                <a16:creationId xmlns:a16="http://schemas.microsoft.com/office/drawing/2014/main" id="{588CF7AA-B1E9-49F6-B6DF-7EBF70C4E6A2}"/>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6" name="Slide Number Placeholder 5">
            <a:extLst>
              <a:ext uri="{FF2B5EF4-FFF2-40B4-BE49-F238E27FC236}">
                <a16:creationId xmlns:a16="http://schemas.microsoft.com/office/drawing/2014/main" id="{4A429579-92F0-4246-BB4F-B79939A62067}"/>
              </a:ext>
            </a:extLst>
          </p:cNvPr>
          <p:cNvSpPr>
            <a:spLocks noGrp="1"/>
          </p:cNvSpPr>
          <p:nvPr>
            <p:ph type="sldNum" sz="quarter" idx="12"/>
          </p:nvPr>
        </p:nvSpPr>
        <p:spPr>
          <a:xfrm>
            <a:off x="8610600" y="6356350"/>
            <a:ext cx="2743200" cy="365125"/>
          </a:xfrm>
          <a:prstGeom prst="rect">
            <a:avLst/>
          </a:prstGeom>
        </p:spPr>
        <p:txBody>
          <a:bodyPr/>
          <a:lstStyle/>
          <a:p>
            <a:fld id="{80776354-5974-40A5-B41E-AD4171BFCBDF}" type="slidenum">
              <a:rPr lang="en-CA" smtClean="0"/>
              <a:t>‹#›</a:t>
            </a:fld>
            <a:endParaRPr lang="en-CA"/>
          </a:p>
        </p:txBody>
      </p:sp>
    </p:spTree>
    <p:extLst>
      <p:ext uri="{BB962C8B-B14F-4D97-AF65-F5344CB8AC3E}">
        <p14:creationId xmlns:p14="http://schemas.microsoft.com/office/powerpoint/2010/main" val="1864986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36D6A-CC4E-44A1-A4A0-28734A2F43D3}"/>
              </a:ext>
            </a:extLst>
          </p:cNvPr>
          <p:cNvSpPr>
            <a:spLocks noGrp="1"/>
          </p:cNvSpPr>
          <p:nvPr>
            <p:ph type="title"/>
          </p:nvPr>
        </p:nvSpPr>
        <p:spPr>
          <a:xfrm>
            <a:off x="838200" y="365125"/>
            <a:ext cx="10515600" cy="535531"/>
          </a:xfrm>
          <a:prstGeom prst="rect">
            <a:avLst/>
          </a:prstGeom>
        </p:spPr>
        <p:txBody>
          <a:bodyPr>
            <a:spAutoFit/>
          </a:bodyPr>
          <a:lstStyle>
            <a:lvl1pPr>
              <a:defRPr sz="3200">
                <a:solidFill>
                  <a:schemeClr val="accent5"/>
                </a:solidFill>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D58E92C6-9271-4204-B09B-7D8100E26832}"/>
              </a:ext>
            </a:extLst>
          </p:cNvPr>
          <p:cNvSpPr>
            <a:spLocks noGrp="1"/>
          </p:cNvSpPr>
          <p:nvPr>
            <p:ph idx="1"/>
          </p:nvPr>
        </p:nvSpPr>
        <p:spPr>
          <a:xfrm>
            <a:off x="838200" y="1825625"/>
            <a:ext cx="10515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7135038-78E8-426D-84BA-837CFFBF34F2}"/>
              </a:ext>
            </a:extLst>
          </p:cNvPr>
          <p:cNvSpPr>
            <a:spLocks noGrp="1"/>
          </p:cNvSpPr>
          <p:nvPr>
            <p:ph type="dt" sz="half" idx="10"/>
          </p:nvPr>
        </p:nvSpPr>
        <p:spPr>
          <a:xfrm>
            <a:off x="838200" y="6356350"/>
            <a:ext cx="2743200" cy="365125"/>
          </a:xfrm>
          <a:prstGeom prst="rect">
            <a:avLst/>
          </a:prstGeom>
        </p:spPr>
        <p:txBody>
          <a:bodyPr/>
          <a:lstStyle/>
          <a:p>
            <a:fld id="{349B1BB6-17BA-48C2-8395-62EAB74B79B4}" type="datetimeFigureOut">
              <a:rPr lang="en-CA" smtClean="0"/>
              <a:t>2024-04-12</a:t>
            </a:fld>
            <a:endParaRPr lang="en-CA"/>
          </a:p>
        </p:txBody>
      </p:sp>
      <p:sp>
        <p:nvSpPr>
          <p:cNvPr id="5" name="Footer Placeholder 4">
            <a:extLst>
              <a:ext uri="{FF2B5EF4-FFF2-40B4-BE49-F238E27FC236}">
                <a16:creationId xmlns:a16="http://schemas.microsoft.com/office/drawing/2014/main" id="{BE6DF455-D88B-4335-B94C-2BF90A6B16C1}"/>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6" name="Slide Number Placeholder 5">
            <a:extLst>
              <a:ext uri="{FF2B5EF4-FFF2-40B4-BE49-F238E27FC236}">
                <a16:creationId xmlns:a16="http://schemas.microsoft.com/office/drawing/2014/main" id="{FA07994E-119B-47C2-9E8D-D0FBB1D50471}"/>
              </a:ext>
            </a:extLst>
          </p:cNvPr>
          <p:cNvSpPr>
            <a:spLocks noGrp="1"/>
          </p:cNvSpPr>
          <p:nvPr>
            <p:ph type="sldNum" sz="quarter" idx="12"/>
          </p:nvPr>
        </p:nvSpPr>
        <p:spPr>
          <a:xfrm>
            <a:off x="8610600" y="6356350"/>
            <a:ext cx="2743200" cy="365125"/>
          </a:xfrm>
          <a:prstGeom prst="rect">
            <a:avLst/>
          </a:prstGeom>
        </p:spPr>
        <p:txBody>
          <a:bodyPr/>
          <a:lstStyle/>
          <a:p>
            <a:fld id="{80776354-5974-40A5-B41E-AD4171BFCBDF}" type="slidenum">
              <a:rPr lang="en-CA" smtClean="0"/>
              <a:t>‹#›</a:t>
            </a:fld>
            <a:endParaRPr lang="en-CA"/>
          </a:p>
        </p:txBody>
      </p:sp>
    </p:spTree>
    <p:extLst>
      <p:ext uri="{BB962C8B-B14F-4D97-AF65-F5344CB8AC3E}">
        <p14:creationId xmlns:p14="http://schemas.microsoft.com/office/powerpoint/2010/main" val="265146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39442-F3FE-42EA-BEC2-D2F3AE8EFC90}"/>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0D18E17E-267A-419A-A751-7CD8396B0E33}"/>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A1703DBF-24FD-45B7-937A-792FF56C92AE}"/>
              </a:ext>
            </a:extLst>
          </p:cNvPr>
          <p:cNvSpPr>
            <a:spLocks noGrp="1"/>
          </p:cNvSpPr>
          <p:nvPr>
            <p:ph type="dt" sz="half" idx="10"/>
          </p:nvPr>
        </p:nvSpPr>
        <p:spPr>
          <a:xfrm>
            <a:off x="838200" y="6356350"/>
            <a:ext cx="2743200" cy="365125"/>
          </a:xfrm>
          <a:prstGeom prst="rect">
            <a:avLst/>
          </a:prstGeom>
        </p:spPr>
        <p:txBody>
          <a:bodyPr/>
          <a:lstStyle/>
          <a:p>
            <a:fld id="{349B1BB6-17BA-48C2-8395-62EAB74B79B4}" type="datetimeFigureOut">
              <a:rPr lang="en-CA" smtClean="0"/>
              <a:t>2024-04-12</a:t>
            </a:fld>
            <a:endParaRPr lang="en-CA"/>
          </a:p>
        </p:txBody>
      </p:sp>
      <p:sp>
        <p:nvSpPr>
          <p:cNvPr id="5" name="Footer Placeholder 4">
            <a:extLst>
              <a:ext uri="{FF2B5EF4-FFF2-40B4-BE49-F238E27FC236}">
                <a16:creationId xmlns:a16="http://schemas.microsoft.com/office/drawing/2014/main" id="{07C15F3F-569F-4771-B4ED-28DE178FBA97}"/>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6" name="Slide Number Placeholder 5">
            <a:extLst>
              <a:ext uri="{FF2B5EF4-FFF2-40B4-BE49-F238E27FC236}">
                <a16:creationId xmlns:a16="http://schemas.microsoft.com/office/drawing/2014/main" id="{86D0A3CB-0305-4CE0-95FE-B92072989BD5}"/>
              </a:ext>
            </a:extLst>
          </p:cNvPr>
          <p:cNvSpPr>
            <a:spLocks noGrp="1"/>
          </p:cNvSpPr>
          <p:nvPr>
            <p:ph type="sldNum" sz="quarter" idx="12"/>
          </p:nvPr>
        </p:nvSpPr>
        <p:spPr>
          <a:xfrm>
            <a:off x="8610600" y="6356350"/>
            <a:ext cx="2743200" cy="365125"/>
          </a:xfrm>
          <a:prstGeom prst="rect">
            <a:avLst/>
          </a:prstGeom>
        </p:spPr>
        <p:txBody>
          <a:bodyPr/>
          <a:lstStyle/>
          <a:p>
            <a:fld id="{80776354-5974-40A5-B41E-AD4171BFCBDF}" type="slidenum">
              <a:rPr lang="en-CA" smtClean="0"/>
              <a:t>‹#›</a:t>
            </a:fld>
            <a:endParaRPr lang="en-CA"/>
          </a:p>
        </p:txBody>
      </p:sp>
    </p:spTree>
    <p:extLst>
      <p:ext uri="{BB962C8B-B14F-4D97-AF65-F5344CB8AC3E}">
        <p14:creationId xmlns:p14="http://schemas.microsoft.com/office/powerpoint/2010/main" val="2589662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4A341-B8F9-4F43-90EB-DAB7AC41EEE3}"/>
              </a:ext>
            </a:extLst>
          </p:cNvPr>
          <p:cNvSpPr>
            <a:spLocks noGrp="1"/>
          </p:cNvSpPr>
          <p:nvPr>
            <p:ph type="title"/>
          </p:nvPr>
        </p:nvSpPr>
        <p:spPr>
          <a:xfrm>
            <a:off x="838200" y="365125"/>
            <a:ext cx="10515600" cy="535531"/>
          </a:xfrm>
          <a:prstGeom prst="rect">
            <a:avLst/>
          </a:prstGeom>
        </p:spPr>
        <p:txBody>
          <a:bodyPr>
            <a:spAutoFit/>
          </a:bodyPr>
          <a:lstStyle>
            <a:lvl1pPr>
              <a:defRPr sz="3200">
                <a:solidFill>
                  <a:schemeClr val="tx2"/>
                </a:solidFill>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04A01F5F-0DF9-4874-AA60-D190F80237D5}"/>
              </a:ext>
            </a:extLst>
          </p:cNvPr>
          <p:cNvSpPr>
            <a:spLocks noGrp="1"/>
          </p:cNvSpPr>
          <p:nvPr>
            <p:ph sz="half" idx="1"/>
          </p:nvPr>
        </p:nvSpPr>
        <p:spPr>
          <a:xfrm>
            <a:off x="838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70B2CE84-6341-4CFB-BAAF-2A291FA95BB0}"/>
              </a:ext>
            </a:extLst>
          </p:cNvPr>
          <p:cNvSpPr>
            <a:spLocks noGrp="1"/>
          </p:cNvSpPr>
          <p:nvPr>
            <p:ph sz="half" idx="2"/>
          </p:nvPr>
        </p:nvSpPr>
        <p:spPr>
          <a:xfrm>
            <a:off x="6172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D3B162D3-56E3-4E93-85D5-153F71D577DD}"/>
              </a:ext>
            </a:extLst>
          </p:cNvPr>
          <p:cNvSpPr>
            <a:spLocks noGrp="1"/>
          </p:cNvSpPr>
          <p:nvPr>
            <p:ph type="dt" sz="half" idx="10"/>
          </p:nvPr>
        </p:nvSpPr>
        <p:spPr>
          <a:xfrm>
            <a:off x="838200" y="6356350"/>
            <a:ext cx="2743200" cy="365125"/>
          </a:xfrm>
          <a:prstGeom prst="rect">
            <a:avLst/>
          </a:prstGeom>
        </p:spPr>
        <p:txBody>
          <a:bodyPr/>
          <a:lstStyle/>
          <a:p>
            <a:fld id="{349B1BB6-17BA-48C2-8395-62EAB74B79B4}" type="datetimeFigureOut">
              <a:rPr lang="en-CA" smtClean="0"/>
              <a:t>2024-04-12</a:t>
            </a:fld>
            <a:endParaRPr lang="en-CA"/>
          </a:p>
        </p:txBody>
      </p:sp>
      <p:sp>
        <p:nvSpPr>
          <p:cNvPr id="6" name="Footer Placeholder 5">
            <a:extLst>
              <a:ext uri="{FF2B5EF4-FFF2-40B4-BE49-F238E27FC236}">
                <a16:creationId xmlns:a16="http://schemas.microsoft.com/office/drawing/2014/main" id="{51C90F25-5305-42D3-8116-216331EB72AA}"/>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7" name="Slide Number Placeholder 6">
            <a:extLst>
              <a:ext uri="{FF2B5EF4-FFF2-40B4-BE49-F238E27FC236}">
                <a16:creationId xmlns:a16="http://schemas.microsoft.com/office/drawing/2014/main" id="{A64D5B12-F0FB-4481-9949-C531D66A3CA7}"/>
              </a:ext>
            </a:extLst>
          </p:cNvPr>
          <p:cNvSpPr>
            <a:spLocks noGrp="1"/>
          </p:cNvSpPr>
          <p:nvPr>
            <p:ph type="sldNum" sz="quarter" idx="12"/>
          </p:nvPr>
        </p:nvSpPr>
        <p:spPr>
          <a:xfrm>
            <a:off x="8610600" y="6356350"/>
            <a:ext cx="2743200" cy="365125"/>
          </a:xfrm>
          <a:prstGeom prst="rect">
            <a:avLst/>
          </a:prstGeom>
        </p:spPr>
        <p:txBody>
          <a:bodyPr/>
          <a:lstStyle/>
          <a:p>
            <a:fld id="{80776354-5974-40A5-B41E-AD4171BFCBDF}" type="slidenum">
              <a:rPr lang="en-CA" smtClean="0"/>
              <a:t>‹#›</a:t>
            </a:fld>
            <a:endParaRPr lang="en-CA"/>
          </a:p>
        </p:txBody>
      </p:sp>
    </p:spTree>
    <p:extLst>
      <p:ext uri="{BB962C8B-B14F-4D97-AF65-F5344CB8AC3E}">
        <p14:creationId xmlns:p14="http://schemas.microsoft.com/office/powerpoint/2010/main" val="23442443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5006E-9612-4B5B-B9D6-319842F378CC}"/>
              </a:ext>
            </a:extLst>
          </p:cNvPr>
          <p:cNvSpPr>
            <a:spLocks noGrp="1"/>
          </p:cNvSpPr>
          <p:nvPr>
            <p:ph type="title"/>
          </p:nvPr>
        </p:nvSpPr>
        <p:spPr>
          <a:xfrm>
            <a:off x="839788" y="365125"/>
            <a:ext cx="10515600" cy="535531"/>
          </a:xfrm>
          <a:prstGeom prst="rect">
            <a:avLst/>
          </a:prstGeom>
        </p:spPr>
        <p:txBody>
          <a:bodyPr>
            <a:spAutoFit/>
          </a:bodyPr>
          <a:lstStyle>
            <a:lvl1pPr>
              <a:defRPr sz="3200">
                <a:solidFill>
                  <a:schemeClr val="tx2"/>
                </a:solidFill>
              </a:defRPr>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6EA0239C-3A52-4BA2-9EA7-5153B67D3CCF}"/>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299B155-DC71-4F26-B565-C2E9EBCDE289}"/>
              </a:ext>
            </a:extLst>
          </p:cNvPr>
          <p:cNvSpPr>
            <a:spLocks noGrp="1"/>
          </p:cNvSpPr>
          <p:nvPr>
            <p:ph sz="half" idx="2"/>
          </p:nvPr>
        </p:nvSpPr>
        <p:spPr>
          <a:xfrm>
            <a:off x="839788" y="2505075"/>
            <a:ext cx="5157787"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5DE48D62-CF83-44B0-8129-54FAF5620D52}"/>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1FA1B36-252F-4195-B8E1-79F816A89818}"/>
              </a:ext>
            </a:extLst>
          </p:cNvPr>
          <p:cNvSpPr>
            <a:spLocks noGrp="1"/>
          </p:cNvSpPr>
          <p:nvPr>
            <p:ph sz="quarter" idx="4"/>
          </p:nvPr>
        </p:nvSpPr>
        <p:spPr>
          <a:xfrm>
            <a:off x="6172200" y="2505075"/>
            <a:ext cx="5183188"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62E4A17C-35CC-40ED-BAEF-87D258C51E49}"/>
              </a:ext>
            </a:extLst>
          </p:cNvPr>
          <p:cNvSpPr>
            <a:spLocks noGrp="1"/>
          </p:cNvSpPr>
          <p:nvPr>
            <p:ph type="dt" sz="half" idx="10"/>
          </p:nvPr>
        </p:nvSpPr>
        <p:spPr>
          <a:xfrm>
            <a:off x="838200" y="6356350"/>
            <a:ext cx="2743200" cy="365125"/>
          </a:xfrm>
          <a:prstGeom prst="rect">
            <a:avLst/>
          </a:prstGeom>
        </p:spPr>
        <p:txBody>
          <a:bodyPr/>
          <a:lstStyle/>
          <a:p>
            <a:fld id="{349B1BB6-17BA-48C2-8395-62EAB74B79B4}" type="datetimeFigureOut">
              <a:rPr lang="en-CA" smtClean="0"/>
              <a:t>2024-04-12</a:t>
            </a:fld>
            <a:endParaRPr lang="en-CA"/>
          </a:p>
        </p:txBody>
      </p:sp>
      <p:sp>
        <p:nvSpPr>
          <p:cNvPr id="8" name="Footer Placeholder 7">
            <a:extLst>
              <a:ext uri="{FF2B5EF4-FFF2-40B4-BE49-F238E27FC236}">
                <a16:creationId xmlns:a16="http://schemas.microsoft.com/office/drawing/2014/main" id="{00908122-560D-47B4-A7DC-8861A7101DC4}"/>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9" name="Slide Number Placeholder 8">
            <a:extLst>
              <a:ext uri="{FF2B5EF4-FFF2-40B4-BE49-F238E27FC236}">
                <a16:creationId xmlns:a16="http://schemas.microsoft.com/office/drawing/2014/main" id="{3104FF47-6DEE-4889-B131-EC047A70B90F}"/>
              </a:ext>
            </a:extLst>
          </p:cNvPr>
          <p:cNvSpPr>
            <a:spLocks noGrp="1"/>
          </p:cNvSpPr>
          <p:nvPr>
            <p:ph type="sldNum" sz="quarter" idx="12"/>
          </p:nvPr>
        </p:nvSpPr>
        <p:spPr>
          <a:xfrm>
            <a:off x="8610600" y="6356350"/>
            <a:ext cx="2743200" cy="365125"/>
          </a:xfrm>
          <a:prstGeom prst="rect">
            <a:avLst/>
          </a:prstGeom>
        </p:spPr>
        <p:txBody>
          <a:bodyPr/>
          <a:lstStyle/>
          <a:p>
            <a:fld id="{80776354-5974-40A5-B41E-AD4171BFCBDF}" type="slidenum">
              <a:rPr lang="en-CA" smtClean="0"/>
              <a:t>‹#›</a:t>
            </a:fld>
            <a:endParaRPr lang="en-CA"/>
          </a:p>
        </p:txBody>
      </p:sp>
    </p:spTree>
    <p:extLst>
      <p:ext uri="{BB962C8B-B14F-4D97-AF65-F5344CB8AC3E}">
        <p14:creationId xmlns:p14="http://schemas.microsoft.com/office/powerpoint/2010/main" val="2194107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B0E0F-B29B-440D-9283-D8598F0CB403}"/>
              </a:ext>
            </a:extLst>
          </p:cNvPr>
          <p:cNvSpPr>
            <a:spLocks noGrp="1"/>
          </p:cNvSpPr>
          <p:nvPr>
            <p:ph type="title"/>
          </p:nvPr>
        </p:nvSpPr>
        <p:spPr>
          <a:xfrm>
            <a:off x="838200" y="365125"/>
            <a:ext cx="10515600" cy="535531"/>
          </a:xfrm>
          <a:prstGeom prst="rect">
            <a:avLst/>
          </a:prstGeom>
        </p:spPr>
        <p:txBody>
          <a:bodyPr>
            <a:spAutoFit/>
          </a:bodyPr>
          <a:lstStyle>
            <a:lvl1pPr>
              <a:defRPr sz="3200">
                <a:solidFill>
                  <a:schemeClr val="tx2"/>
                </a:solidFill>
              </a:defRPr>
            </a:lvl1pPr>
          </a:lstStyle>
          <a:p>
            <a:r>
              <a:rPr lang="en-US"/>
              <a:t>Click to edit Master title style</a:t>
            </a:r>
            <a:endParaRPr lang="en-CA"/>
          </a:p>
        </p:txBody>
      </p:sp>
      <p:sp>
        <p:nvSpPr>
          <p:cNvPr id="3" name="Date Placeholder 2">
            <a:extLst>
              <a:ext uri="{FF2B5EF4-FFF2-40B4-BE49-F238E27FC236}">
                <a16:creationId xmlns:a16="http://schemas.microsoft.com/office/drawing/2014/main" id="{A414BA7D-30C1-46F5-BEF7-7439FCABE545}"/>
              </a:ext>
            </a:extLst>
          </p:cNvPr>
          <p:cNvSpPr>
            <a:spLocks noGrp="1"/>
          </p:cNvSpPr>
          <p:nvPr>
            <p:ph type="dt" sz="half" idx="10"/>
          </p:nvPr>
        </p:nvSpPr>
        <p:spPr>
          <a:xfrm>
            <a:off x="838200" y="6356350"/>
            <a:ext cx="2743200" cy="365125"/>
          </a:xfrm>
          <a:prstGeom prst="rect">
            <a:avLst/>
          </a:prstGeom>
        </p:spPr>
        <p:txBody>
          <a:bodyPr/>
          <a:lstStyle/>
          <a:p>
            <a:fld id="{349B1BB6-17BA-48C2-8395-62EAB74B79B4}" type="datetimeFigureOut">
              <a:rPr lang="en-CA" smtClean="0"/>
              <a:t>2024-04-12</a:t>
            </a:fld>
            <a:endParaRPr lang="en-CA"/>
          </a:p>
        </p:txBody>
      </p:sp>
      <p:sp>
        <p:nvSpPr>
          <p:cNvPr id="4" name="Footer Placeholder 3">
            <a:extLst>
              <a:ext uri="{FF2B5EF4-FFF2-40B4-BE49-F238E27FC236}">
                <a16:creationId xmlns:a16="http://schemas.microsoft.com/office/drawing/2014/main" id="{AA752371-6651-4329-A58C-F304DCF9FED5}"/>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5" name="Slide Number Placeholder 4">
            <a:extLst>
              <a:ext uri="{FF2B5EF4-FFF2-40B4-BE49-F238E27FC236}">
                <a16:creationId xmlns:a16="http://schemas.microsoft.com/office/drawing/2014/main" id="{89A60464-FE22-44D9-B5FE-BCB2C2BE541A}"/>
              </a:ext>
            </a:extLst>
          </p:cNvPr>
          <p:cNvSpPr>
            <a:spLocks noGrp="1"/>
          </p:cNvSpPr>
          <p:nvPr>
            <p:ph type="sldNum" sz="quarter" idx="12"/>
          </p:nvPr>
        </p:nvSpPr>
        <p:spPr>
          <a:xfrm>
            <a:off x="8610600" y="6356350"/>
            <a:ext cx="2743200" cy="365125"/>
          </a:xfrm>
          <a:prstGeom prst="rect">
            <a:avLst/>
          </a:prstGeom>
        </p:spPr>
        <p:txBody>
          <a:bodyPr/>
          <a:lstStyle/>
          <a:p>
            <a:fld id="{80776354-5974-40A5-B41E-AD4171BFCBDF}" type="slidenum">
              <a:rPr lang="en-CA" smtClean="0"/>
              <a:t>‹#›</a:t>
            </a:fld>
            <a:endParaRPr lang="en-CA"/>
          </a:p>
        </p:txBody>
      </p:sp>
    </p:spTree>
    <p:extLst>
      <p:ext uri="{BB962C8B-B14F-4D97-AF65-F5344CB8AC3E}">
        <p14:creationId xmlns:p14="http://schemas.microsoft.com/office/powerpoint/2010/main" val="909854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E90328-A974-4313-AFB3-C15257D9F0D0}"/>
              </a:ext>
            </a:extLst>
          </p:cNvPr>
          <p:cNvSpPr>
            <a:spLocks noGrp="1"/>
          </p:cNvSpPr>
          <p:nvPr>
            <p:ph type="dt" sz="half" idx="10"/>
          </p:nvPr>
        </p:nvSpPr>
        <p:spPr>
          <a:xfrm>
            <a:off x="838200" y="6356350"/>
            <a:ext cx="2743200" cy="365125"/>
          </a:xfrm>
          <a:prstGeom prst="rect">
            <a:avLst/>
          </a:prstGeom>
        </p:spPr>
        <p:txBody>
          <a:bodyPr/>
          <a:lstStyle/>
          <a:p>
            <a:fld id="{349B1BB6-17BA-48C2-8395-62EAB74B79B4}" type="datetimeFigureOut">
              <a:rPr lang="en-CA" smtClean="0"/>
              <a:t>2024-04-12</a:t>
            </a:fld>
            <a:endParaRPr lang="en-CA"/>
          </a:p>
        </p:txBody>
      </p:sp>
      <p:sp>
        <p:nvSpPr>
          <p:cNvPr id="3" name="Footer Placeholder 2">
            <a:extLst>
              <a:ext uri="{FF2B5EF4-FFF2-40B4-BE49-F238E27FC236}">
                <a16:creationId xmlns:a16="http://schemas.microsoft.com/office/drawing/2014/main" id="{174B9563-8E55-4466-9900-A84767B2300A}"/>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4" name="Slide Number Placeholder 3">
            <a:extLst>
              <a:ext uri="{FF2B5EF4-FFF2-40B4-BE49-F238E27FC236}">
                <a16:creationId xmlns:a16="http://schemas.microsoft.com/office/drawing/2014/main" id="{0E3844D0-7ED2-4EA9-BAE9-FAAD7C8B7978}"/>
              </a:ext>
            </a:extLst>
          </p:cNvPr>
          <p:cNvSpPr>
            <a:spLocks noGrp="1"/>
          </p:cNvSpPr>
          <p:nvPr>
            <p:ph type="sldNum" sz="quarter" idx="12"/>
          </p:nvPr>
        </p:nvSpPr>
        <p:spPr>
          <a:xfrm>
            <a:off x="8610600" y="6356350"/>
            <a:ext cx="2743200" cy="365125"/>
          </a:xfrm>
          <a:prstGeom prst="rect">
            <a:avLst/>
          </a:prstGeom>
        </p:spPr>
        <p:txBody>
          <a:bodyPr/>
          <a:lstStyle/>
          <a:p>
            <a:fld id="{80776354-5974-40A5-B41E-AD4171BFCBDF}" type="slidenum">
              <a:rPr lang="en-CA" smtClean="0"/>
              <a:t>‹#›</a:t>
            </a:fld>
            <a:endParaRPr lang="en-CA"/>
          </a:p>
        </p:txBody>
      </p:sp>
    </p:spTree>
    <p:extLst>
      <p:ext uri="{BB962C8B-B14F-4D97-AF65-F5344CB8AC3E}">
        <p14:creationId xmlns:p14="http://schemas.microsoft.com/office/powerpoint/2010/main" val="1295390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3AFEF-A2DF-4C48-9412-2682A0CE65C4}"/>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3C9BAFE8-8664-4B71-80BC-207C5FBD974B}"/>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EFFA1BA1-2FD9-49F4-95DE-5FC17F49BE19}"/>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043D4A3-596C-453B-88A8-149B2C85DAE0}"/>
              </a:ext>
            </a:extLst>
          </p:cNvPr>
          <p:cNvSpPr>
            <a:spLocks noGrp="1"/>
          </p:cNvSpPr>
          <p:nvPr>
            <p:ph type="dt" sz="half" idx="10"/>
          </p:nvPr>
        </p:nvSpPr>
        <p:spPr>
          <a:xfrm>
            <a:off x="838200" y="6356350"/>
            <a:ext cx="2743200" cy="365125"/>
          </a:xfrm>
          <a:prstGeom prst="rect">
            <a:avLst/>
          </a:prstGeom>
        </p:spPr>
        <p:txBody>
          <a:bodyPr/>
          <a:lstStyle/>
          <a:p>
            <a:fld id="{349B1BB6-17BA-48C2-8395-62EAB74B79B4}" type="datetimeFigureOut">
              <a:rPr lang="en-CA" smtClean="0"/>
              <a:t>2024-04-12</a:t>
            </a:fld>
            <a:endParaRPr lang="en-CA"/>
          </a:p>
        </p:txBody>
      </p:sp>
      <p:sp>
        <p:nvSpPr>
          <p:cNvPr id="6" name="Footer Placeholder 5">
            <a:extLst>
              <a:ext uri="{FF2B5EF4-FFF2-40B4-BE49-F238E27FC236}">
                <a16:creationId xmlns:a16="http://schemas.microsoft.com/office/drawing/2014/main" id="{86EB692B-7D6E-48CE-BBAE-C85810AB332A}"/>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7" name="Slide Number Placeholder 6">
            <a:extLst>
              <a:ext uri="{FF2B5EF4-FFF2-40B4-BE49-F238E27FC236}">
                <a16:creationId xmlns:a16="http://schemas.microsoft.com/office/drawing/2014/main" id="{C7756450-8C2F-4965-BA23-D07B2EC0BCF6}"/>
              </a:ext>
            </a:extLst>
          </p:cNvPr>
          <p:cNvSpPr>
            <a:spLocks noGrp="1"/>
          </p:cNvSpPr>
          <p:nvPr>
            <p:ph type="sldNum" sz="quarter" idx="12"/>
          </p:nvPr>
        </p:nvSpPr>
        <p:spPr>
          <a:xfrm>
            <a:off x="8610600" y="6356350"/>
            <a:ext cx="2743200" cy="365125"/>
          </a:xfrm>
          <a:prstGeom prst="rect">
            <a:avLst/>
          </a:prstGeom>
        </p:spPr>
        <p:txBody>
          <a:bodyPr/>
          <a:lstStyle/>
          <a:p>
            <a:fld id="{80776354-5974-40A5-B41E-AD4171BFCBDF}" type="slidenum">
              <a:rPr lang="en-CA" smtClean="0"/>
              <a:t>‹#›</a:t>
            </a:fld>
            <a:endParaRPr lang="en-CA"/>
          </a:p>
        </p:txBody>
      </p:sp>
    </p:spTree>
    <p:extLst>
      <p:ext uri="{BB962C8B-B14F-4D97-AF65-F5344CB8AC3E}">
        <p14:creationId xmlns:p14="http://schemas.microsoft.com/office/powerpoint/2010/main" val="19631931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54423-CE78-4485-B704-1D9E5F49590F}"/>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3044A5C3-043E-48FE-ABEF-7D325245CED4}"/>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490D58DC-2794-4A09-A864-7F4372F8239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ED069AC-5355-446D-A0E3-7AEEDA9C1BB9}"/>
              </a:ext>
            </a:extLst>
          </p:cNvPr>
          <p:cNvSpPr>
            <a:spLocks noGrp="1"/>
          </p:cNvSpPr>
          <p:nvPr>
            <p:ph type="dt" sz="half" idx="10"/>
          </p:nvPr>
        </p:nvSpPr>
        <p:spPr>
          <a:xfrm>
            <a:off x="838200" y="6356350"/>
            <a:ext cx="2743200" cy="365125"/>
          </a:xfrm>
          <a:prstGeom prst="rect">
            <a:avLst/>
          </a:prstGeom>
        </p:spPr>
        <p:txBody>
          <a:bodyPr/>
          <a:lstStyle/>
          <a:p>
            <a:fld id="{349B1BB6-17BA-48C2-8395-62EAB74B79B4}" type="datetimeFigureOut">
              <a:rPr lang="en-CA" smtClean="0"/>
              <a:t>2024-04-12</a:t>
            </a:fld>
            <a:endParaRPr lang="en-CA"/>
          </a:p>
        </p:txBody>
      </p:sp>
      <p:sp>
        <p:nvSpPr>
          <p:cNvPr id="6" name="Footer Placeholder 5">
            <a:extLst>
              <a:ext uri="{FF2B5EF4-FFF2-40B4-BE49-F238E27FC236}">
                <a16:creationId xmlns:a16="http://schemas.microsoft.com/office/drawing/2014/main" id="{C37A63A0-611D-4848-8878-1F7DB1307B48}"/>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7" name="Slide Number Placeholder 6">
            <a:extLst>
              <a:ext uri="{FF2B5EF4-FFF2-40B4-BE49-F238E27FC236}">
                <a16:creationId xmlns:a16="http://schemas.microsoft.com/office/drawing/2014/main" id="{8E6008F5-7605-4852-9EA9-CF1955F523F8}"/>
              </a:ext>
            </a:extLst>
          </p:cNvPr>
          <p:cNvSpPr>
            <a:spLocks noGrp="1"/>
          </p:cNvSpPr>
          <p:nvPr>
            <p:ph type="sldNum" sz="quarter" idx="12"/>
          </p:nvPr>
        </p:nvSpPr>
        <p:spPr>
          <a:xfrm>
            <a:off x="8610600" y="6356350"/>
            <a:ext cx="2743200" cy="365125"/>
          </a:xfrm>
          <a:prstGeom prst="rect">
            <a:avLst/>
          </a:prstGeom>
        </p:spPr>
        <p:txBody>
          <a:bodyPr/>
          <a:lstStyle/>
          <a:p>
            <a:fld id="{80776354-5974-40A5-B41E-AD4171BFCBDF}" type="slidenum">
              <a:rPr lang="en-CA" smtClean="0"/>
              <a:t>‹#›</a:t>
            </a:fld>
            <a:endParaRPr lang="en-CA"/>
          </a:p>
        </p:txBody>
      </p:sp>
    </p:spTree>
    <p:extLst>
      <p:ext uri="{BB962C8B-B14F-4D97-AF65-F5344CB8AC3E}">
        <p14:creationId xmlns:p14="http://schemas.microsoft.com/office/powerpoint/2010/main" val="1032508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88D64-F586-458D-92BC-C918883B8FF8}"/>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16D8591A-31B2-4156-A090-46A956FFDCC1}"/>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F788D86-A4CC-4D2E-A24D-6E8B0F5829BD}"/>
              </a:ext>
            </a:extLst>
          </p:cNvPr>
          <p:cNvSpPr>
            <a:spLocks noGrp="1"/>
          </p:cNvSpPr>
          <p:nvPr>
            <p:ph type="dt" sz="half" idx="10"/>
          </p:nvPr>
        </p:nvSpPr>
        <p:spPr>
          <a:xfrm>
            <a:off x="838200" y="6356350"/>
            <a:ext cx="2743200" cy="365125"/>
          </a:xfrm>
          <a:prstGeom prst="rect">
            <a:avLst/>
          </a:prstGeom>
        </p:spPr>
        <p:txBody>
          <a:bodyPr/>
          <a:lstStyle/>
          <a:p>
            <a:fld id="{349B1BB6-17BA-48C2-8395-62EAB74B79B4}" type="datetimeFigureOut">
              <a:rPr lang="en-CA" smtClean="0"/>
              <a:t>2024-04-12</a:t>
            </a:fld>
            <a:endParaRPr lang="en-CA"/>
          </a:p>
        </p:txBody>
      </p:sp>
      <p:sp>
        <p:nvSpPr>
          <p:cNvPr id="5" name="Footer Placeholder 4">
            <a:extLst>
              <a:ext uri="{FF2B5EF4-FFF2-40B4-BE49-F238E27FC236}">
                <a16:creationId xmlns:a16="http://schemas.microsoft.com/office/drawing/2014/main" id="{013475D1-4BC7-4134-92FA-5FC08E894F59}"/>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6" name="Slide Number Placeholder 5">
            <a:extLst>
              <a:ext uri="{FF2B5EF4-FFF2-40B4-BE49-F238E27FC236}">
                <a16:creationId xmlns:a16="http://schemas.microsoft.com/office/drawing/2014/main" id="{2F0F9DE1-73AF-4D6F-AE13-139BCE3A811C}"/>
              </a:ext>
            </a:extLst>
          </p:cNvPr>
          <p:cNvSpPr>
            <a:spLocks noGrp="1"/>
          </p:cNvSpPr>
          <p:nvPr>
            <p:ph type="sldNum" sz="quarter" idx="12"/>
          </p:nvPr>
        </p:nvSpPr>
        <p:spPr>
          <a:xfrm>
            <a:off x="8610600" y="6356350"/>
            <a:ext cx="2743200" cy="365125"/>
          </a:xfrm>
          <a:prstGeom prst="rect">
            <a:avLst/>
          </a:prstGeom>
        </p:spPr>
        <p:txBody>
          <a:bodyPr/>
          <a:lstStyle/>
          <a:p>
            <a:fld id="{80776354-5974-40A5-B41E-AD4171BFCBDF}" type="slidenum">
              <a:rPr lang="en-CA" smtClean="0"/>
              <a:t>‹#›</a:t>
            </a:fld>
            <a:endParaRPr lang="en-CA"/>
          </a:p>
        </p:txBody>
      </p:sp>
    </p:spTree>
    <p:extLst>
      <p:ext uri="{BB962C8B-B14F-4D97-AF65-F5344CB8AC3E}">
        <p14:creationId xmlns:p14="http://schemas.microsoft.com/office/powerpoint/2010/main" val="36111600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98A36DB-4F9B-4205-9A9D-432D62D4F89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65786C0F-C26E-4AD4-B759-85F8197B167E}"/>
              </a:ext>
            </a:extLst>
          </p:cNvPr>
          <p:cNvSpPr>
            <a:spLocks noGrp="1"/>
          </p:cNvSpPr>
          <p:nvPr>
            <p:ph type="body" orient="vert" idx="1"/>
          </p:nvPr>
        </p:nvSpPr>
        <p:spPr>
          <a:xfrm>
            <a:off x="838200" y="365125"/>
            <a:ext cx="7734300"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ECC5F2B-9C06-46A1-937F-C201A01AD17C}"/>
              </a:ext>
            </a:extLst>
          </p:cNvPr>
          <p:cNvSpPr>
            <a:spLocks noGrp="1"/>
          </p:cNvSpPr>
          <p:nvPr>
            <p:ph type="dt" sz="half" idx="10"/>
          </p:nvPr>
        </p:nvSpPr>
        <p:spPr>
          <a:xfrm>
            <a:off x="838200" y="6356350"/>
            <a:ext cx="2743200" cy="365125"/>
          </a:xfrm>
          <a:prstGeom prst="rect">
            <a:avLst/>
          </a:prstGeom>
        </p:spPr>
        <p:txBody>
          <a:bodyPr/>
          <a:lstStyle/>
          <a:p>
            <a:fld id="{349B1BB6-17BA-48C2-8395-62EAB74B79B4}" type="datetimeFigureOut">
              <a:rPr lang="en-CA" smtClean="0"/>
              <a:t>2024-04-12</a:t>
            </a:fld>
            <a:endParaRPr lang="en-CA"/>
          </a:p>
        </p:txBody>
      </p:sp>
      <p:sp>
        <p:nvSpPr>
          <p:cNvPr id="5" name="Footer Placeholder 4">
            <a:extLst>
              <a:ext uri="{FF2B5EF4-FFF2-40B4-BE49-F238E27FC236}">
                <a16:creationId xmlns:a16="http://schemas.microsoft.com/office/drawing/2014/main" id="{372C7A0E-C6A9-4B54-BE75-B1D9D7746998}"/>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6" name="Slide Number Placeholder 5">
            <a:extLst>
              <a:ext uri="{FF2B5EF4-FFF2-40B4-BE49-F238E27FC236}">
                <a16:creationId xmlns:a16="http://schemas.microsoft.com/office/drawing/2014/main" id="{D48BBF28-BAD1-426B-A7B4-F4FC45A27308}"/>
              </a:ext>
            </a:extLst>
          </p:cNvPr>
          <p:cNvSpPr>
            <a:spLocks noGrp="1"/>
          </p:cNvSpPr>
          <p:nvPr>
            <p:ph type="sldNum" sz="quarter" idx="12"/>
          </p:nvPr>
        </p:nvSpPr>
        <p:spPr>
          <a:xfrm>
            <a:off x="8610600" y="6356350"/>
            <a:ext cx="2743200" cy="365125"/>
          </a:xfrm>
          <a:prstGeom prst="rect">
            <a:avLst/>
          </a:prstGeom>
        </p:spPr>
        <p:txBody>
          <a:bodyPr/>
          <a:lstStyle/>
          <a:p>
            <a:fld id="{80776354-5974-40A5-B41E-AD4171BFCBDF}" type="slidenum">
              <a:rPr lang="en-CA" smtClean="0"/>
              <a:t>‹#›</a:t>
            </a:fld>
            <a:endParaRPr lang="en-CA"/>
          </a:p>
        </p:txBody>
      </p:sp>
    </p:spTree>
    <p:extLst>
      <p:ext uri="{BB962C8B-B14F-4D97-AF65-F5344CB8AC3E}">
        <p14:creationId xmlns:p14="http://schemas.microsoft.com/office/powerpoint/2010/main" val="24647400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6" name="Content Placeholder 2"/>
          <p:cNvSpPr>
            <a:spLocks noGrp="1"/>
          </p:cNvSpPr>
          <p:nvPr>
            <p:ph idx="11"/>
          </p:nvPr>
        </p:nvSpPr>
        <p:spPr>
          <a:xfrm>
            <a:off x="395367" y="953725"/>
            <a:ext cx="11341260" cy="5174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2" name="Title 1"/>
          <p:cNvSpPr>
            <a:spLocks noGrp="1"/>
          </p:cNvSpPr>
          <p:nvPr>
            <p:ph type="title"/>
          </p:nvPr>
        </p:nvSpPr>
        <p:spPr>
          <a:xfrm>
            <a:off x="296338" y="205740"/>
            <a:ext cx="11527367" cy="603887"/>
          </a:xfrm>
        </p:spPr>
        <p:txBody>
          <a:bodyPr/>
          <a:lstStyle/>
          <a:p>
            <a:r>
              <a:rPr lang="en-US"/>
              <a:t>Click to edit Master title style</a:t>
            </a:r>
            <a:endParaRPr lang="en-SG"/>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Tree>
    <p:extLst>
      <p:ext uri="{BB962C8B-B14F-4D97-AF65-F5344CB8AC3E}">
        <p14:creationId xmlns:p14="http://schemas.microsoft.com/office/powerpoint/2010/main" val="8523341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Section Title">
    <p:bg>
      <p:bgRef idx="1001">
        <a:schemeClr val="bg2"/>
      </p:bgRef>
    </p:bg>
    <p:spTree>
      <p:nvGrpSpPr>
        <p:cNvPr id="1" name=""/>
        <p:cNvGrpSpPr/>
        <p:nvPr/>
      </p:nvGrpSpPr>
      <p:grpSpPr>
        <a:xfrm>
          <a:off x="0" y="0"/>
          <a:ext cx="0" cy="0"/>
          <a:chOff x="0" y="0"/>
          <a:chExt cx="0" cy="0"/>
        </a:xfrm>
      </p:grpSpPr>
      <p:sp>
        <p:nvSpPr>
          <p:cNvPr id="5" name="Title 1"/>
          <p:cNvSpPr>
            <a:spLocks noGrp="1"/>
          </p:cNvSpPr>
          <p:nvPr>
            <p:ph type="ctrTitle"/>
          </p:nvPr>
        </p:nvSpPr>
        <p:spPr>
          <a:xfrm>
            <a:off x="1524000" y="2817019"/>
            <a:ext cx="9144000" cy="1223963"/>
          </a:xfrm>
        </p:spPr>
        <p:txBody>
          <a:bodyPr anchor="ctr">
            <a:normAutofit/>
          </a:bodyPr>
          <a:lstStyle>
            <a:lvl1pPr algn="ctr">
              <a:defRPr sz="4800">
                <a:solidFill>
                  <a:srgbClr val="FA621C"/>
                </a:solidFill>
              </a:defRPr>
            </a:lvl1pPr>
          </a:lstStyle>
          <a:p>
            <a:r>
              <a:rPr lang="en-US"/>
              <a:t>Click to edit Master title style</a:t>
            </a:r>
            <a:endParaRPr lang="en-CA"/>
          </a:p>
        </p:txBody>
      </p:sp>
    </p:spTree>
    <p:custDataLst>
      <p:tags r:id="rId1"/>
    </p:custDataLst>
    <p:extLst>
      <p:ext uri="{BB962C8B-B14F-4D97-AF65-F5344CB8AC3E}">
        <p14:creationId xmlns:p14="http://schemas.microsoft.com/office/powerpoint/2010/main" val="370090572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340AF-40F2-43EF-A424-FBD5620B0B32}"/>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1ECD4490-21DB-4A8D-BE3A-5ADB9EBADA3C}"/>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9C0BBF8A-0B5A-49D8-98BB-00CDE5BBFCF6}"/>
              </a:ext>
            </a:extLst>
          </p:cNvPr>
          <p:cNvSpPr>
            <a:spLocks noGrp="1"/>
          </p:cNvSpPr>
          <p:nvPr>
            <p:ph type="dt" sz="half" idx="10"/>
          </p:nvPr>
        </p:nvSpPr>
        <p:spPr>
          <a:xfrm>
            <a:off x="838200" y="6356350"/>
            <a:ext cx="2743200" cy="365125"/>
          </a:xfrm>
          <a:prstGeom prst="rect">
            <a:avLst/>
          </a:prstGeom>
        </p:spPr>
        <p:txBody>
          <a:bodyPr/>
          <a:lstStyle/>
          <a:p>
            <a:fld id="{349B1BB6-17BA-48C2-8395-62EAB74B79B4}" type="datetimeFigureOut">
              <a:rPr lang="en-CA" smtClean="0"/>
              <a:t>2024-04-12</a:t>
            </a:fld>
            <a:endParaRPr lang="en-CA"/>
          </a:p>
        </p:txBody>
      </p:sp>
      <p:sp>
        <p:nvSpPr>
          <p:cNvPr id="5" name="Footer Placeholder 4">
            <a:extLst>
              <a:ext uri="{FF2B5EF4-FFF2-40B4-BE49-F238E27FC236}">
                <a16:creationId xmlns:a16="http://schemas.microsoft.com/office/drawing/2014/main" id="{588CF7AA-B1E9-49F6-B6DF-7EBF70C4E6A2}"/>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6" name="Slide Number Placeholder 5">
            <a:extLst>
              <a:ext uri="{FF2B5EF4-FFF2-40B4-BE49-F238E27FC236}">
                <a16:creationId xmlns:a16="http://schemas.microsoft.com/office/drawing/2014/main" id="{4A429579-92F0-4246-BB4F-B79939A62067}"/>
              </a:ext>
            </a:extLst>
          </p:cNvPr>
          <p:cNvSpPr>
            <a:spLocks noGrp="1"/>
          </p:cNvSpPr>
          <p:nvPr>
            <p:ph type="sldNum" sz="quarter" idx="12"/>
          </p:nvPr>
        </p:nvSpPr>
        <p:spPr>
          <a:xfrm>
            <a:off x="8610600" y="6356350"/>
            <a:ext cx="2743200" cy="365125"/>
          </a:xfrm>
          <a:prstGeom prst="rect">
            <a:avLst/>
          </a:prstGeom>
        </p:spPr>
        <p:txBody>
          <a:bodyPr/>
          <a:lstStyle/>
          <a:p>
            <a:fld id="{80776354-5974-40A5-B41E-AD4171BFCBDF}" type="slidenum">
              <a:rPr lang="en-CA" smtClean="0"/>
              <a:t>‹#›</a:t>
            </a:fld>
            <a:endParaRPr lang="en-CA"/>
          </a:p>
        </p:txBody>
      </p:sp>
    </p:spTree>
    <p:extLst>
      <p:ext uri="{BB962C8B-B14F-4D97-AF65-F5344CB8AC3E}">
        <p14:creationId xmlns:p14="http://schemas.microsoft.com/office/powerpoint/2010/main" val="24812178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36D6A-CC4E-44A1-A4A0-28734A2F43D3}"/>
              </a:ext>
            </a:extLst>
          </p:cNvPr>
          <p:cNvSpPr>
            <a:spLocks noGrp="1"/>
          </p:cNvSpPr>
          <p:nvPr>
            <p:ph type="title"/>
          </p:nvPr>
        </p:nvSpPr>
        <p:spPr>
          <a:xfrm>
            <a:off x="587375" y="372519"/>
            <a:ext cx="10515600" cy="535531"/>
          </a:xfrm>
          <a:prstGeom prst="rect">
            <a:avLst/>
          </a:prstGeom>
        </p:spPr>
        <p:txBody>
          <a:bodyPr>
            <a:spAutoFit/>
          </a:bodyPr>
          <a:lstStyle>
            <a:lvl1pPr>
              <a:defRPr sz="3200">
                <a:solidFill>
                  <a:schemeClr val="accent5"/>
                </a:solidFill>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D58E92C6-9271-4204-B09B-7D8100E26832}"/>
              </a:ext>
            </a:extLst>
          </p:cNvPr>
          <p:cNvSpPr>
            <a:spLocks noGrp="1"/>
          </p:cNvSpPr>
          <p:nvPr>
            <p:ph idx="1"/>
          </p:nvPr>
        </p:nvSpPr>
        <p:spPr>
          <a:xfrm>
            <a:off x="838200" y="1825625"/>
            <a:ext cx="10515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7135038-78E8-426D-84BA-837CFFBF34F2}"/>
              </a:ext>
            </a:extLst>
          </p:cNvPr>
          <p:cNvSpPr>
            <a:spLocks noGrp="1"/>
          </p:cNvSpPr>
          <p:nvPr>
            <p:ph type="dt" sz="half" idx="10"/>
          </p:nvPr>
        </p:nvSpPr>
        <p:spPr>
          <a:xfrm>
            <a:off x="838200" y="6356350"/>
            <a:ext cx="2743200" cy="365125"/>
          </a:xfrm>
          <a:prstGeom prst="rect">
            <a:avLst/>
          </a:prstGeom>
        </p:spPr>
        <p:txBody>
          <a:bodyPr/>
          <a:lstStyle/>
          <a:p>
            <a:fld id="{349B1BB6-17BA-48C2-8395-62EAB74B79B4}" type="datetimeFigureOut">
              <a:rPr lang="en-CA" smtClean="0"/>
              <a:t>2024-04-12</a:t>
            </a:fld>
            <a:endParaRPr lang="en-CA"/>
          </a:p>
        </p:txBody>
      </p:sp>
      <p:sp>
        <p:nvSpPr>
          <p:cNvPr id="5" name="Footer Placeholder 4">
            <a:extLst>
              <a:ext uri="{FF2B5EF4-FFF2-40B4-BE49-F238E27FC236}">
                <a16:creationId xmlns:a16="http://schemas.microsoft.com/office/drawing/2014/main" id="{BE6DF455-D88B-4335-B94C-2BF90A6B16C1}"/>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6" name="Slide Number Placeholder 5">
            <a:extLst>
              <a:ext uri="{FF2B5EF4-FFF2-40B4-BE49-F238E27FC236}">
                <a16:creationId xmlns:a16="http://schemas.microsoft.com/office/drawing/2014/main" id="{FA07994E-119B-47C2-9E8D-D0FBB1D50471}"/>
              </a:ext>
            </a:extLst>
          </p:cNvPr>
          <p:cNvSpPr>
            <a:spLocks noGrp="1"/>
          </p:cNvSpPr>
          <p:nvPr>
            <p:ph type="sldNum" sz="quarter" idx="12"/>
          </p:nvPr>
        </p:nvSpPr>
        <p:spPr>
          <a:xfrm>
            <a:off x="8610600" y="6356350"/>
            <a:ext cx="2743200" cy="365125"/>
          </a:xfrm>
          <a:prstGeom prst="rect">
            <a:avLst/>
          </a:prstGeom>
        </p:spPr>
        <p:txBody>
          <a:bodyPr/>
          <a:lstStyle/>
          <a:p>
            <a:fld id="{80776354-5974-40A5-B41E-AD4171BFCBDF}" type="slidenum">
              <a:rPr lang="en-CA" smtClean="0"/>
              <a:t>‹#›</a:t>
            </a:fld>
            <a:endParaRPr lang="en-CA"/>
          </a:p>
        </p:txBody>
      </p:sp>
    </p:spTree>
    <p:extLst>
      <p:ext uri="{BB962C8B-B14F-4D97-AF65-F5344CB8AC3E}">
        <p14:creationId xmlns:p14="http://schemas.microsoft.com/office/powerpoint/2010/main" val="17481031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39442-F3FE-42EA-BEC2-D2F3AE8EFC90}"/>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0D18E17E-267A-419A-A751-7CD8396B0E33}"/>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A1703DBF-24FD-45B7-937A-792FF56C92AE}"/>
              </a:ext>
            </a:extLst>
          </p:cNvPr>
          <p:cNvSpPr>
            <a:spLocks noGrp="1"/>
          </p:cNvSpPr>
          <p:nvPr>
            <p:ph type="dt" sz="half" idx="10"/>
          </p:nvPr>
        </p:nvSpPr>
        <p:spPr>
          <a:xfrm>
            <a:off x="838200" y="6356350"/>
            <a:ext cx="2743200" cy="365125"/>
          </a:xfrm>
          <a:prstGeom prst="rect">
            <a:avLst/>
          </a:prstGeom>
        </p:spPr>
        <p:txBody>
          <a:bodyPr/>
          <a:lstStyle/>
          <a:p>
            <a:fld id="{349B1BB6-17BA-48C2-8395-62EAB74B79B4}" type="datetimeFigureOut">
              <a:rPr lang="en-CA" smtClean="0"/>
              <a:t>2024-04-12</a:t>
            </a:fld>
            <a:endParaRPr lang="en-CA"/>
          </a:p>
        </p:txBody>
      </p:sp>
      <p:sp>
        <p:nvSpPr>
          <p:cNvPr id="5" name="Footer Placeholder 4">
            <a:extLst>
              <a:ext uri="{FF2B5EF4-FFF2-40B4-BE49-F238E27FC236}">
                <a16:creationId xmlns:a16="http://schemas.microsoft.com/office/drawing/2014/main" id="{07C15F3F-569F-4771-B4ED-28DE178FBA97}"/>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6" name="Slide Number Placeholder 5">
            <a:extLst>
              <a:ext uri="{FF2B5EF4-FFF2-40B4-BE49-F238E27FC236}">
                <a16:creationId xmlns:a16="http://schemas.microsoft.com/office/drawing/2014/main" id="{86D0A3CB-0305-4CE0-95FE-B92072989BD5}"/>
              </a:ext>
            </a:extLst>
          </p:cNvPr>
          <p:cNvSpPr>
            <a:spLocks noGrp="1"/>
          </p:cNvSpPr>
          <p:nvPr>
            <p:ph type="sldNum" sz="quarter" idx="12"/>
          </p:nvPr>
        </p:nvSpPr>
        <p:spPr>
          <a:xfrm>
            <a:off x="8610600" y="6356350"/>
            <a:ext cx="2743200" cy="365125"/>
          </a:xfrm>
          <a:prstGeom prst="rect">
            <a:avLst/>
          </a:prstGeom>
        </p:spPr>
        <p:txBody>
          <a:bodyPr/>
          <a:lstStyle/>
          <a:p>
            <a:fld id="{80776354-5974-40A5-B41E-AD4171BFCBDF}" type="slidenum">
              <a:rPr lang="en-CA" smtClean="0"/>
              <a:t>‹#›</a:t>
            </a:fld>
            <a:endParaRPr lang="en-CA"/>
          </a:p>
        </p:txBody>
      </p:sp>
    </p:spTree>
    <p:extLst>
      <p:ext uri="{BB962C8B-B14F-4D97-AF65-F5344CB8AC3E}">
        <p14:creationId xmlns:p14="http://schemas.microsoft.com/office/powerpoint/2010/main" val="16867609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4A341-B8F9-4F43-90EB-DAB7AC41EEE3}"/>
              </a:ext>
            </a:extLst>
          </p:cNvPr>
          <p:cNvSpPr>
            <a:spLocks noGrp="1"/>
          </p:cNvSpPr>
          <p:nvPr>
            <p:ph type="title"/>
          </p:nvPr>
        </p:nvSpPr>
        <p:spPr>
          <a:xfrm>
            <a:off x="587375" y="372519"/>
            <a:ext cx="10515600" cy="535531"/>
          </a:xfrm>
          <a:prstGeom prst="rect">
            <a:avLst/>
          </a:prstGeom>
        </p:spPr>
        <p:txBody>
          <a:bodyPr>
            <a:spAutoFit/>
          </a:bodyPr>
          <a:lstStyle>
            <a:lvl1pPr>
              <a:defRPr sz="3200">
                <a:solidFill>
                  <a:schemeClr val="tx2"/>
                </a:solidFill>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04A01F5F-0DF9-4874-AA60-D190F80237D5}"/>
              </a:ext>
            </a:extLst>
          </p:cNvPr>
          <p:cNvSpPr>
            <a:spLocks noGrp="1"/>
          </p:cNvSpPr>
          <p:nvPr>
            <p:ph sz="half" idx="1"/>
          </p:nvPr>
        </p:nvSpPr>
        <p:spPr>
          <a:xfrm>
            <a:off x="838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70B2CE84-6341-4CFB-BAAF-2A291FA95BB0}"/>
              </a:ext>
            </a:extLst>
          </p:cNvPr>
          <p:cNvSpPr>
            <a:spLocks noGrp="1"/>
          </p:cNvSpPr>
          <p:nvPr>
            <p:ph sz="half" idx="2"/>
          </p:nvPr>
        </p:nvSpPr>
        <p:spPr>
          <a:xfrm>
            <a:off x="6172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D3B162D3-56E3-4E93-85D5-153F71D577DD}"/>
              </a:ext>
            </a:extLst>
          </p:cNvPr>
          <p:cNvSpPr>
            <a:spLocks noGrp="1"/>
          </p:cNvSpPr>
          <p:nvPr>
            <p:ph type="dt" sz="half" idx="10"/>
          </p:nvPr>
        </p:nvSpPr>
        <p:spPr>
          <a:xfrm>
            <a:off x="838200" y="6356350"/>
            <a:ext cx="2743200" cy="365125"/>
          </a:xfrm>
          <a:prstGeom prst="rect">
            <a:avLst/>
          </a:prstGeom>
        </p:spPr>
        <p:txBody>
          <a:bodyPr/>
          <a:lstStyle/>
          <a:p>
            <a:fld id="{349B1BB6-17BA-48C2-8395-62EAB74B79B4}" type="datetimeFigureOut">
              <a:rPr lang="en-CA" smtClean="0"/>
              <a:t>2024-04-12</a:t>
            </a:fld>
            <a:endParaRPr lang="en-CA"/>
          </a:p>
        </p:txBody>
      </p:sp>
      <p:sp>
        <p:nvSpPr>
          <p:cNvPr id="6" name="Footer Placeholder 5">
            <a:extLst>
              <a:ext uri="{FF2B5EF4-FFF2-40B4-BE49-F238E27FC236}">
                <a16:creationId xmlns:a16="http://schemas.microsoft.com/office/drawing/2014/main" id="{51C90F25-5305-42D3-8116-216331EB72AA}"/>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7" name="Slide Number Placeholder 6">
            <a:extLst>
              <a:ext uri="{FF2B5EF4-FFF2-40B4-BE49-F238E27FC236}">
                <a16:creationId xmlns:a16="http://schemas.microsoft.com/office/drawing/2014/main" id="{A64D5B12-F0FB-4481-9949-C531D66A3CA7}"/>
              </a:ext>
            </a:extLst>
          </p:cNvPr>
          <p:cNvSpPr>
            <a:spLocks noGrp="1"/>
          </p:cNvSpPr>
          <p:nvPr>
            <p:ph type="sldNum" sz="quarter" idx="12"/>
          </p:nvPr>
        </p:nvSpPr>
        <p:spPr>
          <a:xfrm>
            <a:off x="8610600" y="6356350"/>
            <a:ext cx="2743200" cy="365125"/>
          </a:xfrm>
          <a:prstGeom prst="rect">
            <a:avLst/>
          </a:prstGeom>
        </p:spPr>
        <p:txBody>
          <a:bodyPr/>
          <a:lstStyle/>
          <a:p>
            <a:fld id="{80776354-5974-40A5-B41E-AD4171BFCBDF}" type="slidenum">
              <a:rPr lang="en-CA" smtClean="0"/>
              <a:t>‹#›</a:t>
            </a:fld>
            <a:endParaRPr lang="en-CA"/>
          </a:p>
        </p:txBody>
      </p:sp>
    </p:spTree>
    <p:extLst>
      <p:ext uri="{BB962C8B-B14F-4D97-AF65-F5344CB8AC3E}">
        <p14:creationId xmlns:p14="http://schemas.microsoft.com/office/powerpoint/2010/main" val="33709607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5006E-9612-4B5B-B9D6-319842F378CC}"/>
              </a:ext>
            </a:extLst>
          </p:cNvPr>
          <p:cNvSpPr>
            <a:spLocks noGrp="1"/>
          </p:cNvSpPr>
          <p:nvPr>
            <p:ph type="title"/>
          </p:nvPr>
        </p:nvSpPr>
        <p:spPr>
          <a:xfrm>
            <a:off x="587375" y="372519"/>
            <a:ext cx="10515600" cy="535531"/>
          </a:xfrm>
          <a:prstGeom prst="rect">
            <a:avLst/>
          </a:prstGeom>
        </p:spPr>
        <p:txBody>
          <a:bodyPr>
            <a:spAutoFit/>
          </a:bodyPr>
          <a:lstStyle>
            <a:lvl1pPr>
              <a:defRPr sz="3200">
                <a:solidFill>
                  <a:schemeClr val="tx2"/>
                </a:solidFill>
              </a:defRPr>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6EA0239C-3A52-4BA2-9EA7-5153B67D3CCF}"/>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299B155-DC71-4F26-B565-C2E9EBCDE289}"/>
              </a:ext>
            </a:extLst>
          </p:cNvPr>
          <p:cNvSpPr>
            <a:spLocks noGrp="1"/>
          </p:cNvSpPr>
          <p:nvPr>
            <p:ph sz="half" idx="2"/>
          </p:nvPr>
        </p:nvSpPr>
        <p:spPr>
          <a:xfrm>
            <a:off x="839788" y="2505075"/>
            <a:ext cx="5157787"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5DE48D62-CF83-44B0-8129-54FAF5620D52}"/>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1FA1B36-252F-4195-B8E1-79F816A89818}"/>
              </a:ext>
            </a:extLst>
          </p:cNvPr>
          <p:cNvSpPr>
            <a:spLocks noGrp="1"/>
          </p:cNvSpPr>
          <p:nvPr>
            <p:ph sz="quarter" idx="4"/>
          </p:nvPr>
        </p:nvSpPr>
        <p:spPr>
          <a:xfrm>
            <a:off x="6172200" y="2505075"/>
            <a:ext cx="5183188"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62E4A17C-35CC-40ED-BAEF-87D258C51E49}"/>
              </a:ext>
            </a:extLst>
          </p:cNvPr>
          <p:cNvSpPr>
            <a:spLocks noGrp="1"/>
          </p:cNvSpPr>
          <p:nvPr>
            <p:ph type="dt" sz="half" idx="10"/>
          </p:nvPr>
        </p:nvSpPr>
        <p:spPr>
          <a:xfrm>
            <a:off x="838200" y="6356350"/>
            <a:ext cx="2743200" cy="365125"/>
          </a:xfrm>
          <a:prstGeom prst="rect">
            <a:avLst/>
          </a:prstGeom>
        </p:spPr>
        <p:txBody>
          <a:bodyPr/>
          <a:lstStyle/>
          <a:p>
            <a:fld id="{349B1BB6-17BA-48C2-8395-62EAB74B79B4}" type="datetimeFigureOut">
              <a:rPr lang="en-CA" smtClean="0"/>
              <a:t>2024-04-12</a:t>
            </a:fld>
            <a:endParaRPr lang="en-CA"/>
          </a:p>
        </p:txBody>
      </p:sp>
      <p:sp>
        <p:nvSpPr>
          <p:cNvPr id="8" name="Footer Placeholder 7">
            <a:extLst>
              <a:ext uri="{FF2B5EF4-FFF2-40B4-BE49-F238E27FC236}">
                <a16:creationId xmlns:a16="http://schemas.microsoft.com/office/drawing/2014/main" id="{00908122-560D-47B4-A7DC-8861A7101DC4}"/>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9" name="Slide Number Placeholder 8">
            <a:extLst>
              <a:ext uri="{FF2B5EF4-FFF2-40B4-BE49-F238E27FC236}">
                <a16:creationId xmlns:a16="http://schemas.microsoft.com/office/drawing/2014/main" id="{3104FF47-6DEE-4889-B131-EC047A70B90F}"/>
              </a:ext>
            </a:extLst>
          </p:cNvPr>
          <p:cNvSpPr>
            <a:spLocks noGrp="1"/>
          </p:cNvSpPr>
          <p:nvPr>
            <p:ph type="sldNum" sz="quarter" idx="12"/>
          </p:nvPr>
        </p:nvSpPr>
        <p:spPr>
          <a:xfrm>
            <a:off x="8610600" y="6356350"/>
            <a:ext cx="2743200" cy="365125"/>
          </a:xfrm>
          <a:prstGeom prst="rect">
            <a:avLst/>
          </a:prstGeom>
        </p:spPr>
        <p:txBody>
          <a:bodyPr/>
          <a:lstStyle/>
          <a:p>
            <a:fld id="{80776354-5974-40A5-B41E-AD4171BFCBDF}" type="slidenum">
              <a:rPr lang="en-CA" smtClean="0"/>
              <a:t>‹#›</a:t>
            </a:fld>
            <a:endParaRPr lang="en-CA"/>
          </a:p>
        </p:txBody>
      </p:sp>
    </p:spTree>
    <p:extLst>
      <p:ext uri="{BB962C8B-B14F-4D97-AF65-F5344CB8AC3E}">
        <p14:creationId xmlns:p14="http://schemas.microsoft.com/office/powerpoint/2010/main" val="13934409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B0E0F-B29B-440D-9283-D8598F0CB403}"/>
              </a:ext>
            </a:extLst>
          </p:cNvPr>
          <p:cNvSpPr>
            <a:spLocks noGrp="1"/>
          </p:cNvSpPr>
          <p:nvPr>
            <p:ph type="title"/>
          </p:nvPr>
        </p:nvSpPr>
        <p:spPr>
          <a:xfrm>
            <a:off x="587375" y="372519"/>
            <a:ext cx="10515600" cy="535531"/>
          </a:xfrm>
          <a:prstGeom prst="rect">
            <a:avLst/>
          </a:prstGeom>
        </p:spPr>
        <p:txBody>
          <a:bodyPr>
            <a:spAutoFit/>
          </a:bodyPr>
          <a:lstStyle>
            <a:lvl1pPr>
              <a:defRPr sz="3200">
                <a:solidFill>
                  <a:schemeClr val="accent1"/>
                </a:solidFill>
              </a:defRPr>
            </a:lvl1pPr>
          </a:lstStyle>
          <a:p>
            <a:r>
              <a:rPr lang="en-US"/>
              <a:t>Click to edit Master title style</a:t>
            </a:r>
            <a:endParaRPr lang="en-CA"/>
          </a:p>
        </p:txBody>
      </p:sp>
    </p:spTree>
    <p:extLst>
      <p:ext uri="{BB962C8B-B14F-4D97-AF65-F5344CB8AC3E}">
        <p14:creationId xmlns:p14="http://schemas.microsoft.com/office/powerpoint/2010/main" val="37917151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154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3AFEF-A2DF-4C48-9412-2682A0CE65C4}"/>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3C9BAFE8-8664-4B71-80BC-207C5FBD974B}"/>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EFFA1BA1-2FD9-49F4-95DE-5FC17F49BE19}"/>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043D4A3-596C-453B-88A8-149B2C85DAE0}"/>
              </a:ext>
            </a:extLst>
          </p:cNvPr>
          <p:cNvSpPr>
            <a:spLocks noGrp="1"/>
          </p:cNvSpPr>
          <p:nvPr>
            <p:ph type="dt" sz="half" idx="10"/>
          </p:nvPr>
        </p:nvSpPr>
        <p:spPr>
          <a:xfrm>
            <a:off x="838200" y="6356350"/>
            <a:ext cx="2743200" cy="365125"/>
          </a:xfrm>
          <a:prstGeom prst="rect">
            <a:avLst/>
          </a:prstGeom>
        </p:spPr>
        <p:txBody>
          <a:bodyPr/>
          <a:lstStyle/>
          <a:p>
            <a:fld id="{349B1BB6-17BA-48C2-8395-62EAB74B79B4}" type="datetimeFigureOut">
              <a:rPr lang="en-CA" smtClean="0"/>
              <a:t>2024-04-12</a:t>
            </a:fld>
            <a:endParaRPr lang="en-CA"/>
          </a:p>
        </p:txBody>
      </p:sp>
      <p:sp>
        <p:nvSpPr>
          <p:cNvPr id="6" name="Footer Placeholder 5">
            <a:extLst>
              <a:ext uri="{FF2B5EF4-FFF2-40B4-BE49-F238E27FC236}">
                <a16:creationId xmlns:a16="http://schemas.microsoft.com/office/drawing/2014/main" id="{86EB692B-7D6E-48CE-BBAE-C85810AB332A}"/>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7" name="Slide Number Placeholder 6">
            <a:extLst>
              <a:ext uri="{FF2B5EF4-FFF2-40B4-BE49-F238E27FC236}">
                <a16:creationId xmlns:a16="http://schemas.microsoft.com/office/drawing/2014/main" id="{C7756450-8C2F-4965-BA23-D07B2EC0BCF6}"/>
              </a:ext>
            </a:extLst>
          </p:cNvPr>
          <p:cNvSpPr>
            <a:spLocks noGrp="1"/>
          </p:cNvSpPr>
          <p:nvPr>
            <p:ph type="sldNum" sz="quarter" idx="12"/>
          </p:nvPr>
        </p:nvSpPr>
        <p:spPr>
          <a:xfrm>
            <a:off x="8610600" y="6356350"/>
            <a:ext cx="2743200" cy="365125"/>
          </a:xfrm>
          <a:prstGeom prst="rect">
            <a:avLst/>
          </a:prstGeom>
        </p:spPr>
        <p:txBody>
          <a:bodyPr/>
          <a:lstStyle/>
          <a:p>
            <a:fld id="{80776354-5974-40A5-B41E-AD4171BFCBDF}" type="slidenum">
              <a:rPr lang="en-CA" smtClean="0"/>
              <a:t>‹#›</a:t>
            </a:fld>
            <a:endParaRPr lang="en-CA"/>
          </a:p>
        </p:txBody>
      </p:sp>
    </p:spTree>
    <p:extLst>
      <p:ext uri="{BB962C8B-B14F-4D97-AF65-F5344CB8AC3E}">
        <p14:creationId xmlns:p14="http://schemas.microsoft.com/office/powerpoint/2010/main" val="34438700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54423-CE78-4485-B704-1D9E5F49590F}"/>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3044A5C3-043E-48FE-ABEF-7D325245CED4}"/>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490D58DC-2794-4A09-A864-7F4372F8239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ED069AC-5355-446D-A0E3-7AEEDA9C1BB9}"/>
              </a:ext>
            </a:extLst>
          </p:cNvPr>
          <p:cNvSpPr>
            <a:spLocks noGrp="1"/>
          </p:cNvSpPr>
          <p:nvPr>
            <p:ph type="dt" sz="half" idx="10"/>
          </p:nvPr>
        </p:nvSpPr>
        <p:spPr>
          <a:xfrm>
            <a:off x="838200" y="6356350"/>
            <a:ext cx="2743200" cy="365125"/>
          </a:xfrm>
          <a:prstGeom prst="rect">
            <a:avLst/>
          </a:prstGeom>
        </p:spPr>
        <p:txBody>
          <a:bodyPr/>
          <a:lstStyle/>
          <a:p>
            <a:fld id="{349B1BB6-17BA-48C2-8395-62EAB74B79B4}" type="datetimeFigureOut">
              <a:rPr lang="en-CA" smtClean="0"/>
              <a:t>2024-04-12</a:t>
            </a:fld>
            <a:endParaRPr lang="en-CA"/>
          </a:p>
        </p:txBody>
      </p:sp>
      <p:sp>
        <p:nvSpPr>
          <p:cNvPr id="6" name="Footer Placeholder 5">
            <a:extLst>
              <a:ext uri="{FF2B5EF4-FFF2-40B4-BE49-F238E27FC236}">
                <a16:creationId xmlns:a16="http://schemas.microsoft.com/office/drawing/2014/main" id="{C37A63A0-611D-4848-8878-1F7DB1307B48}"/>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7" name="Slide Number Placeholder 6">
            <a:extLst>
              <a:ext uri="{FF2B5EF4-FFF2-40B4-BE49-F238E27FC236}">
                <a16:creationId xmlns:a16="http://schemas.microsoft.com/office/drawing/2014/main" id="{8E6008F5-7605-4852-9EA9-CF1955F523F8}"/>
              </a:ext>
            </a:extLst>
          </p:cNvPr>
          <p:cNvSpPr>
            <a:spLocks noGrp="1"/>
          </p:cNvSpPr>
          <p:nvPr>
            <p:ph type="sldNum" sz="quarter" idx="12"/>
          </p:nvPr>
        </p:nvSpPr>
        <p:spPr>
          <a:xfrm>
            <a:off x="8610600" y="6356350"/>
            <a:ext cx="2743200" cy="365125"/>
          </a:xfrm>
          <a:prstGeom prst="rect">
            <a:avLst/>
          </a:prstGeom>
        </p:spPr>
        <p:txBody>
          <a:bodyPr/>
          <a:lstStyle/>
          <a:p>
            <a:fld id="{80776354-5974-40A5-B41E-AD4171BFCBDF}" type="slidenum">
              <a:rPr lang="en-CA" smtClean="0"/>
              <a:t>‹#›</a:t>
            </a:fld>
            <a:endParaRPr lang="en-CA"/>
          </a:p>
        </p:txBody>
      </p:sp>
    </p:spTree>
    <p:extLst>
      <p:ext uri="{BB962C8B-B14F-4D97-AF65-F5344CB8AC3E}">
        <p14:creationId xmlns:p14="http://schemas.microsoft.com/office/powerpoint/2010/main" val="39755432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88D64-F586-458D-92BC-C918883B8FF8}"/>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16D8591A-31B2-4156-A090-46A956FFDCC1}"/>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F788D86-A4CC-4D2E-A24D-6E8B0F5829BD}"/>
              </a:ext>
            </a:extLst>
          </p:cNvPr>
          <p:cNvSpPr>
            <a:spLocks noGrp="1"/>
          </p:cNvSpPr>
          <p:nvPr>
            <p:ph type="dt" sz="half" idx="10"/>
          </p:nvPr>
        </p:nvSpPr>
        <p:spPr>
          <a:xfrm>
            <a:off x="838200" y="6356350"/>
            <a:ext cx="2743200" cy="365125"/>
          </a:xfrm>
          <a:prstGeom prst="rect">
            <a:avLst/>
          </a:prstGeom>
        </p:spPr>
        <p:txBody>
          <a:bodyPr/>
          <a:lstStyle/>
          <a:p>
            <a:fld id="{349B1BB6-17BA-48C2-8395-62EAB74B79B4}" type="datetimeFigureOut">
              <a:rPr lang="en-CA" smtClean="0"/>
              <a:t>2024-04-12</a:t>
            </a:fld>
            <a:endParaRPr lang="en-CA"/>
          </a:p>
        </p:txBody>
      </p:sp>
      <p:sp>
        <p:nvSpPr>
          <p:cNvPr id="5" name="Footer Placeholder 4">
            <a:extLst>
              <a:ext uri="{FF2B5EF4-FFF2-40B4-BE49-F238E27FC236}">
                <a16:creationId xmlns:a16="http://schemas.microsoft.com/office/drawing/2014/main" id="{013475D1-4BC7-4134-92FA-5FC08E894F59}"/>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6" name="Slide Number Placeholder 5">
            <a:extLst>
              <a:ext uri="{FF2B5EF4-FFF2-40B4-BE49-F238E27FC236}">
                <a16:creationId xmlns:a16="http://schemas.microsoft.com/office/drawing/2014/main" id="{2F0F9DE1-73AF-4D6F-AE13-139BCE3A811C}"/>
              </a:ext>
            </a:extLst>
          </p:cNvPr>
          <p:cNvSpPr>
            <a:spLocks noGrp="1"/>
          </p:cNvSpPr>
          <p:nvPr>
            <p:ph type="sldNum" sz="quarter" idx="12"/>
          </p:nvPr>
        </p:nvSpPr>
        <p:spPr>
          <a:xfrm>
            <a:off x="8610600" y="6356350"/>
            <a:ext cx="2743200" cy="365125"/>
          </a:xfrm>
          <a:prstGeom prst="rect">
            <a:avLst/>
          </a:prstGeom>
        </p:spPr>
        <p:txBody>
          <a:bodyPr/>
          <a:lstStyle/>
          <a:p>
            <a:fld id="{80776354-5974-40A5-B41E-AD4171BFCBDF}" type="slidenum">
              <a:rPr lang="en-CA" smtClean="0"/>
              <a:t>‹#›</a:t>
            </a:fld>
            <a:endParaRPr lang="en-CA"/>
          </a:p>
        </p:txBody>
      </p:sp>
    </p:spTree>
    <p:extLst>
      <p:ext uri="{BB962C8B-B14F-4D97-AF65-F5344CB8AC3E}">
        <p14:creationId xmlns:p14="http://schemas.microsoft.com/office/powerpoint/2010/main" val="23893124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98A36DB-4F9B-4205-9A9D-432D62D4F89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65786C0F-C26E-4AD4-B759-85F8197B167E}"/>
              </a:ext>
            </a:extLst>
          </p:cNvPr>
          <p:cNvSpPr>
            <a:spLocks noGrp="1"/>
          </p:cNvSpPr>
          <p:nvPr>
            <p:ph type="body" orient="vert" idx="1"/>
          </p:nvPr>
        </p:nvSpPr>
        <p:spPr>
          <a:xfrm>
            <a:off x="838200" y="365125"/>
            <a:ext cx="7734300"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ECC5F2B-9C06-46A1-937F-C201A01AD17C}"/>
              </a:ext>
            </a:extLst>
          </p:cNvPr>
          <p:cNvSpPr>
            <a:spLocks noGrp="1"/>
          </p:cNvSpPr>
          <p:nvPr>
            <p:ph type="dt" sz="half" idx="10"/>
          </p:nvPr>
        </p:nvSpPr>
        <p:spPr>
          <a:xfrm>
            <a:off x="838200" y="6356350"/>
            <a:ext cx="2743200" cy="365125"/>
          </a:xfrm>
          <a:prstGeom prst="rect">
            <a:avLst/>
          </a:prstGeom>
        </p:spPr>
        <p:txBody>
          <a:bodyPr/>
          <a:lstStyle/>
          <a:p>
            <a:fld id="{349B1BB6-17BA-48C2-8395-62EAB74B79B4}" type="datetimeFigureOut">
              <a:rPr lang="en-CA" smtClean="0"/>
              <a:t>2024-04-12</a:t>
            </a:fld>
            <a:endParaRPr lang="en-CA"/>
          </a:p>
        </p:txBody>
      </p:sp>
      <p:sp>
        <p:nvSpPr>
          <p:cNvPr id="5" name="Footer Placeholder 4">
            <a:extLst>
              <a:ext uri="{FF2B5EF4-FFF2-40B4-BE49-F238E27FC236}">
                <a16:creationId xmlns:a16="http://schemas.microsoft.com/office/drawing/2014/main" id="{372C7A0E-C6A9-4B54-BE75-B1D9D7746998}"/>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6" name="Slide Number Placeholder 5">
            <a:extLst>
              <a:ext uri="{FF2B5EF4-FFF2-40B4-BE49-F238E27FC236}">
                <a16:creationId xmlns:a16="http://schemas.microsoft.com/office/drawing/2014/main" id="{D48BBF28-BAD1-426B-A7B4-F4FC45A27308}"/>
              </a:ext>
            </a:extLst>
          </p:cNvPr>
          <p:cNvSpPr>
            <a:spLocks noGrp="1"/>
          </p:cNvSpPr>
          <p:nvPr>
            <p:ph type="sldNum" sz="quarter" idx="12"/>
          </p:nvPr>
        </p:nvSpPr>
        <p:spPr>
          <a:xfrm>
            <a:off x="8610600" y="6356350"/>
            <a:ext cx="2743200" cy="365125"/>
          </a:xfrm>
          <a:prstGeom prst="rect">
            <a:avLst/>
          </a:prstGeom>
        </p:spPr>
        <p:txBody>
          <a:bodyPr/>
          <a:lstStyle/>
          <a:p>
            <a:fld id="{80776354-5974-40A5-B41E-AD4171BFCBDF}" type="slidenum">
              <a:rPr lang="en-CA" smtClean="0"/>
              <a:t>‹#›</a:t>
            </a:fld>
            <a:endParaRPr lang="en-CA"/>
          </a:p>
        </p:txBody>
      </p:sp>
    </p:spTree>
    <p:extLst>
      <p:ext uri="{BB962C8B-B14F-4D97-AF65-F5344CB8AC3E}">
        <p14:creationId xmlns:p14="http://schemas.microsoft.com/office/powerpoint/2010/main" val="15171145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6" name="Content Placeholder 2"/>
          <p:cNvSpPr>
            <a:spLocks noGrp="1"/>
          </p:cNvSpPr>
          <p:nvPr>
            <p:ph idx="11"/>
          </p:nvPr>
        </p:nvSpPr>
        <p:spPr>
          <a:xfrm>
            <a:off x="395367" y="953725"/>
            <a:ext cx="11341260" cy="5174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2" name="Title 1"/>
          <p:cNvSpPr>
            <a:spLocks noGrp="1"/>
          </p:cNvSpPr>
          <p:nvPr>
            <p:ph type="title"/>
          </p:nvPr>
        </p:nvSpPr>
        <p:spPr>
          <a:xfrm>
            <a:off x="296338" y="205740"/>
            <a:ext cx="11527367" cy="603887"/>
          </a:xfrm>
        </p:spPr>
        <p:txBody>
          <a:bodyPr/>
          <a:lstStyle/>
          <a:p>
            <a:r>
              <a:rPr lang="en-US"/>
              <a:t>Click to edit Master title style</a:t>
            </a:r>
            <a:endParaRPr lang="en-SG"/>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Tree>
    <p:extLst>
      <p:ext uri="{BB962C8B-B14F-4D97-AF65-F5344CB8AC3E}">
        <p14:creationId xmlns:p14="http://schemas.microsoft.com/office/powerpoint/2010/main" val="31218635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Section Title">
    <p:bg>
      <p:bgRef idx="1001">
        <a:schemeClr val="bg2"/>
      </p:bgRef>
    </p:bg>
    <p:spTree>
      <p:nvGrpSpPr>
        <p:cNvPr id="1" name=""/>
        <p:cNvGrpSpPr/>
        <p:nvPr/>
      </p:nvGrpSpPr>
      <p:grpSpPr>
        <a:xfrm>
          <a:off x="0" y="0"/>
          <a:ext cx="0" cy="0"/>
          <a:chOff x="0" y="0"/>
          <a:chExt cx="0" cy="0"/>
        </a:xfrm>
      </p:grpSpPr>
      <p:sp>
        <p:nvSpPr>
          <p:cNvPr id="5" name="Title 1"/>
          <p:cNvSpPr>
            <a:spLocks noGrp="1"/>
          </p:cNvSpPr>
          <p:nvPr>
            <p:ph type="ctrTitle"/>
          </p:nvPr>
        </p:nvSpPr>
        <p:spPr>
          <a:xfrm>
            <a:off x="1524000" y="2817019"/>
            <a:ext cx="9144000" cy="1223963"/>
          </a:xfrm>
        </p:spPr>
        <p:txBody>
          <a:bodyPr anchor="ctr">
            <a:normAutofit/>
          </a:bodyPr>
          <a:lstStyle>
            <a:lvl1pPr algn="ctr">
              <a:defRPr sz="4800">
                <a:solidFill>
                  <a:srgbClr val="FA621C"/>
                </a:solidFill>
              </a:defRPr>
            </a:lvl1pPr>
          </a:lstStyle>
          <a:p>
            <a:r>
              <a:rPr lang="en-US"/>
              <a:t>Click to edit Master title style</a:t>
            </a:r>
            <a:endParaRPr lang="en-CA"/>
          </a:p>
        </p:txBody>
      </p:sp>
    </p:spTree>
    <p:custDataLst>
      <p:tags r:id="rId1"/>
    </p:custDataLst>
    <p:extLst>
      <p:ext uri="{BB962C8B-B14F-4D97-AF65-F5344CB8AC3E}">
        <p14:creationId xmlns:p14="http://schemas.microsoft.com/office/powerpoint/2010/main" val="83456882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hyperlink" Target="http://www.corporatefinanceinstitute.com/"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image" Target="../media/image1.png"/><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hyperlink" Target="http://www.corporatefinanceinstitute.com/" TargetMode="Externa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180931B-36FA-41C1-847D-06627B30DE0A}"/>
              </a:ext>
            </a:extLst>
          </p:cNvPr>
          <p:cNvSpPr txBox="1"/>
          <p:nvPr userDrawn="1"/>
        </p:nvSpPr>
        <p:spPr>
          <a:xfrm>
            <a:off x="0" y="6611779"/>
            <a:ext cx="2894549" cy="246221"/>
          </a:xfrm>
          <a:prstGeom prst="rect">
            <a:avLst/>
          </a:prstGeom>
          <a:noFill/>
        </p:spPr>
        <p:txBody>
          <a:bodyPr wrap="square" rtlCol="0">
            <a:spAutoFit/>
          </a:bodyPr>
          <a:lstStyle/>
          <a:p>
            <a:r>
              <a:rPr lang="en-CA" sz="1000" u="sng">
                <a:solidFill>
                  <a:schemeClr val="accent5"/>
                </a:solidFill>
                <a:hlinkClick r:id="rId15"/>
              </a:rPr>
              <a:t>www.corporatefinanceinstitute.com</a:t>
            </a:r>
            <a:endParaRPr lang="en-CA" sz="1000" u="sng">
              <a:solidFill>
                <a:schemeClr val="accent5"/>
              </a:solidFill>
            </a:endParaRPr>
          </a:p>
        </p:txBody>
      </p:sp>
      <p:pic>
        <p:nvPicPr>
          <p:cNvPr id="6" name="Picture 5" descr="A picture containing clipart&#10;&#10;Description generated with high confidence">
            <a:extLst>
              <a:ext uri="{FF2B5EF4-FFF2-40B4-BE49-F238E27FC236}">
                <a16:creationId xmlns:a16="http://schemas.microsoft.com/office/drawing/2014/main" id="{34F30C92-CD4D-48B9-B955-C864C815978C}"/>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1161986" y="6501919"/>
            <a:ext cx="979564" cy="316540"/>
          </a:xfrm>
          <a:prstGeom prst="rect">
            <a:avLst/>
          </a:prstGeom>
        </p:spPr>
      </p:pic>
    </p:spTree>
    <p:extLst>
      <p:ext uri="{BB962C8B-B14F-4D97-AF65-F5344CB8AC3E}">
        <p14:creationId xmlns:p14="http://schemas.microsoft.com/office/powerpoint/2010/main" val="16589135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180931B-36FA-41C1-847D-06627B30DE0A}"/>
              </a:ext>
            </a:extLst>
          </p:cNvPr>
          <p:cNvSpPr txBox="1"/>
          <p:nvPr userDrawn="1"/>
        </p:nvSpPr>
        <p:spPr>
          <a:xfrm>
            <a:off x="0" y="6611779"/>
            <a:ext cx="2894549" cy="246221"/>
          </a:xfrm>
          <a:prstGeom prst="rect">
            <a:avLst/>
          </a:prstGeom>
          <a:noFill/>
        </p:spPr>
        <p:txBody>
          <a:bodyPr wrap="square" rtlCol="0">
            <a:spAutoFit/>
          </a:bodyPr>
          <a:lstStyle/>
          <a:p>
            <a:r>
              <a:rPr lang="en-CA" sz="1000" u="sng">
                <a:solidFill>
                  <a:schemeClr val="accent5"/>
                </a:solidFill>
                <a:hlinkClick r:id="rId15"/>
              </a:rPr>
              <a:t>www.corporatefinanceinstitute.com</a:t>
            </a:r>
            <a:endParaRPr lang="en-CA" sz="1000" u="sng">
              <a:solidFill>
                <a:schemeClr val="accent5"/>
              </a:solidFill>
            </a:endParaRPr>
          </a:p>
        </p:txBody>
      </p:sp>
      <p:pic>
        <p:nvPicPr>
          <p:cNvPr id="6" name="Picture 5" descr="A picture containing clipart&#10;&#10;Description generated with high confidence">
            <a:extLst>
              <a:ext uri="{FF2B5EF4-FFF2-40B4-BE49-F238E27FC236}">
                <a16:creationId xmlns:a16="http://schemas.microsoft.com/office/drawing/2014/main" id="{34F30C92-CD4D-48B9-B955-C864C815978C}"/>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1161986" y="6501919"/>
            <a:ext cx="979564" cy="316540"/>
          </a:xfrm>
          <a:prstGeom prst="rect">
            <a:avLst/>
          </a:prstGeom>
        </p:spPr>
      </p:pic>
      <p:cxnSp>
        <p:nvCxnSpPr>
          <p:cNvPr id="3" name="Straight Connector 2">
            <a:extLst>
              <a:ext uri="{FF2B5EF4-FFF2-40B4-BE49-F238E27FC236}">
                <a16:creationId xmlns:a16="http://schemas.microsoft.com/office/drawing/2014/main" id="{556AB45B-FFB2-47C6-A5B8-8EDB710458B2}"/>
              </a:ext>
            </a:extLst>
          </p:cNvPr>
          <p:cNvCxnSpPr/>
          <p:nvPr userDrawn="1"/>
        </p:nvCxnSpPr>
        <p:spPr>
          <a:xfrm>
            <a:off x="0" y="1010573"/>
            <a:ext cx="1702676" cy="0"/>
          </a:xfrm>
          <a:prstGeom prst="line">
            <a:avLst/>
          </a:prstGeom>
          <a:ln w="1905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786046591"/>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72" userDrawn="1">
          <p15:clr>
            <a:srgbClr val="F26B43"/>
          </p15:clr>
        </p15:guide>
        <p15:guide id="2" pos="370" userDrawn="1">
          <p15:clr>
            <a:srgbClr val="F26B43"/>
          </p15:clr>
        </p15:guide>
        <p15:guide id="3" orient="horz" pos="6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9.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hyperlink" Target="http://www.noonpost.com/content/22938"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8" Type="http://schemas.openxmlformats.org/officeDocument/2006/relationships/image" Target="../media/image17.emf"/><Relationship Id="rId3" Type="http://schemas.openxmlformats.org/officeDocument/2006/relationships/package" Target="../embeddings/Microsoft_Excel_Worksheet.xlsx"/><Relationship Id="rId7" Type="http://schemas.openxmlformats.org/officeDocument/2006/relationships/package" Target="../embeddings/Microsoft_Excel_Worksheet2.xlsx"/><Relationship Id="rId12" Type="http://schemas.openxmlformats.org/officeDocument/2006/relationships/image" Target="../media/image19.emf"/><Relationship Id="rId2" Type="http://schemas.openxmlformats.org/officeDocument/2006/relationships/notesSlide" Target="../notesSlides/notesSlide2.xml"/><Relationship Id="rId1" Type="http://schemas.openxmlformats.org/officeDocument/2006/relationships/slideLayout" Target="../slideLayouts/slideLayout19.xml"/><Relationship Id="rId6" Type="http://schemas.openxmlformats.org/officeDocument/2006/relationships/image" Target="../media/image16.emf"/><Relationship Id="rId11" Type="http://schemas.openxmlformats.org/officeDocument/2006/relationships/package" Target="../embeddings/Microsoft_Excel_Worksheet4.xlsx"/><Relationship Id="rId5" Type="http://schemas.openxmlformats.org/officeDocument/2006/relationships/package" Target="../embeddings/Microsoft_Excel_Worksheet1.xlsx"/><Relationship Id="rId10" Type="http://schemas.openxmlformats.org/officeDocument/2006/relationships/image" Target="../media/image18.emf"/><Relationship Id="rId4" Type="http://schemas.openxmlformats.org/officeDocument/2006/relationships/image" Target="../media/image15.emf"/><Relationship Id="rId9" Type="http://schemas.openxmlformats.org/officeDocument/2006/relationships/package" Target="../embeddings/Microsoft_Excel_Worksheet3.xlsx"/></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package" Target="../embeddings/Microsoft_Excel_Worksheet5.xlsx"/><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package" Target="../embeddings/Microsoft_Excel_Worksheet6.xlsx"/><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package" Target="../embeddings/Microsoft_Excel_Worksheet7.xlsx"/><Relationship Id="rId1" Type="http://schemas.openxmlformats.org/officeDocument/2006/relationships/slideLayout" Target="../slideLayouts/slideLayout19.xml"/><Relationship Id="rId5" Type="http://schemas.openxmlformats.org/officeDocument/2006/relationships/image" Target="../media/image25.emf"/><Relationship Id="rId4" Type="http://schemas.openxmlformats.org/officeDocument/2006/relationships/package" Target="../embeddings/Microsoft_Excel_Worksheet8.xlsx"/></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50260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D97C0-83CC-4513-8ADA-BB9F256A2A38}"/>
              </a:ext>
            </a:extLst>
          </p:cNvPr>
          <p:cNvSpPr>
            <a:spLocks noGrp="1"/>
          </p:cNvSpPr>
          <p:nvPr>
            <p:ph type="ctrTitle"/>
          </p:nvPr>
        </p:nvSpPr>
        <p:spPr>
          <a:xfrm>
            <a:off x="1701799" y="2700508"/>
            <a:ext cx="8788400" cy="1223963"/>
          </a:xfrm>
        </p:spPr>
        <p:txBody>
          <a:bodyPr>
            <a:normAutofit/>
          </a:bodyPr>
          <a:lstStyle/>
          <a:p>
            <a:r>
              <a:rPr lang="en-CA" sz="4400">
                <a:solidFill>
                  <a:schemeClr val="tx1"/>
                </a:solidFill>
              </a:rPr>
              <a:t>Hershey (NYSE: HSY)</a:t>
            </a:r>
          </a:p>
        </p:txBody>
      </p:sp>
      <p:pic>
        <p:nvPicPr>
          <p:cNvPr id="1028" name="Picture 4">
            <a:extLst>
              <a:ext uri="{FF2B5EF4-FFF2-40B4-BE49-F238E27FC236}">
                <a16:creationId xmlns:a16="http://schemas.microsoft.com/office/drawing/2014/main" id="{3B9B9C9D-1F99-09CD-92BC-60347D9644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9608" y="1171865"/>
            <a:ext cx="5192781" cy="1635726"/>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B351F45-B849-8DD5-F451-03E5A488545A}"/>
              </a:ext>
            </a:extLst>
          </p:cNvPr>
          <p:cNvSpPr txBox="1">
            <a:spLocks/>
          </p:cNvSpPr>
          <p:nvPr/>
        </p:nvSpPr>
        <p:spPr>
          <a:xfrm>
            <a:off x="1701799" y="3568533"/>
            <a:ext cx="8788400" cy="1223963"/>
          </a:xfrm>
        </p:spPr>
        <p:txBody>
          <a:bodyPr lIns="91440" tIns="45720" rIns="91440" bIns="45720" anchor="ctr">
            <a:normAutofit/>
          </a:bodyPr>
          <a:lstStyle>
            <a:lvl1pPr algn="ctr" defTabSz="914400" rtl="0" eaLnBrk="1" latinLnBrk="0" hangingPunct="1">
              <a:lnSpc>
                <a:spcPct val="90000"/>
              </a:lnSpc>
              <a:spcBef>
                <a:spcPct val="0"/>
              </a:spcBef>
              <a:buNone/>
              <a:defRPr sz="4800" kern="1200">
                <a:solidFill>
                  <a:srgbClr val="FA621C"/>
                </a:solidFill>
                <a:latin typeface="+mj-lt"/>
                <a:ea typeface="+mj-ea"/>
                <a:cs typeface="+mj-cs"/>
              </a:defRPr>
            </a:lvl1pPr>
          </a:lstStyle>
          <a:p>
            <a:r>
              <a:rPr lang="en-CA" sz="2400">
                <a:solidFill>
                  <a:schemeClr val="tx1"/>
                </a:solidFill>
              </a:rPr>
              <a:t>Short Recommendation</a:t>
            </a:r>
          </a:p>
          <a:p>
            <a:r>
              <a:rPr lang="en-CA" sz="2400">
                <a:solidFill>
                  <a:schemeClr val="tx1"/>
                </a:solidFill>
              </a:rPr>
              <a:t>2025 PT: $184.19 (-7% Downside</a:t>
            </a:r>
            <a:r>
              <a:rPr lang="en-CA" sz="2400">
                <a:solidFill>
                  <a:schemeClr val="tx1"/>
                </a:solidFill>
                <a:ea typeface="Open Sans Light"/>
                <a:cs typeface="Open Sans Light"/>
              </a:rPr>
              <a:t>)  </a:t>
            </a:r>
          </a:p>
        </p:txBody>
      </p:sp>
      <p:sp>
        <p:nvSpPr>
          <p:cNvPr id="4" name="Title 1">
            <a:extLst>
              <a:ext uri="{FF2B5EF4-FFF2-40B4-BE49-F238E27FC236}">
                <a16:creationId xmlns:a16="http://schemas.microsoft.com/office/drawing/2014/main" id="{F0BF295A-89D8-E17C-1915-7FEB62390D13}"/>
              </a:ext>
            </a:extLst>
          </p:cNvPr>
          <p:cNvSpPr txBox="1">
            <a:spLocks/>
          </p:cNvSpPr>
          <p:nvPr/>
        </p:nvSpPr>
        <p:spPr>
          <a:xfrm>
            <a:off x="1701798" y="5453114"/>
            <a:ext cx="8788400" cy="1223963"/>
          </a:xfrm>
        </p:spPr>
        <p:txBody>
          <a:bodyPr lIns="91440" tIns="45720" rIns="91440" bIns="45720" anchor="ctr">
            <a:normAutofit/>
          </a:bodyPr>
          <a:lstStyle>
            <a:lvl1pPr algn="ctr" defTabSz="914400" rtl="0" eaLnBrk="1" latinLnBrk="0" hangingPunct="1">
              <a:lnSpc>
                <a:spcPct val="90000"/>
              </a:lnSpc>
              <a:spcBef>
                <a:spcPct val="0"/>
              </a:spcBef>
              <a:buNone/>
              <a:defRPr sz="4800" kern="1200">
                <a:solidFill>
                  <a:srgbClr val="FA621C"/>
                </a:solidFill>
                <a:latin typeface="+mj-lt"/>
                <a:ea typeface="+mj-ea"/>
                <a:cs typeface="+mj-cs"/>
              </a:defRPr>
            </a:lvl1pPr>
          </a:lstStyle>
          <a:p>
            <a:r>
              <a:rPr lang="en-CA" sz="2400">
                <a:solidFill>
                  <a:schemeClr val="tx1"/>
                </a:solidFill>
              </a:rPr>
              <a:t>April 12</a:t>
            </a:r>
            <a:r>
              <a:rPr lang="en-CA" sz="2400" baseline="30000">
                <a:solidFill>
                  <a:schemeClr val="tx1"/>
                </a:solidFill>
              </a:rPr>
              <a:t>th</a:t>
            </a:r>
            <a:r>
              <a:rPr lang="en-CA" sz="2400">
                <a:solidFill>
                  <a:schemeClr val="tx1"/>
                </a:solidFill>
              </a:rPr>
              <a:t>, 2024</a:t>
            </a:r>
            <a:endParaRPr lang="en-CA" sz="2400">
              <a:solidFill>
                <a:schemeClr val="tx1"/>
              </a:solidFill>
              <a:ea typeface="Open Sans Light"/>
              <a:cs typeface="Open Sans Light"/>
            </a:endParaRPr>
          </a:p>
          <a:p>
            <a:r>
              <a:rPr lang="en-CA" sz="2400">
                <a:solidFill>
                  <a:schemeClr val="tx1"/>
                </a:solidFill>
              </a:rPr>
              <a:t>Leo Goldberg, Landry Mize, Dawson </a:t>
            </a:r>
            <a:r>
              <a:rPr lang="en-CA" sz="2400" err="1">
                <a:solidFill>
                  <a:schemeClr val="tx1"/>
                </a:solidFill>
              </a:rPr>
              <a:t>Prewett</a:t>
            </a:r>
            <a:endParaRPr lang="en-CA" sz="2400">
              <a:solidFill>
                <a:schemeClr val="tx1"/>
              </a:solidFill>
              <a:ea typeface="Open Sans Light"/>
              <a:cs typeface="Open Sans Light"/>
            </a:endParaRPr>
          </a:p>
        </p:txBody>
      </p:sp>
    </p:spTree>
    <p:extLst>
      <p:ext uri="{BB962C8B-B14F-4D97-AF65-F5344CB8AC3E}">
        <p14:creationId xmlns:p14="http://schemas.microsoft.com/office/powerpoint/2010/main" val="4252244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67E31-8F54-467C-A3F7-960376697CDB}"/>
              </a:ext>
            </a:extLst>
          </p:cNvPr>
          <p:cNvSpPr>
            <a:spLocks noGrp="1"/>
          </p:cNvSpPr>
          <p:nvPr>
            <p:ph type="title"/>
          </p:nvPr>
        </p:nvSpPr>
        <p:spPr>
          <a:xfrm>
            <a:off x="656648" y="362623"/>
            <a:ext cx="10515600" cy="535531"/>
          </a:xfrm>
        </p:spPr>
        <p:txBody>
          <a:bodyPr/>
          <a:lstStyle/>
          <a:p>
            <a:r>
              <a:rPr lang="en-CA">
                <a:solidFill>
                  <a:srgbClr val="582A04"/>
                </a:solidFill>
              </a:rPr>
              <a:t>Company Overview</a:t>
            </a:r>
          </a:p>
        </p:txBody>
      </p:sp>
      <p:graphicFrame>
        <p:nvGraphicFramePr>
          <p:cNvPr id="4" name="Table 3">
            <a:extLst>
              <a:ext uri="{FF2B5EF4-FFF2-40B4-BE49-F238E27FC236}">
                <a16:creationId xmlns:a16="http://schemas.microsoft.com/office/drawing/2014/main" id="{4CBAEA4B-47DA-442F-8EBC-57D275379F12}"/>
              </a:ext>
            </a:extLst>
          </p:cNvPr>
          <p:cNvGraphicFramePr>
            <a:graphicFrameLocks noGrp="1"/>
          </p:cNvGraphicFramePr>
          <p:nvPr>
            <p:extLst>
              <p:ext uri="{D42A27DB-BD31-4B8C-83A1-F6EECF244321}">
                <p14:modId xmlns:p14="http://schemas.microsoft.com/office/powerpoint/2010/main" val="1700255291"/>
              </p:ext>
            </p:extLst>
          </p:nvPr>
        </p:nvGraphicFramePr>
        <p:xfrm>
          <a:off x="7622762" y="1930630"/>
          <a:ext cx="3962400" cy="906780"/>
        </p:xfrm>
        <a:graphic>
          <a:graphicData uri="http://schemas.openxmlformats.org/drawingml/2006/table">
            <a:tbl>
              <a:tblPr firstRow="1" bandRow="1">
                <a:tableStyleId>{5C22544A-7EE6-4342-B048-85BDC9FD1C3A}</a:tableStyleId>
              </a:tblPr>
              <a:tblGrid>
                <a:gridCol w="1256952">
                  <a:extLst>
                    <a:ext uri="{9D8B030D-6E8A-4147-A177-3AD203B41FA5}">
                      <a16:colId xmlns:a16="http://schemas.microsoft.com/office/drawing/2014/main" val="20000"/>
                    </a:ext>
                  </a:extLst>
                </a:gridCol>
                <a:gridCol w="665057">
                  <a:extLst>
                    <a:ext uri="{9D8B030D-6E8A-4147-A177-3AD203B41FA5}">
                      <a16:colId xmlns:a16="http://schemas.microsoft.com/office/drawing/2014/main" val="20001"/>
                    </a:ext>
                  </a:extLst>
                </a:gridCol>
                <a:gridCol w="1358044">
                  <a:extLst>
                    <a:ext uri="{9D8B030D-6E8A-4147-A177-3AD203B41FA5}">
                      <a16:colId xmlns:a16="http://schemas.microsoft.com/office/drawing/2014/main" val="20002"/>
                    </a:ext>
                  </a:extLst>
                </a:gridCol>
                <a:gridCol w="682347">
                  <a:extLst>
                    <a:ext uri="{9D8B030D-6E8A-4147-A177-3AD203B41FA5}">
                      <a16:colId xmlns:a16="http://schemas.microsoft.com/office/drawing/2014/main" val="20003"/>
                    </a:ext>
                  </a:extLst>
                </a:gridCol>
              </a:tblGrid>
              <a:tr h="15039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50">
                          <a:solidFill>
                            <a:schemeClr val="tx1"/>
                          </a:solidFill>
                          <a:latin typeface="+mn-lt"/>
                        </a:rPr>
                        <a:t>Enterprise Value</a:t>
                      </a:r>
                    </a:p>
                  </a:txBody>
                  <a:tcPr marL="0" marR="27432" marT="18288" marB="18288">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lvl="0" algn="ctr">
                        <a:buNone/>
                      </a:pPr>
                      <a:r>
                        <a:rPr lang="en-US" sz="950" baseline="0">
                          <a:solidFill>
                            <a:schemeClr val="tx1"/>
                          </a:solidFill>
                          <a:latin typeface="+mn-lt"/>
                          <a:cs typeface="Helvetica"/>
                        </a:rPr>
                        <a:t>$44,202.3</a:t>
                      </a:r>
                    </a:p>
                  </a:txBody>
                  <a:tcPr marL="27432" marR="27432" marT="18288" marB="18288">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rtl="0">
                        <a:lnSpc>
                          <a:spcPct val="100000"/>
                        </a:lnSpc>
                        <a:spcBef>
                          <a:spcPts val="0"/>
                        </a:spcBef>
                        <a:spcAft>
                          <a:spcPts val="0"/>
                        </a:spcAft>
                        <a:buClrTx/>
                        <a:buSzTx/>
                        <a:buFontTx/>
                        <a:buNone/>
                      </a:pPr>
                      <a:r>
                        <a:rPr lang="en-US" sz="950">
                          <a:latin typeface="+mn-lt"/>
                        </a:rPr>
                        <a:t>Revenue (FY18e)</a:t>
                      </a:r>
                      <a:endParaRPr kumimoji="0" lang="en-US" sz="950" b="0" i="0" u="none" strike="noStrike" kern="1200" cap="none" spc="0" normalizeH="0" baseline="0" noProof="0">
                        <a:ln>
                          <a:noFill/>
                        </a:ln>
                        <a:solidFill>
                          <a:srgbClr val="000000"/>
                        </a:solidFill>
                        <a:effectLst/>
                        <a:uLnTx/>
                        <a:uFillTx/>
                        <a:latin typeface="+mn-lt"/>
                        <a:cs typeface="+mn-cs"/>
                      </a:endParaRPr>
                    </a:p>
                  </a:txBody>
                  <a:tcPr marL="27432" marR="0" marT="18288" marB="18288">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lvl="0" algn="ctr">
                        <a:buNone/>
                      </a:pPr>
                      <a:r>
                        <a:rPr lang="en-US" sz="950">
                          <a:latin typeface="+mn-lt"/>
                          <a:cs typeface="Helvetica"/>
                        </a:rPr>
                        <a:t>$968</a:t>
                      </a:r>
                      <a:endParaRPr lang="en-US"/>
                    </a:p>
                  </a:txBody>
                  <a:tcPr marL="27432" marR="0" marT="18288" marB="18288">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150396">
                <a:tc>
                  <a:txBody>
                    <a:bodyPr/>
                    <a:lstStyle/>
                    <a:p>
                      <a:pPr marL="0" marR="0" lvl="0" indent="0" algn="l" rtl="0">
                        <a:lnSpc>
                          <a:spcPct val="100000"/>
                        </a:lnSpc>
                        <a:spcBef>
                          <a:spcPts val="0"/>
                        </a:spcBef>
                        <a:spcAft>
                          <a:spcPts val="0"/>
                        </a:spcAft>
                        <a:buClrTx/>
                        <a:buSzTx/>
                        <a:buFontTx/>
                        <a:buNone/>
                      </a:pPr>
                      <a:r>
                        <a:rPr lang="en-US" sz="950">
                          <a:solidFill>
                            <a:schemeClr val="tx1"/>
                          </a:solidFill>
                          <a:latin typeface="+mn-lt"/>
                        </a:rPr>
                        <a:t>Market Cap</a:t>
                      </a:r>
                      <a:endParaRPr lang="en-US"/>
                    </a:p>
                  </a:txBody>
                  <a:tcPr marL="0" marR="27432" marT="18288" marB="18288">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lvl="0" algn="ctr">
                        <a:buNone/>
                      </a:pPr>
                      <a:r>
                        <a:rPr lang="en-US" sz="950">
                          <a:solidFill>
                            <a:schemeClr val="tx1"/>
                          </a:solidFill>
                          <a:latin typeface="+mn-lt"/>
                          <a:cs typeface="Helvetica"/>
                        </a:rPr>
                        <a:t>$39,478.6</a:t>
                      </a:r>
                      <a:endParaRPr lang="en-US"/>
                    </a:p>
                  </a:txBody>
                  <a:tcPr marL="27432" marR="27432" marT="18288" marB="18288">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rtl="0">
                        <a:lnSpc>
                          <a:spcPct val="100000"/>
                        </a:lnSpc>
                        <a:spcBef>
                          <a:spcPts val="0"/>
                        </a:spcBef>
                        <a:spcAft>
                          <a:spcPts val="0"/>
                        </a:spcAft>
                        <a:buClrTx/>
                        <a:buSzTx/>
                        <a:buFontTx/>
                        <a:buNone/>
                      </a:pPr>
                      <a:endParaRPr lang="en-US" sz="950">
                        <a:latin typeface="+mn-lt"/>
                      </a:endParaRPr>
                    </a:p>
                  </a:txBody>
                  <a:tcPr marL="27432" marR="0" marT="18288" marB="18288">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lvl="0" algn="ctr">
                        <a:buNone/>
                      </a:pPr>
                      <a:endParaRPr lang="en-US" sz="950">
                        <a:solidFill>
                          <a:schemeClr val="tx1"/>
                        </a:solidFill>
                        <a:latin typeface="+mn-lt"/>
                      </a:endParaRPr>
                    </a:p>
                  </a:txBody>
                  <a:tcPr marL="27432" marR="0" marT="18288" marB="18288">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50396">
                <a:tc>
                  <a:txBody>
                    <a:bodyPr/>
                    <a:lstStyle/>
                    <a:p>
                      <a:pPr marL="0" marR="0" lvl="0" indent="0" algn="l" defTabSz="914400" rtl="0">
                        <a:lnSpc>
                          <a:spcPct val="100000"/>
                        </a:lnSpc>
                        <a:spcBef>
                          <a:spcPts val="0"/>
                        </a:spcBef>
                        <a:spcAft>
                          <a:spcPts val="0"/>
                        </a:spcAft>
                        <a:buClrTx/>
                        <a:buSzTx/>
                        <a:buFontTx/>
                        <a:buNone/>
                        <a:tabLst/>
                        <a:defRPr/>
                      </a:pPr>
                      <a:r>
                        <a:rPr lang="en-US" sz="950">
                          <a:latin typeface="+mn-lt"/>
                        </a:rPr>
                        <a:t>P/E*</a:t>
                      </a:r>
                      <a:endParaRPr lang="en-US"/>
                    </a:p>
                  </a:txBody>
                  <a:tcPr marL="0" marR="27432" marT="18288" marB="18288">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950">
                          <a:latin typeface="+mn-lt"/>
                          <a:cs typeface="Helvetica"/>
                        </a:rPr>
                        <a:t>26.90x</a:t>
                      </a:r>
                    </a:p>
                  </a:txBody>
                  <a:tcPr marL="27432" marR="27432" marT="18288" marB="18288">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r>
                        <a:rPr lang="en-US" sz="950">
                          <a:latin typeface="+mn-lt"/>
                        </a:rPr>
                        <a:t>EBITDA Margin</a:t>
                      </a:r>
                    </a:p>
                  </a:txBody>
                  <a:tcPr marL="27432" marR="0" marT="18288" marB="18288">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950">
                          <a:latin typeface="+mn-lt"/>
                          <a:cs typeface="Helvetica"/>
                        </a:rPr>
                        <a:t>26.4%</a:t>
                      </a:r>
                    </a:p>
                  </a:txBody>
                  <a:tcPr marL="27432" marR="0" marT="18288" marB="18288">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3"/>
                  </a:ext>
                </a:extLst>
              </a:tr>
              <a:tr h="1503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000000"/>
                          </a:solidFill>
                          <a:effectLst/>
                          <a:uLnTx/>
                          <a:uFillTx/>
                          <a:latin typeface="+mn-lt"/>
                          <a:cs typeface="+mn-cs"/>
                        </a:rPr>
                        <a:t>EV/EBITDA*</a:t>
                      </a:r>
                    </a:p>
                  </a:txBody>
                  <a:tcPr marL="0" marR="27432" marT="18288" marB="18288">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50">
                          <a:latin typeface="+mn-lt"/>
                          <a:cs typeface="Helvetica"/>
                        </a:rPr>
                        <a:t>14.97x</a:t>
                      </a:r>
                    </a:p>
                  </a:txBody>
                  <a:tcPr marL="27432" marR="27432" marT="18288" marB="18288">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50">
                          <a:latin typeface="+mn-lt"/>
                        </a:rPr>
                        <a:t>Debt / EV</a:t>
                      </a:r>
                    </a:p>
                  </a:txBody>
                  <a:tcPr marL="27432" marR="0" marT="18288" marB="18288">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950">
                          <a:latin typeface="+mn-lt"/>
                          <a:cs typeface="Helvetica"/>
                        </a:rPr>
                        <a:t>11.60%</a:t>
                      </a:r>
                    </a:p>
                  </a:txBody>
                  <a:tcPr marL="27432" marR="0" marT="18288" marB="18288">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4"/>
                  </a:ext>
                </a:extLst>
              </a:tr>
              <a:tr h="1503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000000"/>
                          </a:solidFill>
                          <a:effectLst/>
                          <a:uLnTx/>
                          <a:uFillTx/>
                          <a:latin typeface="+mn-lt"/>
                          <a:cs typeface="+mn-cs"/>
                        </a:rPr>
                        <a:t>Cash</a:t>
                      </a:r>
                    </a:p>
                  </a:txBody>
                  <a:tcPr marL="0" marR="27432" marT="18288" marB="18288">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50">
                          <a:latin typeface="+mn-lt"/>
                          <a:cs typeface="Helvetica"/>
                        </a:rPr>
                        <a:t>$401.9</a:t>
                      </a:r>
                      <a:endParaRPr lang="en-US" sz="950">
                        <a:solidFill>
                          <a:srgbClr val="FF0000"/>
                        </a:solidFill>
                        <a:latin typeface="+mn-lt"/>
                      </a:endParaRPr>
                    </a:p>
                  </a:txBody>
                  <a:tcPr marL="27432" marR="27432" marT="18288" marB="18288">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50">
                          <a:latin typeface="+mn-lt"/>
                        </a:rPr>
                        <a:t>Total Debt</a:t>
                      </a:r>
                    </a:p>
                  </a:txBody>
                  <a:tcPr marL="27432" marR="0" marT="18288" marB="18288">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50">
                          <a:latin typeface="+mn-lt"/>
                          <a:cs typeface="Helvetica"/>
                        </a:rPr>
                        <a:t>$5125.6</a:t>
                      </a:r>
                      <a:endParaRPr lang="en-US" sz="950">
                        <a:solidFill>
                          <a:srgbClr val="FF0000"/>
                        </a:solidFill>
                        <a:latin typeface="+mn-lt"/>
                        <a:cs typeface="Helvetica"/>
                      </a:endParaRPr>
                    </a:p>
                  </a:txBody>
                  <a:tcPr marL="27432" marR="0" marT="18288" marB="18288">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graphicFrame>
        <p:nvGraphicFramePr>
          <p:cNvPr id="6" name="Table 5">
            <a:extLst>
              <a:ext uri="{FF2B5EF4-FFF2-40B4-BE49-F238E27FC236}">
                <a16:creationId xmlns:a16="http://schemas.microsoft.com/office/drawing/2014/main" id="{A9A166D8-471F-4755-9F52-FDAB65B8281A}"/>
              </a:ext>
            </a:extLst>
          </p:cNvPr>
          <p:cNvGraphicFramePr>
            <a:graphicFrameLocks noGrp="1"/>
          </p:cNvGraphicFramePr>
          <p:nvPr>
            <p:extLst>
              <p:ext uri="{D42A27DB-BD31-4B8C-83A1-F6EECF244321}">
                <p14:modId xmlns:p14="http://schemas.microsoft.com/office/powerpoint/2010/main" val="3433331625"/>
              </p:ext>
            </p:extLst>
          </p:nvPr>
        </p:nvGraphicFramePr>
        <p:xfrm>
          <a:off x="7615998" y="3194650"/>
          <a:ext cx="3985452" cy="210550"/>
        </p:xfrm>
        <a:graphic>
          <a:graphicData uri="http://schemas.openxmlformats.org/drawingml/2006/table">
            <a:tbl>
              <a:tblPr/>
              <a:tblGrid>
                <a:gridCol w="870607">
                  <a:extLst>
                    <a:ext uri="{9D8B030D-6E8A-4147-A177-3AD203B41FA5}">
                      <a16:colId xmlns:a16="http://schemas.microsoft.com/office/drawing/2014/main" val="20000"/>
                    </a:ext>
                  </a:extLst>
                </a:gridCol>
                <a:gridCol w="1173762">
                  <a:extLst>
                    <a:ext uri="{9D8B030D-6E8A-4147-A177-3AD203B41FA5}">
                      <a16:colId xmlns:a16="http://schemas.microsoft.com/office/drawing/2014/main" val="20001"/>
                    </a:ext>
                  </a:extLst>
                </a:gridCol>
                <a:gridCol w="1941083">
                  <a:extLst>
                    <a:ext uri="{9D8B030D-6E8A-4147-A177-3AD203B41FA5}">
                      <a16:colId xmlns:a16="http://schemas.microsoft.com/office/drawing/2014/main" val="20002"/>
                    </a:ext>
                  </a:extLst>
                </a:gridCol>
              </a:tblGrid>
              <a:tr h="2105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mn-lt"/>
                          <a:ea typeface="ＭＳ Ｐゴシック"/>
                          <a:cs typeface="Arial"/>
                        </a:rPr>
                        <a:t>Share Price</a:t>
                      </a:r>
                    </a:p>
                  </a:txBody>
                  <a:tcPr marL="73152" marR="0" marT="27432" marB="27432" anchor="ctr" horzOverflow="overflow">
                    <a:lnL>
                      <a:noFill/>
                    </a:lnL>
                    <a:lnR w="6350" cap="flat" cmpd="sng" algn="ctr">
                      <a:solidFill>
                        <a:schemeClr val="bg1"/>
                      </a:solid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rtl="0" eaLnBrk="1" fontAlgn="base" latinLnBrk="0" hangingPunct="1">
                        <a:lnSpc>
                          <a:spcPct val="100000"/>
                        </a:lnSpc>
                        <a:spcBef>
                          <a:spcPct val="0"/>
                        </a:spcBef>
                        <a:spcAft>
                          <a:spcPct val="0"/>
                        </a:spcAft>
                        <a:buClrTx/>
                        <a:buSzTx/>
                        <a:buFontTx/>
                        <a:buNone/>
                      </a:pPr>
                      <a:r>
                        <a:rPr kumimoji="0" lang="en-US" sz="900" b="0" i="0" u="none" strike="noStrike" cap="none" normalizeH="0" baseline="0">
                          <a:ln>
                            <a:noFill/>
                          </a:ln>
                          <a:solidFill>
                            <a:schemeClr val="tx1"/>
                          </a:solidFill>
                          <a:effectLst/>
                          <a:latin typeface="+mn-lt"/>
                          <a:ea typeface="ＭＳ Ｐゴシック"/>
                          <a:cs typeface="Arial"/>
                        </a:rPr>
                        <a:t>Current:</a:t>
                      </a:r>
                      <a:r>
                        <a:rPr lang="en-US" sz="900" b="0" i="0" u="none" strike="noStrike" cap="none" normalizeH="0" baseline="0">
                          <a:ln>
                            <a:noFill/>
                          </a:ln>
                          <a:solidFill>
                            <a:schemeClr val="tx1"/>
                          </a:solidFill>
                          <a:effectLst/>
                          <a:latin typeface="+mn-lt"/>
                          <a:ea typeface="ＭＳ Ｐゴシック"/>
                          <a:cs typeface="Arial"/>
                        </a:rPr>
                        <a:t> 189.50</a:t>
                      </a:r>
                      <a:endParaRPr kumimoji="0" lang="en-US" sz="900" b="1" i="0" u="none" strike="noStrike" cap="none" normalizeH="0" baseline="0">
                        <a:ln>
                          <a:noFill/>
                        </a:ln>
                        <a:solidFill>
                          <a:schemeClr val="tx1"/>
                        </a:solidFill>
                        <a:effectLst/>
                        <a:latin typeface="+mn-lt"/>
                        <a:ea typeface="ＭＳ Ｐゴシック"/>
                        <a:cs typeface="Arial"/>
                      </a:endParaRPr>
                    </a:p>
                  </a:txBody>
                  <a:tcPr marL="45720" marR="0" marT="27432" marB="27432"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mn-lt"/>
                          <a:ea typeface="ＭＳ Ｐゴシック"/>
                          <a:cs typeface="Arial"/>
                        </a:rPr>
                        <a:t>52 </a:t>
                      </a:r>
                      <a:r>
                        <a:rPr kumimoji="0" lang="en-US" sz="900" b="0" i="0" u="none" strike="noStrike" cap="none" normalizeH="0" baseline="0" err="1">
                          <a:ln>
                            <a:noFill/>
                          </a:ln>
                          <a:solidFill>
                            <a:schemeClr val="tx1"/>
                          </a:solidFill>
                          <a:effectLst/>
                          <a:latin typeface="+mn-lt"/>
                          <a:ea typeface="ＭＳ Ｐゴシック"/>
                          <a:cs typeface="Arial"/>
                        </a:rPr>
                        <a:t>Wk</a:t>
                      </a:r>
                      <a:r>
                        <a:rPr kumimoji="0" lang="en-US" sz="900" b="0" i="0" u="none" strike="noStrike" cap="none" normalizeH="0" baseline="0">
                          <a:ln>
                            <a:noFill/>
                          </a:ln>
                          <a:solidFill>
                            <a:schemeClr val="tx1"/>
                          </a:solidFill>
                          <a:effectLst/>
                          <a:latin typeface="+mn-lt"/>
                          <a:ea typeface="ＭＳ Ｐゴシック"/>
                          <a:cs typeface="Arial"/>
                        </a:rPr>
                        <a:t> High/Low: </a:t>
                      </a:r>
                      <a:r>
                        <a:rPr kumimoji="0" lang="en-US" sz="900" b="1" i="0" u="none" strike="noStrike" cap="none" normalizeH="0" baseline="0">
                          <a:ln>
                            <a:noFill/>
                          </a:ln>
                          <a:solidFill>
                            <a:schemeClr val="tx1"/>
                          </a:solidFill>
                          <a:effectLst/>
                          <a:latin typeface="+mn-lt"/>
                          <a:ea typeface="ＭＳ Ｐゴシック"/>
                          <a:cs typeface="Arial"/>
                        </a:rPr>
                        <a:t>$</a:t>
                      </a:r>
                      <a:r>
                        <a:rPr lang="en-US" sz="900" b="1" i="0" u="none" strike="noStrike" cap="none" normalizeH="0" baseline="0">
                          <a:ln>
                            <a:noFill/>
                          </a:ln>
                          <a:solidFill>
                            <a:schemeClr val="tx1"/>
                          </a:solidFill>
                          <a:effectLst/>
                          <a:latin typeface="+mn-lt"/>
                          <a:ea typeface="ＭＳ Ｐゴシック"/>
                          <a:cs typeface="Arial"/>
                        </a:rPr>
                        <a:t>178.82-276.88</a:t>
                      </a:r>
                      <a:endParaRPr kumimoji="0" lang="en-US" sz="900" b="1" i="0" u="none" strike="noStrike" cap="none" normalizeH="0" baseline="0">
                        <a:ln>
                          <a:noFill/>
                        </a:ln>
                        <a:solidFill>
                          <a:schemeClr val="tx1"/>
                        </a:solidFill>
                        <a:effectLst/>
                        <a:latin typeface="+mn-lt"/>
                        <a:ea typeface="ＭＳ Ｐゴシック"/>
                        <a:cs typeface="Arial"/>
                      </a:endParaRPr>
                    </a:p>
                  </a:txBody>
                  <a:tcPr marL="45720" marR="0" marT="27432" marB="27432" anchor="ctr" horzOverflow="overflow">
                    <a:lnL w="6350" cap="flat" cmpd="sng" algn="ctr">
                      <a:solidFill>
                        <a:schemeClr val="bg1"/>
                      </a:solidFill>
                      <a:prstDash val="solid"/>
                      <a:round/>
                      <a:headEnd type="none" w="med" len="med"/>
                      <a:tailEnd type="none" w="med" len="med"/>
                    </a:lnL>
                    <a:lnR w="381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7" name="Table 6">
            <a:extLst>
              <a:ext uri="{FF2B5EF4-FFF2-40B4-BE49-F238E27FC236}">
                <a16:creationId xmlns:a16="http://schemas.microsoft.com/office/drawing/2014/main" id="{266173D3-EED7-4069-9BDD-BC77F1D21672}"/>
              </a:ext>
            </a:extLst>
          </p:cNvPr>
          <p:cNvGraphicFramePr>
            <a:graphicFrameLocks noGrp="1"/>
          </p:cNvGraphicFramePr>
          <p:nvPr>
            <p:extLst>
              <p:ext uri="{D42A27DB-BD31-4B8C-83A1-F6EECF244321}">
                <p14:modId xmlns:p14="http://schemas.microsoft.com/office/powerpoint/2010/main" val="3355018513"/>
              </p:ext>
            </p:extLst>
          </p:nvPr>
        </p:nvGraphicFramePr>
        <p:xfrm>
          <a:off x="7615998" y="1576107"/>
          <a:ext cx="3962400" cy="231775"/>
        </p:xfrm>
        <a:graphic>
          <a:graphicData uri="http://schemas.openxmlformats.org/drawingml/2006/table">
            <a:tbl>
              <a:tblPr/>
              <a:tblGrid>
                <a:gridCol w="3962400">
                  <a:extLst>
                    <a:ext uri="{9D8B030D-6E8A-4147-A177-3AD203B41FA5}">
                      <a16:colId xmlns:a16="http://schemas.microsoft.com/office/drawing/2014/main" val="20000"/>
                    </a:ext>
                  </a:extLst>
                </a:gridCol>
              </a:tblGrid>
              <a:tr h="231775">
                <a:tc>
                  <a:txBody>
                    <a:bodyPr/>
                    <a:lstStyle/>
                    <a:p>
                      <a:pPr marL="0" marR="0" lvl="0" indent="0" algn="l" rtl="0" eaLnBrk="1" fontAlgn="base" latinLnBrk="0" hangingPunct="1">
                        <a:lnSpc>
                          <a:spcPct val="100000"/>
                        </a:lnSpc>
                        <a:spcBef>
                          <a:spcPct val="0"/>
                        </a:spcBef>
                        <a:spcAft>
                          <a:spcPct val="0"/>
                        </a:spcAft>
                        <a:buClrTx/>
                        <a:buSzTx/>
                        <a:buFontTx/>
                        <a:buNone/>
                      </a:pPr>
                      <a:r>
                        <a:rPr lang="en-US" sz="900" b="1" i="0" u="none" strike="noStrike" cap="none" normalizeH="0" baseline="0">
                          <a:ln>
                            <a:noFill/>
                          </a:ln>
                          <a:solidFill>
                            <a:schemeClr val="tx1"/>
                          </a:solidFill>
                          <a:effectLst/>
                          <a:latin typeface="+mn-lt"/>
                          <a:ea typeface="ＭＳ Ｐゴシック"/>
                          <a:cs typeface="Arial"/>
                        </a:rPr>
                        <a:t>Current Key</a:t>
                      </a:r>
                      <a:r>
                        <a:rPr kumimoji="0" lang="en-US" sz="900" b="1" i="0" u="none" strike="noStrike" cap="none" normalizeH="0" baseline="0">
                          <a:ln>
                            <a:noFill/>
                          </a:ln>
                          <a:solidFill>
                            <a:schemeClr val="tx1"/>
                          </a:solidFill>
                          <a:effectLst/>
                          <a:latin typeface="+mn-lt"/>
                          <a:ea typeface="ＭＳ Ｐゴシック"/>
                          <a:cs typeface="Arial"/>
                        </a:rPr>
                        <a:t> Statistics </a:t>
                      </a:r>
                      <a:r>
                        <a:rPr kumimoji="0" lang="en-US" sz="800" b="0" i="1" u="none" strike="noStrike" cap="none" normalizeH="0" baseline="0">
                          <a:ln>
                            <a:noFill/>
                          </a:ln>
                          <a:solidFill>
                            <a:schemeClr val="tx1"/>
                          </a:solidFill>
                          <a:effectLst/>
                          <a:latin typeface="+mn-lt"/>
                          <a:ea typeface="ＭＳ Ｐゴシック"/>
                          <a:cs typeface="Arial"/>
                        </a:rPr>
                        <a:t>($mm)</a:t>
                      </a:r>
                      <a:endParaRPr kumimoji="0" lang="en-US" sz="900" b="0" i="1" u="none" strike="noStrike" cap="none" normalizeH="0" baseline="0">
                        <a:ln>
                          <a:noFill/>
                        </a:ln>
                        <a:solidFill>
                          <a:schemeClr val="tx1"/>
                        </a:solidFill>
                        <a:effectLst/>
                        <a:latin typeface="+mn-lt"/>
                        <a:ea typeface="ＭＳ Ｐゴシック"/>
                        <a:cs typeface="Arial"/>
                      </a:endParaRPr>
                    </a:p>
                  </a:txBody>
                  <a:tcPr marL="73152" marR="0" marT="27432" marB="27432" anchor="ctr" horzOverflow="overflow">
                    <a:lnL>
                      <a:noFill/>
                    </a:lnL>
                    <a:lnR w="635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8" name="Group 108">
            <a:extLst>
              <a:ext uri="{FF2B5EF4-FFF2-40B4-BE49-F238E27FC236}">
                <a16:creationId xmlns:a16="http://schemas.microsoft.com/office/drawing/2014/main" id="{DC561364-5D5C-4B46-B67C-4E1F5FD4BFEA}"/>
              </a:ext>
            </a:extLst>
          </p:cNvPr>
          <p:cNvGraphicFramePr>
            <a:graphicFrameLocks noGrp="1"/>
          </p:cNvGraphicFramePr>
          <p:nvPr>
            <p:extLst>
              <p:ext uri="{D42A27DB-BD31-4B8C-83A1-F6EECF244321}">
                <p14:modId xmlns:p14="http://schemas.microsoft.com/office/powerpoint/2010/main" val="705791186"/>
              </p:ext>
            </p:extLst>
          </p:nvPr>
        </p:nvGraphicFramePr>
        <p:xfrm>
          <a:off x="7624948" y="3656718"/>
          <a:ext cx="4084206" cy="1969134"/>
        </p:xfrm>
        <a:graphic>
          <a:graphicData uri="http://schemas.openxmlformats.org/drawingml/2006/table">
            <a:tbl>
              <a:tblPr/>
              <a:tblGrid>
                <a:gridCol w="2146763">
                  <a:extLst>
                    <a:ext uri="{9D8B030D-6E8A-4147-A177-3AD203B41FA5}">
                      <a16:colId xmlns:a16="http://schemas.microsoft.com/office/drawing/2014/main" val="20000"/>
                    </a:ext>
                  </a:extLst>
                </a:gridCol>
                <a:gridCol w="576042">
                  <a:extLst>
                    <a:ext uri="{9D8B030D-6E8A-4147-A177-3AD203B41FA5}">
                      <a16:colId xmlns:a16="http://schemas.microsoft.com/office/drawing/2014/main" val="20001"/>
                    </a:ext>
                  </a:extLst>
                </a:gridCol>
                <a:gridCol w="1361401">
                  <a:extLst>
                    <a:ext uri="{9D8B030D-6E8A-4147-A177-3AD203B41FA5}">
                      <a16:colId xmlns:a16="http://schemas.microsoft.com/office/drawing/2014/main" val="20002"/>
                    </a:ext>
                  </a:extLst>
                </a:gridCol>
              </a:tblGrid>
              <a:tr h="535299">
                <a:tc>
                  <a:txBody>
                    <a:bodyPr/>
                    <a:lstStyle/>
                    <a:p>
                      <a:pPr marL="0" marR="0" lvl="0" indent="0" algn="ctr" rtl="0" eaLnBrk="1" fontAlgn="base" latinLnBrk="0" hangingPunct="1">
                        <a:lnSpc>
                          <a:spcPct val="100000"/>
                        </a:lnSpc>
                        <a:spcBef>
                          <a:spcPct val="0"/>
                        </a:spcBef>
                        <a:spcAft>
                          <a:spcPct val="0"/>
                        </a:spcAft>
                        <a:buClrTx/>
                        <a:buSzTx/>
                        <a:buFontTx/>
                        <a:buNone/>
                      </a:pPr>
                      <a:r>
                        <a:rPr lang="en-AU" sz="1000" b="1" i="0" u="none" strike="noStrike" cap="none" normalizeH="0" baseline="0">
                          <a:ln>
                            <a:noFill/>
                          </a:ln>
                          <a:solidFill>
                            <a:schemeClr val="bg1"/>
                          </a:solidFill>
                          <a:effectLst/>
                          <a:latin typeface="+mn-lt"/>
                          <a:ea typeface="ＭＳ Ｐゴシック"/>
                          <a:cs typeface="Arial"/>
                        </a:rPr>
                        <a:t>Segment Revenue</a:t>
                      </a:r>
                      <a:r>
                        <a:rPr kumimoji="0" lang="en-AU" sz="1000" b="1" i="0" u="none" strike="noStrike" cap="none" normalizeH="0" baseline="0">
                          <a:ln>
                            <a:noFill/>
                          </a:ln>
                          <a:solidFill>
                            <a:schemeClr val="bg1"/>
                          </a:solidFill>
                          <a:effectLst/>
                          <a:latin typeface="+mn-lt"/>
                          <a:ea typeface="ＭＳ Ｐゴシック"/>
                          <a:cs typeface="Arial"/>
                        </a:rPr>
                        <a:t> Mix</a:t>
                      </a:r>
                      <a:endParaRPr kumimoji="0" lang="en-US" sz="1000" b="1" i="0" u="none" strike="noStrike" cap="none" normalizeH="0" baseline="0">
                        <a:ln>
                          <a:noFill/>
                        </a:ln>
                        <a:solidFill>
                          <a:schemeClr val="bg1"/>
                        </a:solidFill>
                        <a:effectLst/>
                        <a:latin typeface="+mn-lt"/>
                        <a:ea typeface="ＭＳ Ｐゴシック"/>
                        <a:cs typeface="Arial"/>
                      </a:endParaRPr>
                    </a:p>
                  </a:txBody>
                  <a:tcPr marL="45720" marR="45720" marT="36576" marB="36576" anchor="ctr" horzOverflow="overflow">
                    <a:lnL>
                      <a:noFill/>
                    </a:lnL>
                    <a:lnR w="12700" cap="flat" cmpd="sng" algn="ctr">
                      <a:noFill/>
                      <a:prstDash val="solid"/>
                      <a:round/>
                      <a:headEnd type="none" w="med" len="med"/>
                      <a:tailEnd type="none" w="med" len="med"/>
                    </a:lnR>
                    <a:lnT>
                      <a:noFill/>
                    </a:lnT>
                    <a:lnB w="19050" cap="flat" cmpd="sng" algn="ctr">
                      <a:noFill/>
                      <a:prstDash val="solid"/>
                      <a:round/>
                      <a:headEnd type="none" w="med" len="med"/>
                      <a:tailEnd type="none" w="med" len="med"/>
                    </a:lnB>
                    <a:lnTlToBr>
                      <a:noFill/>
                    </a:lnTlToBr>
                    <a:lnBlToTr>
                      <a:noFill/>
                    </a:lnBlToTr>
                    <a:solidFill>
                      <a:srgbClr val="50260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sz="1000" b="1" i="0" u="none" strike="noStrike" cap="none" normalizeH="0" baseline="0">
                          <a:ln>
                            <a:noFill/>
                          </a:ln>
                          <a:solidFill>
                            <a:schemeClr val="bg1"/>
                          </a:solidFill>
                          <a:effectLst/>
                          <a:latin typeface="+mn-lt"/>
                          <a:ea typeface="ＭＳ Ｐゴシック"/>
                          <a:cs typeface="Arial"/>
                        </a:rPr>
                        <a:t>%</a:t>
                      </a:r>
                      <a:endParaRPr kumimoji="0" lang="en-US" sz="1200" b="1" i="0" u="none" strike="noStrike" cap="none" normalizeH="0" baseline="0">
                        <a:ln>
                          <a:noFill/>
                        </a:ln>
                        <a:solidFill>
                          <a:schemeClr val="bg1"/>
                        </a:solidFill>
                        <a:effectLst/>
                        <a:latin typeface="+mn-lt"/>
                        <a:ea typeface="ＭＳ Ｐゴシック"/>
                        <a:cs typeface="Arial"/>
                      </a:endParaRPr>
                    </a:p>
                  </a:txBody>
                  <a:tcPr marL="45720" marR="45720" marT="36576" marB="36576" anchor="ctr" horzOverflow="overflow">
                    <a:lnL w="127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19050" cap="flat" cmpd="sng" algn="ctr">
                      <a:noFill/>
                      <a:prstDash val="solid"/>
                      <a:round/>
                      <a:headEnd type="none" w="med" len="med"/>
                      <a:tailEnd type="none" w="med" len="med"/>
                    </a:lnB>
                    <a:lnTlToBr>
                      <a:noFill/>
                    </a:lnTlToBr>
                    <a:lnBlToTr>
                      <a:noFill/>
                    </a:lnBlToTr>
                    <a:solidFill>
                      <a:srgbClr val="50260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1" i="0" u="none" strike="noStrike" cap="none" normalizeH="0" baseline="0">
                          <a:ln>
                            <a:noFill/>
                          </a:ln>
                          <a:solidFill>
                            <a:schemeClr val="bg1"/>
                          </a:solidFill>
                          <a:effectLst/>
                          <a:latin typeface="+mn-lt"/>
                          <a:ea typeface="ＭＳ Ｐゴシック"/>
                          <a:cs typeface="Arial"/>
                        </a:rPr>
                        <a:t>Gross </a:t>
                      </a:r>
                      <a:r>
                        <a:rPr kumimoji="0" lang="en-US" sz="800" b="0" i="1" u="none" strike="noStrike" cap="none" normalizeH="0" baseline="0">
                          <a:ln>
                            <a:noFill/>
                          </a:ln>
                          <a:solidFill>
                            <a:schemeClr val="bg1"/>
                          </a:solidFill>
                          <a:effectLst/>
                          <a:latin typeface="+mn-lt"/>
                          <a:ea typeface="ＭＳ Ｐゴシック"/>
                          <a:cs typeface="Arial"/>
                        </a:rPr>
                        <a:t>($mm)</a:t>
                      </a:r>
                      <a:endParaRPr kumimoji="0" lang="en-US" sz="1000" b="0" i="1" u="none" strike="noStrike" cap="none" normalizeH="0" baseline="0">
                        <a:ln>
                          <a:noFill/>
                        </a:ln>
                        <a:solidFill>
                          <a:schemeClr val="bg1"/>
                        </a:solidFill>
                        <a:effectLst/>
                        <a:latin typeface="+mn-lt"/>
                        <a:ea typeface="ＭＳ Ｐゴシック"/>
                        <a:cs typeface="Arial"/>
                      </a:endParaRPr>
                    </a:p>
                  </a:txBody>
                  <a:tcPr marL="45720" marR="45720" marT="36576" marB="36576" anchor="ctr" horzOverflow="overflow">
                    <a:lnL w="127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19050" cap="flat" cmpd="sng" algn="ctr">
                      <a:noFill/>
                      <a:prstDash val="solid"/>
                      <a:round/>
                      <a:headEnd type="none" w="med" len="med"/>
                      <a:tailEnd type="none" w="med" len="med"/>
                    </a:lnB>
                    <a:lnTlToBr>
                      <a:noFill/>
                    </a:lnTlToBr>
                    <a:lnBlToTr>
                      <a:noFill/>
                    </a:lnBlToTr>
                    <a:solidFill>
                      <a:srgbClr val="502604"/>
                    </a:solidFill>
                  </a:tcPr>
                </a:tc>
                <a:extLst>
                  <a:ext uri="{0D108BD9-81ED-4DB2-BD59-A6C34878D82A}">
                    <a16:rowId xmlns:a16="http://schemas.microsoft.com/office/drawing/2014/main" val="10000"/>
                  </a:ext>
                </a:extLst>
              </a:tr>
              <a:tr h="477945">
                <a:tc>
                  <a:txBody>
                    <a:bodyPr/>
                    <a:lstStyle/>
                    <a:p>
                      <a:pPr marL="0" marR="0" lvl="0" indent="0" algn="ctr" rtl="0" eaLnBrk="1" fontAlgn="base" latinLnBrk="0" hangingPunct="1">
                        <a:lnSpc>
                          <a:spcPct val="100000"/>
                        </a:lnSpc>
                        <a:spcBef>
                          <a:spcPct val="0"/>
                        </a:spcBef>
                        <a:spcAft>
                          <a:spcPct val="0"/>
                        </a:spcAft>
                        <a:buClrTx/>
                        <a:buSzTx/>
                        <a:buFontTx/>
                        <a:buNone/>
                      </a:pPr>
                      <a:r>
                        <a:rPr lang="en-US" sz="900" b="0" i="0" u="none" strike="noStrike" cap="none" normalizeH="0" baseline="0">
                          <a:ln>
                            <a:noFill/>
                          </a:ln>
                          <a:solidFill>
                            <a:schemeClr val="tx1"/>
                          </a:solidFill>
                          <a:effectLst/>
                          <a:latin typeface="+mn-lt"/>
                          <a:ea typeface="ＭＳ Ｐゴシック"/>
                          <a:cs typeface="Arial"/>
                        </a:rPr>
                        <a:t>North America Confectionary </a:t>
                      </a:r>
                      <a:endParaRPr kumimoji="0" lang="en-US" sz="900" b="0" i="0" u="none" strike="noStrike" cap="none" normalizeH="0" baseline="0">
                        <a:ln>
                          <a:noFill/>
                        </a:ln>
                        <a:solidFill>
                          <a:schemeClr val="tx1"/>
                        </a:solidFill>
                        <a:effectLst/>
                        <a:latin typeface="+mn-lt"/>
                        <a:ea typeface="ＭＳ Ｐゴシック"/>
                        <a:cs typeface="Arial"/>
                      </a:endParaRPr>
                    </a:p>
                  </a:txBody>
                  <a:tcPr marL="45720" marR="45720" marT="18288" marB="18288" anchor="ctr" horzOverflow="overflow">
                    <a:lnL>
                      <a:noFill/>
                    </a:lnL>
                    <a:lnR w="381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sz="900" b="0" i="0" u="none" strike="noStrike" cap="none" normalizeH="0" baseline="0">
                          <a:ln>
                            <a:noFill/>
                          </a:ln>
                          <a:solidFill>
                            <a:schemeClr val="tx1"/>
                          </a:solidFill>
                          <a:effectLst/>
                          <a:latin typeface="+mn-lt"/>
                          <a:ea typeface="ＭＳ Ｐゴシック"/>
                          <a:cs typeface="Arial"/>
                        </a:rPr>
                        <a:t>81.71%</a:t>
                      </a:r>
                      <a:endParaRPr kumimoji="0" lang="en-US" sz="900" b="0" i="0" u="none" strike="noStrike" cap="none" normalizeH="0" baseline="0">
                        <a:ln>
                          <a:noFill/>
                        </a:ln>
                        <a:solidFill>
                          <a:schemeClr val="tx1"/>
                        </a:solidFill>
                        <a:effectLst/>
                        <a:latin typeface="+mn-lt"/>
                        <a:ea typeface="ＭＳ Ｐゴシック"/>
                        <a:cs typeface="Arial"/>
                      </a:endParaRPr>
                    </a:p>
                  </a:txBody>
                  <a:tcPr marL="45720" marR="45720" marT="18288" marB="18288"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sz="900" b="0" i="0" u="none" strike="noStrike" cap="none" normalizeH="0" baseline="0">
                          <a:ln>
                            <a:noFill/>
                          </a:ln>
                          <a:solidFill>
                            <a:schemeClr val="tx1"/>
                          </a:solidFill>
                          <a:effectLst/>
                          <a:latin typeface="+mn-lt"/>
                          <a:ea typeface="ＭＳ Ｐゴシック"/>
                          <a:cs typeface="Arial"/>
                        </a:rPr>
                        <a:t>9123.1</a:t>
                      </a:r>
                      <a:endParaRPr kumimoji="0" lang="en-US" sz="900" b="0" i="0" u="none" strike="noStrike" cap="none" normalizeH="0" baseline="0">
                        <a:ln>
                          <a:noFill/>
                        </a:ln>
                        <a:solidFill>
                          <a:schemeClr val="tx1"/>
                        </a:solidFill>
                        <a:effectLst/>
                        <a:latin typeface="+mn-lt"/>
                        <a:ea typeface="ＭＳ Ｐゴシック"/>
                        <a:cs typeface="Arial"/>
                      </a:endParaRPr>
                    </a:p>
                  </a:txBody>
                  <a:tcPr marL="45720" marR="45720" marT="18288" marB="18288"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7945">
                <a:tc>
                  <a:txBody>
                    <a:bodyPr/>
                    <a:lstStyle/>
                    <a:p>
                      <a:pPr marL="0" marR="0" lvl="0" indent="0" algn="ctr" rtl="0" eaLnBrk="1" fontAlgn="base" latinLnBrk="0" hangingPunct="1">
                        <a:lnSpc>
                          <a:spcPct val="100000"/>
                        </a:lnSpc>
                        <a:spcBef>
                          <a:spcPct val="0"/>
                        </a:spcBef>
                        <a:spcAft>
                          <a:spcPct val="0"/>
                        </a:spcAft>
                        <a:buClrTx/>
                        <a:buSzTx/>
                        <a:buFontTx/>
                        <a:buNone/>
                      </a:pPr>
                      <a:r>
                        <a:rPr lang="en-US" sz="900" b="0" i="0" u="none" strike="noStrike" cap="none" normalizeH="0" baseline="0">
                          <a:ln>
                            <a:noFill/>
                          </a:ln>
                          <a:solidFill>
                            <a:schemeClr val="tx1"/>
                          </a:solidFill>
                          <a:effectLst/>
                          <a:latin typeface="+mn-lt"/>
                          <a:ea typeface="ＭＳ Ｐゴシック"/>
                          <a:cs typeface="Arial"/>
                        </a:rPr>
                        <a:t>Salty Snacks</a:t>
                      </a:r>
                      <a:endParaRPr kumimoji="0" lang="en-US" sz="900" b="0" i="0" u="none" strike="noStrike" cap="none" normalizeH="0" baseline="0">
                        <a:ln>
                          <a:noFill/>
                        </a:ln>
                        <a:solidFill>
                          <a:schemeClr val="tx1"/>
                        </a:solidFill>
                        <a:effectLst/>
                        <a:latin typeface="+mn-lt"/>
                        <a:ea typeface="ＭＳ Ｐゴシック"/>
                        <a:cs typeface="Arial"/>
                      </a:endParaRPr>
                    </a:p>
                  </a:txBody>
                  <a:tcPr marL="45720" marR="45720" marT="18288" marB="18288" anchor="ctr" horzOverflow="overflow">
                    <a:lnL>
                      <a:noFill/>
                    </a:lnL>
                    <a:lnR w="381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sz="900" b="0" i="0" u="none" strike="noStrike" cap="none" normalizeH="0" baseline="0">
                          <a:ln>
                            <a:noFill/>
                          </a:ln>
                          <a:solidFill>
                            <a:schemeClr val="tx1"/>
                          </a:solidFill>
                          <a:effectLst/>
                          <a:latin typeface="+mn-lt"/>
                          <a:ea typeface="ＭＳ Ｐゴシック"/>
                          <a:cs typeface="Arial"/>
                        </a:rPr>
                        <a:t>9.79%</a:t>
                      </a:r>
                      <a:endParaRPr kumimoji="0" lang="en-US" sz="900" b="0" i="0" u="none" strike="noStrike" cap="none" normalizeH="0" baseline="0">
                        <a:ln>
                          <a:noFill/>
                        </a:ln>
                        <a:solidFill>
                          <a:schemeClr val="tx1"/>
                        </a:solidFill>
                        <a:effectLst/>
                        <a:latin typeface="+mn-lt"/>
                        <a:ea typeface="ＭＳ Ｐゴシック"/>
                        <a:cs typeface="Arial"/>
                      </a:endParaRPr>
                    </a:p>
                  </a:txBody>
                  <a:tcPr marL="45720" marR="45720" marT="18288" marB="18288" anchor="ctr" horzOverflow="overflow">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sz="900" b="0" i="0" u="none" strike="noStrike" cap="none" normalizeH="0" baseline="0">
                          <a:ln>
                            <a:noFill/>
                          </a:ln>
                          <a:solidFill>
                            <a:schemeClr val="tx1"/>
                          </a:solidFill>
                          <a:effectLst/>
                          <a:latin typeface="+mn-lt"/>
                          <a:ea typeface="ＭＳ Ｐゴシック"/>
                          <a:cs typeface="Arial"/>
                        </a:rPr>
                        <a:t>1092.7</a:t>
                      </a:r>
                      <a:endParaRPr kumimoji="0" lang="en-US" sz="900" b="0" i="0" u="none" strike="noStrike" cap="none" normalizeH="0" baseline="0">
                        <a:ln>
                          <a:noFill/>
                        </a:ln>
                        <a:solidFill>
                          <a:schemeClr val="tx1"/>
                        </a:solidFill>
                        <a:effectLst/>
                        <a:latin typeface="+mn-lt"/>
                        <a:ea typeface="ＭＳ Ｐゴシック"/>
                        <a:cs typeface="Arial"/>
                      </a:endParaRPr>
                    </a:p>
                  </a:txBody>
                  <a:tcPr marL="45720" marR="45720" marT="18288" marB="18288" anchor="ctr" horzOverflow="overflow">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7945">
                <a:tc>
                  <a:txBody>
                    <a:bodyPr/>
                    <a:lstStyle/>
                    <a:p>
                      <a:pPr marL="0" marR="0" lvl="0" indent="0" algn="ctr" rtl="0" eaLnBrk="1" fontAlgn="base" latinLnBrk="0" hangingPunct="1">
                        <a:lnSpc>
                          <a:spcPct val="100000"/>
                        </a:lnSpc>
                        <a:spcBef>
                          <a:spcPct val="0"/>
                        </a:spcBef>
                        <a:spcAft>
                          <a:spcPct val="0"/>
                        </a:spcAft>
                        <a:buClrTx/>
                        <a:buSzTx/>
                        <a:buFontTx/>
                        <a:buNone/>
                      </a:pPr>
                      <a:r>
                        <a:rPr lang="en-US" sz="900" b="0" i="0" u="none" strike="noStrike" cap="none" normalizeH="0" baseline="0">
                          <a:ln>
                            <a:noFill/>
                          </a:ln>
                          <a:solidFill>
                            <a:schemeClr val="tx1"/>
                          </a:solidFill>
                          <a:effectLst/>
                          <a:latin typeface="+mn-lt"/>
                          <a:ea typeface="ＭＳ Ｐゴシック"/>
                          <a:cs typeface="Arial"/>
                        </a:rPr>
                        <a:t>International </a:t>
                      </a:r>
                      <a:endParaRPr kumimoji="0" lang="en-US" sz="900" b="0" i="0" u="none" strike="noStrike" cap="none" normalizeH="0" baseline="0">
                        <a:ln>
                          <a:noFill/>
                        </a:ln>
                        <a:solidFill>
                          <a:schemeClr val="tx1"/>
                        </a:solidFill>
                        <a:effectLst/>
                        <a:latin typeface="+mn-lt"/>
                        <a:ea typeface="ＭＳ Ｐゴシック"/>
                        <a:cs typeface="Arial"/>
                      </a:endParaRPr>
                    </a:p>
                  </a:txBody>
                  <a:tcPr marL="45720" marR="45720" marT="18288" marB="18288" anchor="ctr" horzOverflow="overflow">
                    <a:lnL>
                      <a:noFill/>
                    </a:lnL>
                    <a:lnR w="381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sz="900" b="0" i="0" u="none" strike="noStrike" cap="none" normalizeH="0" baseline="0">
                          <a:ln>
                            <a:noFill/>
                          </a:ln>
                          <a:solidFill>
                            <a:schemeClr val="tx1"/>
                          </a:solidFill>
                          <a:effectLst/>
                          <a:latin typeface="+mn-lt"/>
                          <a:ea typeface="ＭＳ Ｐゴシック"/>
                          <a:cs typeface="Arial"/>
                        </a:rPr>
                        <a:t>8.5%</a:t>
                      </a:r>
                      <a:endParaRPr kumimoji="0" lang="en-US" sz="900" b="0" i="0" u="none" strike="noStrike" cap="none" normalizeH="0" baseline="0">
                        <a:ln>
                          <a:noFill/>
                        </a:ln>
                        <a:solidFill>
                          <a:schemeClr val="tx1"/>
                        </a:solidFill>
                        <a:effectLst/>
                        <a:latin typeface="+mn-lt"/>
                        <a:ea typeface="ＭＳ Ｐゴシック"/>
                        <a:cs typeface="Arial"/>
                      </a:endParaRPr>
                    </a:p>
                  </a:txBody>
                  <a:tcPr marL="45720" marR="45720" marT="18288" marB="18288" anchor="ctr" horzOverflow="overflow">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sz="900" b="0" i="0" u="none" strike="noStrike" cap="none" normalizeH="0" baseline="0">
                          <a:ln>
                            <a:noFill/>
                          </a:ln>
                          <a:solidFill>
                            <a:schemeClr val="tx1"/>
                          </a:solidFill>
                          <a:effectLst/>
                          <a:latin typeface="+mn-lt"/>
                          <a:ea typeface="ＭＳ Ｐゴシック"/>
                          <a:cs typeface="Arial"/>
                        </a:rPr>
                        <a:t>949.2</a:t>
                      </a:r>
                      <a:endParaRPr kumimoji="0" lang="en-US" sz="900" b="0" i="0" u="none" strike="noStrike" cap="none" normalizeH="0" baseline="0">
                        <a:ln>
                          <a:noFill/>
                        </a:ln>
                        <a:solidFill>
                          <a:schemeClr val="tx1"/>
                        </a:solidFill>
                        <a:effectLst/>
                        <a:latin typeface="+mn-lt"/>
                        <a:ea typeface="ＭＳ Ｐゴシック"/>
                        <a:cs typeface="Arial"/>
                      </a:endParaRPr>
                    </a:p>
                  </a:txBody>
                  <a:tcPr marL="45720" marR="45720" marT="18288" marB="18288" anchor="ctr" horzOverflow="overflow">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9" name="TextBox 8">
            <a:extLst>
              <a:ext uri="{FF2B5EF4-FFF2-40B4-BE49-F238E27FC236}">
                <a16:creationId xmlns:a16="http://schemas.microsoft.com/office/drawing/2014/main" id="{F8980B10-F695-4C4F-A4E8-325115357B4B}"/>
              </a:ext>
            </a:extLst>
          </p:cNvPr>
          <p:cNvSpPr txBox="1"/>
          <p:nvPr/>
        </p:nvSpPr>
        <p:spPr>
          <a:xfrm>
            <a:off x="7615998" y="2875085"/>
            <a:ext cx="3186873" cy="215444"/>
          </a:xfrm>
          <a:prstGeom prst="rect">
            <a:avLst/>
          </a:prstGeom>
          <a:noFill/>
        </p:spPr>
        <p:txBody>
          <a:bodyPr wrap="square" lIns="91440" tIns="45720" rIns="91440" bIns="45720" rtlCol="0" anchor="t">
            <a:spAutoFit/>
          </a:bodyPr>
          <a:lstStyle/>
          <a:p>
            <a:pPr defTabSz="457200">
              <a:defRPr/>
            </a:pPr>
            <a:r>
              <a:rPr lang="en-US" sz="800">
                <a:solidFill>
                  <a:srgbClr val="000000"/>
                </a:solidFill>
                <a:cs typeface="Arial"/>
              </a:rPr>
              <a:t>*P/E and EV/EBITDA are based on FY23(e) for comparison</a:t>
            </a:r>
          </a:p>
        </p:txBody>
      </p:sp>
      <p:sp>
        <p:nvSpPr>
          <p:cNvPr id="25" name="TextBox 24">
            <a:extLst>
              <a:ext uri="{FF2B5EF4-FFF2-40B4-BE49-F238E27FC236}">
                <a16:creationId xmlns:a16="http://schemas.microsoft.com/office/drawing/2014/main" id="{8B3A5E5F-D93D-4671-BCB1-864CD38CF638}"/>
              </a:ext>
            </a:extLst>
          </p:cNvPr>
          <p:cNvSpPr txBox="1"/>
          <p:nvPr/>
        </p:nvSpPr>
        <p:spPr>
          <a:xfrm>
            <a:off x="608400" y="1214930"/>
            <a:ext cx="6705600" cy="261610"/>
          </a:xfrm>
          <a:prstGeom prst="rect">
            <a:avLst/>
          </a:prstGeom>
          <a:solidFill>
            <a:srgbClr val="502604"/>
          </a:solidFill>
        </p:spPr>
        <p:txBody>
          <a:bodyPr wrap="square" rtlCol="0">
            <a:spAutoFit/>
          </a:bodyPr>
          <a:lstStyle/>
          <a:p>
            <a:r>
              <a:rPr lang="en-US" altLang="zh-CN" sz="1100" b="1">
                <a:solidFill>
                  <a:schemeClr val="bg1"/>
                </a:solidFill>
              </a:rPr>
              <a:t>Company Highlights</a:t>
            </a:r>
          </a:p>
        </p:txBody>
      </p:sp>
      <p:sp>
        <p:nvSpPr>
          <p:cNvPr id="26" name="TextBox 25">
            <a:extLst>
              <a:ext uri="{FF2B5EF4-FFF2-40B4-BE49-F238E27FC236}">
                <a16:creationId xmlns:a16="http://schemas.microsoft.com/office/drawing/2014/main" id="{D1FB6334-9D4A-4532-850C-FB1CD565B717}"/>
              </a:ext>
            </a:extLst>
          </p:cNvPr>
          <p:cNvSpPr txBox="1"/>
          <p:nvPr/>
        </p:nvSpPr>
        <p:spPr>
          <a:xfrm>
            <a:off x="7614837" y="1212260"/>
            <a:ext cx="3985452" cy="261610"/>
          </a:xfrm>
          <a:prstGeom prst="rect">
            <a:avLst/>
          </a:prstGeom>
          <a:solidFill>
            <a:srgbClr val="502604"/>
          </a:solidFill>
        </p:spPr>
        <p:txBody>
          <a:bodyPr wrap="square" lIns="91440" tIns="45720" rIns="91440" bIns="45720" rtlCol="0" anchor="t">
            <a:spAutoFit/>
          </a:bodyPr>
          <a:lstStyle/>
          <a:p>
            <a:r>
              <a:rPr lang="en-US" altLang="zh-CN" sz="1100" b="1">
                <a:solidFill>
                  <a:schemeClr val="bg1"/>
                </a:solidFill>
              </a:rPr>
              <a:t> Current Share Performance </a:t>
            </a:r>
            <a:endParaRPr lang="en-US">
              <a:solidFill>
                <a:schemeClr val="bg1"/>
              </a:solidFill>
            </a:endParaRPr>
          </a:p>
        </p:txBody>
      </p:sp>
      <p:sp>
        <p:nvSpPr>
          <p:cNvPr id="32" name="TextBox 31">
            <a:extLst>
              <a:ext uri="{FF2B5EF4-FFF2-40B4-BE49-F238E27FC236}">
                <a16:creationId xmlns:a16="http://schemas.microsoft.com/office/drawing/2014/main" id="{2C76AA50-C5BC-98CA-FE2B-6F588194474C}"/>
              </a:ext>
            </a:extLst>
          </p:cNvPr>
          <p:cNvSpPr txBox="1"/>
          <p:nvPr/>
        </p:nvSpPr>
        <p:spPr>
          <a:xfrm>
            <a:off x="633259" y="1540544"/>
            <a:ext cx="6680741" cy="22929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n-US" sz="1200" u="sng">
                <a:ea typeface="Open Sans Light"/>
                <a:cs typeface="Open Sans Light"/>
              </a:rPr>
              <a:t>History</a:t>
            </a:r>
            <a:r>
              <a:rPr lang="en-US" sz="1200">
                <a:ea typeface="Open Sans Light"/>
                <a:cs typeface="Open Sans Light"/>
              </a:rPr>
              <a:t>: </a:t>
            </a:r>
            <a:r>
              <a:rPr lang="en-US" sz="1200">
                <a:ea typeface="+mn-lt"/>
                <a:cs typeface="+mn-lt"/>
              </a:rPr>
              <a:t>The Hershey Company is an American food manufacturing company founded in 1894 by Milton Hershey. It is the 4th largest distributor of Chocolate in the world with revenue of 11.165 Billion for 2023 with 81.71% of that being from the North America Confectionary Segment.</a:t>
            </a:r>
          </a:p>
          <a:p>
            <a:pPr marL="171450" indent="-171450">
              <a:buFont typeface="Arial"/>
              <a:buChar char="•"/>
            </a:pPr>
            <a:endParaRPr lang="en-US" sz="1200">
              <a:ea typeface="+mn-lt"/>
              <a:cs typeface="+mn-lt"/>
            </a:endParaRPr>
          </a:p>
          <a:p>
            <a:pPr marL="171450" indent="-171450">
              <a:buFont typeface="Arial"/>
              <a:buChar char="•"/>
            </a:pPr>
            <a:r>
              <a:rPr lang="en-US" sz="1200" u="sng">
                <a:ea typeface="Open Sans Light"/>
                <a:cs typeface="Open Sans Light"/>
              </a:rPr>
              <a:t>Ownership</a:t>
            </a:r>
            <a:r>
              <a:rPr lang="en-US" sz="1200">
                <a:ea typeface="Open Sans Light"/>
                <a:cs typeface="Open Sans Light"/>
              </a:rPr>
              <a:t>: 2.71% (Insiders), 19.83% (Mutual Funds) , 23.63% (Other Financial Institutions), 53.83% (Public Companies and individual investors).</a:t>
            </a:r>
          </a:p>
          <a:p>
            <a:pPr marL="171450" indent="-171450">
              <a:buFont typeface="Arial"/>
              <a:buChar char="•"/>
            </a:pPr>
            <a:endParaRPr lang="en-US" sz="1200">
              <a:ea typeface="Open Sans Light"/>
              <a:cs typeface="Open Sans Light"/>
            </a:endParaRPr>
          </a:p>
          <a:p>
            <a:pPr marL="171450" indent="-171450">
              <a:buFont typeface="Arial"/>
              <a:buChar char="•"/>
            </a:pPr>
            <a:r>
              <a:rPr lang="en-US" sz="1200" u="sng">
                <a:ea typeface="Open Sans Light"/>
                <a:cs typeface="Open Sans Light"/>
              </a:rPr>
              <a:t>Current Major Investors</a:t>
            </a:r>
            <a:r>
              <a:rPr lang="en-US" sz="1200">
                <a:ea typeface="Open Sans Light"/>
                <a:cs typeface="Open Sans Light"/>
              </a:rPr>
              <a:t>: Elo Mutual Pension Insurance Company, Hershey Trust Company, </a:t>
            </a:r>
            <a:r>
              <a:rPr lang="en-US" sz="1200" err="1">
                <a:ea typeface="+mn-lt"/>
                <a:cs typeface="+mn-lt"/>
              </a:rPr>
              <a:t>Keskinäinen</a:t>
            </a:r>
            <a:r>
              <a:rPr lang="en-US" sz="1200">
                <a:ea typeface="+mn-lt"/>
                <a:cs typeface="+mn-lt"/>
              </a:rPr>
              <a:t> </a:t>
            </a:r>
            <a:r>
              <a:rPr lang="en-US" sz="1200" err="1">
                <a:ea typeface="+mn-lt"/>
                <a:cs typeface="+mn-lt"/>
              </a:rPr>
              <a:t>Eläkevakuutusyhtiö</a:t>
            </a:r>
            <a:r>
              <a:rPr lang="en-US" sz="1200">
                <a:ea typeface="+mn-lt"/>
                <a:cs typeface="+mn-lt"/>
              </a:rPr>
              <a:t> Ilmarinen, Milton Hershey School Trust,     </a:t>
            </a:r>
            <a:r>
              <a:rPr lang="en-US" sz="1200" err="1">
                <a:ea typeface="+mn-lt"/>
                <a:cs typeface="+mn-lt"/>
              </a:rPr>
              <a:t>Keskinäinen</a:t>
            </a:r>
            <a:r>
              <a:rPr lang="en-US" sz="1200">
                <a:ea typeface="+mn-lt"/>
                <a:cs typeface="+mn-lt"/>
              </a:rPr>
              <a:t> </a:t>
            </a:r>
            <a:r>
              <a:rPr lang="en-US" sz="1200" err="1">
                <a:ea typeface="+mn-lt"/>
                <a:cs typeface="+mn-lt"/>
              </a:rPr>
              <a:t>työeläkevakuutusyhtiö</a:t>
            </a:r>
            <a:r>
              <a:rPr lang="en-US" sz="1200">
                <a:ea typeface="+mn-lt"/>
                <a:cs typeface="+mn-lt"/>
              </a:rPr>
              <a:t> Varma, T. Rowe Price Associates, Inc..</a:t>
            </a:r>
            <a:endParaRPr lang="en-US" sz="1200">
              <a:solidFill>
                <a:srgbClr val="000000"/>
              </a:solidFill>
              <a:latin typeface="Open Sans Light"/>
              <a:ea typeface="Open Sans Light"/>
              <a:cs typeface="Open Sans Light"/>
            </a:endParaRPr>
          </a:p>
          <a:p>
            <a:pPr marL="171450" indent="-171450">
              <a:buFont typeface="Arial"/>
              <a:buChar char="•"/>
            </a:pPr>
            <a:endParaRPr lang="en-US" sz="1100">
              <a:ea typeface="Open Sans Light"/>
              <a:cs typeface="Open Sans Light"/>
            </a:endParaRPr>
          </a:p>
        </p:txBody>
      </p:sp>
      <p:graphicFrame>
        <p:nvGraphicFramePr>
          <p:cNvPr id="30" name="Group 108">
            <a:extLst>
              <a:ext uri="{FF2B5EF4-FFF2-40B4-BE49-F238E27FC236}">
                <a16:creationId xmlns:a16="http://schemas.microsoft.com/office/drawing/2014/main" id="{EF23B46E-024D-7F6A-42BA-798892535322}"/>
              </a:ext>
            </a:extLst>
          </p:cNvPr>
          <p:cNvGraphicFramePr>
            <a:graphicFrameLocks noGrp="1"/>
          </p:cNvGraphicFramePr>
          <p:nvPr>
            <p:extLst>
              <p:ext uri="{D42A27DB-BD31-4B8C-83A1-F6EECF244321}">
                <p14:modId xmlns:p14="http://schemas.microsoft.com/office/powerpoint/2010/main" val="1000168190"/>
              </p:ext>
            </p:extLst>
          </p:nvPr>
        </p:nvGraphicFramePr>
        <p:xfrm>
          <a:off x="751561" y="3663863"/>
          <a:ext cx="6591279" cy="2257165"/>
        </p:xfrm>
        <a:graphic>
          <a:graphicData uri="http://schemas.openxmlformats.org/drawingml/2006/table">
            <a:tbl>
              <a:tblPr/>
              <a:tblGrid>
                <a:gridCol w="5196817">
                  <a:extLst>
                    <a:ext uri="{9D8B030D-6E8A-4147-A177-3AD203B41FA5}">
                      <a16:colId xmlns:a16="http://schemas.microsoft.com/office/drawing/2014/main" val="20000"/>
                    </a:ext>
                  </a:extLst>
                </a:gridCol>
                <a:gridCol w="1394462">
                  <a:extLst>
                    <a:ext uri="{9D8B030D-6E8A-4147-A177-3AD203B41FA5}">
                      <a16:colId xmlns:a16="http://schemas.microsoft.com/office/drawing/2014/main" val="20001"/>
                    </a:ext>
                  </a:extLst>
                </a:gridCol>
              </a:tblGrid>
              <a:tr h="344465">
                <a:tc>
                  <a:txBody>
                    <a:bodyPr/>
                    <a:lstStyle/>
                    <a:p>
                      <a:pPr marL="0" marR="0" lvl="0" indent="0" algn="ctr" rtl="0" eaLnBrk="1" fontAlgn="base" latinLnBrk="0" hangingPunct="1">
                        <a:lnSpc>
                          <a:spcPct val="100000"/>
                        </a:lnSpc>
                        <a:spcBef>
                          <a:spcPct val="0"/>
                        </a:spcBef>
                        <a:spcAft>
                          <a:spcPct val="0"/>
                        </a:spcAft>
                        <a:buClrTx/>
                        <a:buSzTx/>
                        <a:buFontTx/>
                        <a:buNone/>
                      </a:pPr>
                      <a:r>
                        <a:rPr lang="en-AU" sz="1000" b="1" i="0" u="none" strike="noStrike" cap="none" normalizeH="0" baseline="0">
                          <a:ln>
                            <a:noFill/>
                          </a:ln>
                          <a:solidFill>
                            <a:schemeClr val="bg1"/>
                          </a:solidFill>
                          <a:effectLst/>
                          <a:latin typeface="+mn-lt"/>
                          <a:ea typeface="ＭＳ Ｐゴシック"/>
                          <a:cs typeface="Arial"/>
                        </a:rPr>
                        <a:t>Key Stats (2023)</a:t>
                      </a:r>
                      <a:endParaRPr kumimoji="0" lang="en-US" sz="1000" b="1" i="0" u="none" strike="noStrike" cap="none" normalizeH="0" baseline="0">
                        <a:ln>
                          <a:noFill/>
                        </a:ln>
                        <a:solidFill>
                          <a:schemeClr val="bg1"/>
                        </a:solidFill>
                        <a:effectLst/>
                        <a:latin typeface="+mn-lt"/>
                        <a:ea typeface="ＭＳ Ｐゴシック" pitchFamily="34" charset="-128"/>
                        <a:cs typeface="Arial" charset="0"/>
                      </a:endParaRPr>
                    </a:p>
                  </a:txBody>
                  <a:tcPr marL="45720" marR="45720" marT="36576" marB="36576" anchor="ctr" horzOverflow="overflow">
                    <a:lnL>
                      <a:noFill/>
                    </a:lnL>
                    <a:lnR w="12700" cap="flat" cmpd="sng" algn="ctr">
                      <a:noFill/>
                      <a:prstDash val="solid"/>
                      <a:round/>
                      <a:headEnd type="none" w="med" len="med"/>
                      <a:tailEnd type="none" w="med" len="med"/>
                    </a:lnR>
                    <a:lnT>
                      <a:noFill/>
                    </a:lnT>
                    <a:lnB w="19050" cap="flat" cmpd="sng" algn="ctr">
                      <a:noFill/>
                      <a:prstDash val="solid"/>
                      <a:round/>
                      <a:headEnd type="none" w="med" len="med"/>
                      <a:tailEnd type="none" w="med" len="med"/>
                    </a:lnB>
                    <a:lnTlToBr>
                      <a:noFill/>
                    </a:lnTlToBr>
                    <a:lnBlToTr>
                      <a:noFill/>
                    </a:lnBlToTr>
                    <a:solidFill>
                      <a:srgbClr val="50260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sz="1000" b="1" i="0" u="none" strike="noStrike" cap="none" normalizeH="0" baseline="0">
                          <a:ln>
                            <a:noFill/>
                          </a:ln>
                          <a:solidFill>
                            <a:schemeClr val="bg1"/>
                          </a:solidFill>
                          <a:effectLst/>
                          <a:latin typeface="+mn-lt"/>
                          <a:ea typeface="ＭＳ Ｐゴシック"/>
                          <a:cs typeface="Arial"/>
                        </a:rPr>
                        <a:t>Percentages</a:t>
                      </a:r>
                      <a:endParaRPr kumimoji="0" lang="en-US" sz="1000" b="1" i="0" u="none" strike="noStrike" cap="none" normalizeH="0" baseline="0">
                        <a:ln>
                          <a:noFill/>
                        </a:ln>
                        <a:solidFill>
                          <a:schemeClr val="bg1"/>
                        </a:solidFill>
                        <a:effectLst/>
                        <a:latin typeface="+mn-lt"/>
                        <a:ea typeface="ＭＳ Ｐゴシック"/>
                        <a:cs typeface="Arial"/>
                      </a:endParaRPr>
                    </a:p>
                  </a:txBody>
                  <a:tcPr marL="45720" marR="45720" marT="36576" marB="36576" anchor="ctr" horzOverflow="overflow">
                    <a:lnL w="127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19050" cap="flat" cmpd="sng" algn="ctr">
                      <a:noFill/>
                      <a:prstDash val="solid"/>
                      <a:round/>
                      <a:headEnd type="none" w="med" len="med"/>
                      <a:tailEnd type="none" w="med" len="med"/>
                    </a:lnB>
                    <a:lnTlToBr>
                      <a:noFill/>
                    </a:lnTlToBr>
                    <a:lnBlToTr>
                      <a:noFill/>
                    </a:lnBlToTr>
                    <a:solidFill>
                      <a:srgbClr val="502604"/>
                    </a:solidFill>
                  </a:tcPr>
                </a:tc>
                <a:extLst>
                  <a:ext uri="{0D108BD9-81ED-4DB2-BD59-A6C34878D82A}">
                    <a16:rowId xmlns:a16="http://schemas.microsoft.com/office/drawing/2014/main" val="10000"/>
                  </a:ext>
                </a:extLst>
              </a:tr>
              <a:tr h="382540">
                <a:tc>
                  <a:txBody>
                    <a:bodyPr/>
                    <a:lstStyle/>
                    <a:p>
                      <a:pPr marL="0" marR="0" lvl="0" indent="0" algn="ctr" rtl="0">
                        <a:lnSpc>
                          <a:spcPct val="100000"/>
                        </a:lnSpc>
                        <a:spcBef>
                          <a:spcPct val="0"/>
                        </a:spcBef>
                        <a:spcAft>
                          <a:spcPct val="0"/>
                        </a:spcAft>
                        <a:buClrTx/>
                        <a:buSzTx/>
                        <a:buFontTx/>
                        <a:buNone/>
                      </a:pPr>
                      <a:r>
                        <a:rPr lang="en-US" sz="1200" b="0" i="0" u="none" strike="noStrike" cap="none" normalizeH="0" baseline="0">
                          <a:ln>
                            <a:noFill/>
                          </a:ln>
                          <a:solidFill>
                            <a:schemeClr val="tx1"/>
                          </a:solidFill>
                          <a:effectLst/>
                          <a:latin typeface="+mn-lt"/>
                          <a:ea typeface="ＭＳ Ｐゴシック"/>
                          <a:cs typeface="Arial"/>
                        </a:rPr>
                        <a:t>Gross Margin</a:t>
                      </a:r>
                      <a:endParaRPr kumimoji="0" lang="en-US" sz="1200" b="0" i="0" u="none" strike="noStrike" cap="none" normalizeH="0" baseline="0">
                        <a:ln>
                          <a:noFill/>
                        </a:ln>
                        <a:solidFill>
                          <a:schemeClr val="tx1"/>
                        </a:solidFill>
                        <a:effectLst/>
                        <a:latin typeface="+mn-lt"/>
                        <a:ea typeface="ＭＳ Ｐゴシック"/>
                        <a:cs typeface="Arial"/>
                      </a:endParaRPr>
                    </a:p>
                  </a:txBody>
                  <a:tcPr marL="45720" marR="45720" marT="18288" marB="18288" anchor="ctr">
                    <a:lnL w="0">
                      <a:noFill/>
                    </a:lnL>
                    <a:lnR w="38099">
                      <a:solidFill>
                        <a:schemeClr val="bg1"/>
                      </a:solidFill>
                    </a:lnR>
                    <a:lnT w="0">
                      <a:noFill/>
                    </a:lnT>
                    <a:lnB w="0">
                      <a:noFill/>
                    </a:lnB>
                    <a:lnTlToBr w="0">
                      <a:noFill/>
                    </a:lnTlToBr>
                    <a:lnBlToTr w="0">
                      <a:noFill/>
                    </a:lnBlToTr>
                    <a:noFill/>
                  </a:tcPr>
                </a:tc>
                <a:tc>
                  <a:txBody>
                    <a:bodyPr/>
                    <a:lstStyle/>
                    <a:p>
                      <a:pPr marL="0" marR="0" lvl="0" indent="0" algn="ctr" defTabSz="914400" rtl="0">
                        <a:lnSpc>
                          <a:spcPct val="100000"/>
                        </a:lnSpc>
                        <a:spcBef>
                          <a:spcPct val="0"/>
                        </a:spcBef>
                        <a:spcAft>
                          <a:spcPct val="0"/>
                        </a:spcAft>
                        <a:buClrTx/>
                        <a:buSzTx/>
                        <a:buFontTx/>
                        <a:buNone/>
                        <a:tabLst/>
                      </a:pPr>
                      <a:r>
                        <a:rPr lang="en-US" sz="900" b="0" i="0" u="none" strike="noStrike" cap="none" normalizeH="0" baseline="0">
                          <a:ln>
                            <a:noFill/>
                          </a:ln>
                          <a:solidFill>
                            <a:schemeClr val="tx1"/>
                          </a:solidFill>
                          <a:effectLst/>
                          <a:latin typeface="+mn-lt"/>
                          <a:ea typeface="ＭＳ Ｐゴシック"/>
                          <a:cs typeface="Arial"/>
                        </a:rPr>
                        <a:t>44.8%</a:t>
                      </a:r>
                      <a:endParaRPr kumimoji="0" lang="en-US" sz="900" b="0" i="0" u="none" strike="noStrike" cap="none" normalizeH="0" baseline="0">
                        <a:ln>
                          <a:noFill/>
                        </a:ln>
                        <a:solidFill>
                          <a:schemeClr val="tx1"/>
                        </a:solidFill>
                        <a:effectLst/>
                        <a:latin typeface="+mn-lt"/>
                        <a:ea typeface="ＭＳ Ｐゴシック"/>
                        <a:cs typeface="Arial"/>
                      </a:endParaRPr>
                    </a:p>
                  </a:txBody>
                  <a:tcPr marL="45720" marR="45720" marT="18288" marB="18288" anchor="ctr">
                    <a:lnL w="38099" cap="flat" cmpd="sng" algn="ctr">
                      <a:solidFill>
                        <a:schemeClr val="bg1"/>
                      </a:solidFill>
                      <a:prstDash val="solid"/>
                      <a:round/>
                      <a:headEnd type="none" w="med" len="med"/>
                      <a:tailEnd type="none" w="med" len="med"/>
                    </a:lnL>
                    <a:lnR w="38099">
                      <a:solidFill>
                        <a:schemeClr val="bg1"/>
                      </a:solidFill>
                    </a:lnR>
                    <a:lnT w="0">
                      <a:noFill/>
                    </a:lnT>
                    <a:lnB w="0">
                      <a:noFill/>
                    </a:lnB>
                    <a:lnTlToBr w="0">
                      <a:noFill/>
                    </a:lnTlToBr>
                    <a:lnBlToTr w="0">
                      <a:noFill/>
                    </a:lnBlToTr>
                    <a:noFill/>
                  </a:tcPr>
                </a:tc>
                <a:extLst>
                  <a:ext uri="{0D108BD9-81ED-4DB2-BD59-A6C34878D82A}">
                    <a16:rowId xmlns:a16="http://schemas.microsoft.com/office/drawing/2014/main" val="10001"/>
                  </a:ext>
                </a:extLst>
              </a:tr>
              <a:tr h="382540">
                <a:tc>
                  <a:txBody>
                    <a:bodyPr/>
                    <a:lstStyle/>
                    <a:p>
                      <a:pPr marL="0" marR="0" lvl="0" indent="0" algn="ctr" rtl="0" eaLnBrk="1" fontAlgn="base" latinLnBrk="0" hangingPunct="1">
                        <a:lnSpc>
                          <a:spcPct val="100000"/>
                        </a:lnSpc>
                        <a:spcBef>
                          <a:spcPct val="0"/>
                        </a:spcBef>
                        <a:spcAft>
                          <a:spcPct val="0"/>
                        </a:spcAft>
                        <a:buClrTx/>
                        <a:buSzTx/>
                        <a:buFontTx/>
                        <a:buNone/>
                      </a:pPr>
                      <a:r>
                        <a:rPr lang="en-US" sz="1200" b="0" i="0" u="none" strike="noStrike" cap="none" normalizeH="0" baseline="0">
                          <a:ln>
                            <a:noFill/>
                          </a:ln>
                          <a:solidFill>
                            <a:schemeClr val="tx1"/>
                          </a:solidFill>
                          <a:effectLst/>
                          <a:latin typeface="+mn-lt"/>
                          <a:ea typeface="ＭＳ Ｐゴシック"/>
                          <a:cs typeface="Arial"/>
                        </a:rPr>
                        <a:t>EBITDA Margin</a:t>
                      </a:r>
                      <a:endParaRPr kumimoji="0" lang="en-US" sz="1200" b="0" i="0" u="none" strike="noStrike" cap="none" normalizeH="0" baseline="0">
                        <a:ln>
                          <a:noFill/>
                        </a:ln>
                        <a:solidFill>
                          <a:schemeClr val="tx1"/>
                        </a:solidFill>
                        <a:effectLst/>
                        <a:latin typeface="+mn-lt"/>
                        <a:ea typeface="ＭＳ Ｐゴシック"/>
                        <a:cs typeface="Arial"/>
                      </a:endParaRPr>
                    </a:p>
                  </a:txBody>
                  <a:tcPr marL="45720" marR="45720" marT="18288" marB="18288" anchor="ctr" horzOverflow="overflow">
                    <a:lnL>
                      <a:noFill/>
                    </a:lnL>
                    <a:lnR w="381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sz="900" b="0" i="0" u="none" strike="noStrike" cap="none" normalizeH="0" baseline="0">
                          <a:ln>
                            <a:noFill/>
                          </a:ln>
                          <a:solidFill>
                            <a:schemeClr val="tx1"/>
                          </a:solidFill>
                          <a:effectLst/>
                          <a:latin typeface="+mn-lt"/>
                          <a:ea typeface="ＭＳ Ｐゴシック"/>
                          <a:cs typeface="Arial"/>
                        </a:rPr>
                        <a:t>26.4%</a:t>
                      </a:r>
                      <a:endParaRPr kumimoji="0" lang="en-US" sz="900" b="0" i="0" u="none" strike="noStrike" cap="none" normalizeH="0" baseline="0">
                        <a:ln>
                          <a:noFill/>
                        </a:ln>
                        <a:solidFill>
                          <a:schemeClr val="tx1"/>
                        </a:solidFill>
                        <a:effectLst/>
                        <a:latin typeface="+mn-lt"/>
                        <a:ea typeface="ＭＳ Ｐゴシック"/>
                        <a:cs typeface="Arial"/>
                      </a:endParaRPr>
                    </a:p>
                  </a:txBody>
                  <a:tcPr marL="45720" marR="45720" marT="18288" marB="18288" anchor="ctr" horzOverflow="overflow">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2540">
                <a:tc>
                  <a:txBody>
                    <a:bodyPr/>
                    <a:lstStyle/>
                    <a:p>
                      <a:pPr marL="0" marR="0" lvl="0" indent="0" algn="ctr" rtl="0" eaLnBrk="1" fontAlgn="base" latinLnBrk="0" hangingPunct="1">
                        <a:lnSpc>
                          <a:spcPct val="100000"/>
                        </a:lnSpc>
                        <a:spcBef>
                          <a:spcPct val="0"/>
                        </a:spcBef>
                        <a:spcAft>
                          <a:spcPct val="0"/>
                        </a:spcAft>
                        <a:buClrTx/>
                        <a:buSzTx/>
                        <a:buFontTx/>
                        <a:buNone/>
                      </a:pPr>
                      <a:r>
                        <a:rPr lang="en-US" sz="1200" b="0" i="0" u="none" strike="noStrike" cap="none" normalizeH="0" baseline="0">
                          <a:ln>
                            <a:noFill/>
                          </a:ln>
                          <a:solidFill>
                            <a:schemeClr val="tx1"/>
                          </a:solidFill>
                          <a:effectLst/>
                          <a:latin typeface="+mn-lt"/>
                          <a:ea typeface="ＭＳ Ｐゴシック"/>
                          <a:cs typeface="Arial"/>
                        </a:rPr>
                        <a:t>D/E</a:t>
                      </a:r>
                      <a:r>
                        <a:rPr lang="en-US" sz="900" b="0" i="0" u="none" strike="noStrike" cap="none" normalizeH="0" baseline="0">
                          <a:ln>
                            <a:noFill/>
                          </a:ln>
                          <a:solidFill>
                            <a:schemeClr val="tx1"/>
                          </a:solidFill>
                          <a:effectLst/>
                          <a:latin typeface="+mn-lt"/>
                          <a:ea typeface="ＭＳ Ｐゴシック"/>
                          <a:cs typeface="Arial"/>
                        </a:rPr>
                        <a:t> </a:t>
                      </a:r>
                      <a:endParaRPr kumimoji="0" lang="en-US" sz="900" b="0" i="0" u="none" strike="noStrike" cap="none" normalizeH="0" baseline="0">
                        <a:ln>
                          <a:noFill/>
                        </a:ln>
                        <a:solidFill>
                          <a:schemeClr val="tx1"/>
                        </a:solidFill>
                        <a:effectLst/>
                        <a:latin typeface="+mn-lt"/>
                        <a:ea typeface="ＭＳ Ｐゴシック"/>
                        <a:cs typeface="Arial"/>
                      </a:endParaRPr>
                    </a:p>
                  </a:txBody>
                  <a:tcPr marL="45720" marR="45720" marT="18288" marB="18288" anchor="ctr" horzOverflow="overflow">
                    <a:lnL>
                      <a:noFill/>
                    </a:lnL>
                    <a:lnR w="38100" cap="flat" cmpd="sng" algn="ctr">
                      <a:no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sz="900" b="0" i="0" u="none" strike="noStrike" cap="none" normalizeH="0" baseline="0">
                          <a:ln>
                            <a:noFill/>
                          </a:ln>
                          <a:solidFill>
                            <a:schemeClr val="tx1"/>
                          </a:solidFill>
                          <a:effectLst/>
                          <a:latin typeface="+mn-lt"/>
                          <a:ea typeface="ＭＳ Ｐゴシック"/>
                          <a:cs typeface="Arial"/>
                        </a:rPr>
                        <a:t>125%</a:t>
                      </a:r>
                      <a:endParaRPr kumimoji="0" lang="en-US" sz="900" b="0" i="0" u="none" strike="noStrike" cap="none" normalizeH="0" baseline="0">
                        <a:ln>
                          <a:noFill/>
                        </a:ln>
                        <a:solidFill>
                          <a:schemeClr val="tx1"/>
                        </a:solidFill>
                        <a:effectLst/>
                        <a:latin typeface="+mn-lt"/>
                        <a:ea typeface="ＭＳ Ｐゴシック"/>
                        <a:cs typeface="Arial"/>
                      </a:endParaRPr>
                    </a:p>
                  </a:txBody>
                  <a:tcPr marL="45720" marR="45720" marT="18288" marB="18288" anchor="ctr" horzOverflow="overflow">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3"/>
                  </a:ext>
                </a:extLst>
              </a:tr>
              <a:tr h="382540">
                <a:tc>
                  <a:txBody>
                    <a:bodyPr/>
                    <a:lstStyle/>
                    <a:p>
                      <a:pPr marL="0" lvl="0" indent="0" algn="ctr">
                        <a:lnSpc>
                          <a:spcPct val="100000"/>
                        </a:lnSpc>
                        <a:spcBef>
                          <a:spcPct val="0"/>
                        </a:spcBef>
                        <a:spcAft>
                          <a:spcPct val="0"/>
                        </a:spcAft>
                        <a:buNone/>
                      </a:pPr>
                      <a:r>
                        <a:rPr lang="en-US" sz="1200" b="0" i="0" u="none" strike="noStrike" cap="none" normalizeH="0" baseline="0">
                          <a:ln>
                            <a:noFill/>
                          </a:ln>
                          <a:solidFill>
                            <a:schemeClr val="tx1"/>
                          </a:solidFill>
                          <a:effectLst/>
                          <a:latin typeface="+mn-lt"/>
                          <a:ea typeface="ＭＳ Ｐゴシック"/>
                          <a:cs typeface="Arial"/>
                        </a:rPr>
                        <a:t>Growth Over Prior Year (Revenue)</a:t>
                      </a:r>
                      <a:endParaRPr kumimoji="0" lang="en-US" sz="1200" b="0" i="0" u="none" strike="noStrike" cap="none" normalizeH="0" baseline="0">
                        <a:ln>
                          <a:noFill/>
                        </a:ln>
                        <a:solidFill>
                          <a:schemeClr val="tx1"/>
                        </a:solidFill>
                        <a:effectLst/>
                        <a:latin typeface="+mn-lt"/>
                        <a:ea typeface="ＭＳ Ｐゴシック"/>
                        <a:cs typeface="Arial"/>
                      </a:endParaRPr>
                    </a:p>
                  </a:txBody>
                  <a:tcPr marL="45720" marR="45720" marT="18288" marB="18288" anchor="ctr">
                    <a:lnL w="0">
                      <a:noFill/>
                    </a:lnL>
                    <a:lnR w="0">
                      <a:noFill/>
                    </a:lnR>
                    <a:lnT w="0">
                      <a:noFill/>
                    </a:lnT>
                    <a:lnB w="0">
                      <a:noFill/>
                    </a:lnB>
                    <a:lnTlToBr w="0">
                      <a:noFill/>
                    </a:lnTlToBr>
                    <a:lnBlToTr w="0">
                      <a:noFill/>
                    </a:lnBlToTr>
                    <a:noFill/>
                  </a:tcPr>
                </a:tc>
                <a:tc>
                  <a:txBody>
                    <a:bodyPr/>
                    <a:lstStyle/>
                    <a:p>
                      <a:pPr marL="0" lvl="0" indent="0" algn="ctr" defTabSz="914400">
                        <a:lnSpc>
                          <a:spcPct val="100000"/>
                        </a:lnSpc>
                        <a:spcBef>
                          <a:spcPct val="0"/>
                        </a:spcBef>
                        <a:spcAft>
                          <a:spcPct val="0"/>
                        </a:spcAft>
                        <a:buNone/>
                        <a:tabLst/>
                      </a:pPr>
                      <a:r>
                        <a:rPr lang="en-US" sz="900" b="0" i="0" u="none" strike="noStrike" cap="none" normalizeH="0" baseline="0">
                          <a:ln>
                            <a:noFill/>
                          </a:ln>
                          <a:solidFill>
                            <a:schemeClr val="tx1"/>
                          </a:solidFill>
                          <a:effectLst/>
                          <a:latin typeface="+mn-lt"/>
                          <a:ea typeface="ＭＳ Ｐゴシック"/>
                          <a:cs typeface="Arial"/>
                        </a:rPr>
                        <a:t>7.2%</a:t>
                      </a:r>
                      <a:endParaRPr kumimoji="0" lang="en-US" sz="900" b="0" i="0" u="none" strike="noStrike" cap="none" normalizeH="0" baseline="0">
                        <a:ln>
                          <a:noFill/>
                        </a:ln>
                        <a:solidFill>
                          <a:schemeClr val="tx1"/>
                        </a:solidFill>
                        <a:effectLst/>
                        <a:latin typeface="+mn-lt"/>
                        <a:ea typeface="ＭＳ Ｐゴシック"/>
                        <a:cs typeface="Arial"/>
                      </a:endParaRPr>
                    </a:p>
                  </a:txBody>
                  <a:tcPr marL="45720" marR="45720" marT="18288" marB="18288" anchor="ctr">
                    <a:lnL w="0">
                      <a:noFill/>
                    </a:lnL>
                    <a:lnR w="0">
                      <a:noFill/>
                    </a:lnR>
                    <a:lnT w="0">
                      <a:noFill/>
                    </a:lnT>
                    <a:lnB w="0">
                      <a:noFill/>
                    </a:lnB>
                    <a:lnTlToBr w="0">
                      <a:noFill/>
                    </a:lnTlToBr>
                    <a:lnBlToTr w="0">
                      <a:noFill/>
                    </a:lnBlToTr>
                    <a:noFill/>
                  </a:tcPr>
                </a:tc>
                <a:extLst>
                  <a:ext uri="{0D108BD9-81ED-4DB2-BD59-A6C34878D82A}">
                    <a16:rowId xmlns:a16="http://schemas.microsoft.com/office/drawing/2014/main" val="1909645078"/>
                  </a:ext>
                </a:extLst>
              </a:tr>
              <a:tr h="382540">
                <a:tc>
                  <a:txBody>
                    <a:bodyPr/>
                    <a:lstStyle/>
                    <a:p>
                      <a:pPr marL="0" lvl="0" indent="0" algn="ctr">
                        <a:lnSpc>
                          <a:spcPct val="100000"/>
                        </a:lnSpc>
                        <a:spcBef>
                          <a:spcPct val="0"/>
                        </a:spcBef>
                        <a:spcAft>
                          <a:spcPct val="0"/>
                        </a:spcAft>
                        <a:buNone/>
                      </a:pPr>
                      <a:r>
                        <a:rPr lang="en-US" sz="1200" b="0" i="0" u="none" strike="noStrike" cap="none" normalizeH="0" baseline="0">
                          <a:ln>
                            <a:noFill/>
                          </a:ln>
                          <a:solidFill>
                            <a:schemeClr val="tx1"/>
                          </a:solidFill>
                          <a:effectLst/>
                          <a:latin typeface="+mn-lt"/>
                          <a:ea typeface="ＭＳ Ｐゴシック"/>
                          <a:cs typeface="Arial"/>
                        </a:rPr>
                        <a:t>EBIT Margin</a:t>
                      </a:r>
                      <a:endParaRPr kumimoji="0" lang="en-US" sz="900" b="0" i="0" u="none" strike="noStrike" cap="none" normalizeH="0" baseline="0">
                        <a:ln>
                          <a:noFill/>
                        </a:ln>
                        <a:solidFill>
                          <a:schemeClr val="tx1"/>
                        </a:solidFill>
                        <a:effectLst/>
                        <a:latin typeface="+mn-lt"/>
                        <a:ea typeface="ＭＳ Ｐゴシック"/>
                        <a:cs typeface="Arial"/>
                      </a:endParaRPr>
                    </a:p>
                  </a:txBody>
                  <a:tcPr marL="45720" marR="45720" marT="18288" marB="18288" anchor="ctr">
                    <a:lnL w="0">
                      <a:noFill/>
                    </a:lnL>
                    <a:lnR w="0">
                      <a:noFill/>
                    </a:lnR>
                    <a:lnT w="0">
                      <a:noFill/>
                    </a:lnT>
                    <a:lnB w="0">
                      <a:noFill/>
                    </a:lnB>
                    <a:lnTlToBr w="0">
                      <a:noFill/>
                    </a:lnTlToBr>
                    <a:lnBlToTr w="0">
                      <a:noFill/>
                    </a:lnBlToTr>
                    <a:noFill/>
                  </a:tcPr>
                </a:tc>
                <a:tc>
                  <a:txBody>
                    <a:bodyPr/>
                    <a:lstStyle/>
                    <a:p>
                      <a:pPr marL="0" lvl="0" indent="0" algn="ctr" defTabSz="914400">
                        <a:lnSpc>
                          <a:spcPct val="100000"/>
                        </a:lnSpc>
                        <a:spcBef>
                          <a:spcPct val="0"/>
                        </a:spcBef>
                        <a:spcAft>
                          <a:spcPct val="0"/>
                        </a:spcAft>
                        <a:buNone/>
                        <a:tabLst/>
                      </a:pPr>
                      <a:r>
                        <a:rPr lang="en-US" sz="900" b="0" i="0" u="none" strike="noStrike" cap="none" normalizeH="0" baseline="0">
                          <a:ln>
                            <a:noFill/>
                          </a:ln>
                          <a:solidFill>
                            <a:schemeClr val="tx1"/>
                          </a:solidFill>
                          <a:effectLst/>
                          <a:latin typeface="+mn-lt"/>
                          <a:ea typeface="ＭＳ Ｐゴシック"/>
                          <a:cs typeface="Arial"/>
                        </a:rPr>
                        <a:t>22.7%</a:t>
                      </a:r>
                      <a:endParaRPr kumimoji="0" lang="en-US" sz="900" b="0" i="0" u="none" strike="noStrike" cap="none" normalizeH="0" baseline="0">
                        <a:ln>
                          <a:noFill/>
                        </a:ln>
                        <a:solidFill>
                          <a:schemeClr val="tx1"/>
                        </a:solidFill>
                        <a:effectLst/>
                        <a:latin typeface="+mn-lt"/>
                        <a:ea typeface="ＭＳ Ｐゴシック"/>
                        <a:cs typeface="Arial"/>
                      </a:endParaRPr>
                    </a:p>
                  </a:txBody>
                  <a:tcPr marL="45720" marR="45720" marT="18288" marB="18288" anchor="ctr">
                    <a:lnL w="0">
                      <a:noFill/>
                    </a:lnL>
                    <a:lnR w="0">
                      <a:noFill/>
                    </a:lnR>
                    <a:lnT w="0">
                      <a:noFill/>
                    </a:lnT>
                    <a:lnB w="0">
                      <a:noFill/>
                    </a:lnB>
                    <a:lnTlToBr w="0">
                      <a:noFill/>
                    </a:lnTlToBr>
                    <a:lnBlToTr w="0">
                      <a:noFill/>
                    </a:lnBlToTr>
                    <a:noFill/>
                  </a:tcPr>
                </a:tc>
                <a:extLst>
                  <a:ext uri="{0D108BD9-81ED-4DB2-BD59-A6C34878D82A}">
                    <a16:rowId xmlns:a16="http://schemas.microsoft.com/office/drawing/2014/main" val="1072123280"/>
                  </a:ext>
                </a:extLst>
              </a:tr>
            </a:tbl>
          </a:graphicData>
        </a:graphic>
      </p:graphicFrame>
      <p:cxnSp>
        <p:nvCxnSpPr>
          <p:cNvPr id="3" name="Straight Connector 2">
            <a:extLst>
              <a:ext uri="{FF2B5EF4-FFF2-40B4-BE49-F238E27FC236}">
                <a16:creationId xmlns:a16="http://schemas.microsoft.com/office/drawing/2014/main" id="{C10A51E2-E5C8-DCD7-6719-B7A510D8891A}"/>
              </a:ext>
            </a:extLst>
          </p:cNvPr>
          <p:cNvCxnSpPr/>
          <p:nvPr/>
        </p:nvCxnSpPr>
        <p:spPr>
          <a:xfrm>
            <a:off x="0" y="1011749"/>
            <a:ext cx="2185147" cy="0"/>
          </a:xfrm>
          <a:prstGeom prst="line">
            <a:avLst/>
          </a:prstGeom>
          <a:ln w="19050">
            <a:solidFill>
              <a:schemeClr val="bg2">
                <a:lumMod val="90000"/>
              </a:schemeClr>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7310895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3A10DA61-10B6-4636-BCBF-FF6578D807C8}"/>
              </a:ext>
            </a:extLst>
          </p:cNvPr>
          <p:cNvSpPr>
            <a:spLocks noGrp="1"/>
          </p:cNvSpPr>
          <p:nvPr>
            <p:ph type="title"/>
          </p:nvPr>
        </p:nvSpPr>
        <p:spPr>
          <a:xfrm>
            <a:off x="590796" y="383764"/>
            <a:ext cx="10515600" cy="535531"/>
          </a:xfrm>
        </p:spPr>
        <p:txBody>
          <a:bodyPr wrap="square" lIns="91440" tIns="45720" rIns="91440" bIns="45720" anchor="t">
            <a:spAutoFit/>
          </a:bodyPr>
          <a:lstStyle/>
          <a:p>
            <a:pPr algn="ctr"/>
            <a:r>
              <a:rPr lang="en-CA">
                <a:solidFill>
                  <a:srgbClr val="582A04"/>
                </a:solidFill>
              </a:rPr>
              <a:t>Competitive Environment</a:t>
            </a:r>
          </a:p>
        </p:txBody>
      </p:sp>
      <p:sp>
        <p:nvSpPr>
          <p:cNvPr id="3" name="TextBox 2">
            <a:extLst>
              <a:ext uri="{FF2B5EF4-FFF2-40B4-BE49-F238E27FC236}">
                <a16:creationId xmlns:a16="http://schemas.microsoft.com/office/drawing/2014/main" id="{21B681F5-6B54-98AC-7248-A830E725DFAD}"/>
              </a:ext>
            </a:extLst>
          </p:cNvPr>
          <p:cNvSpPr txBox="1"/>
          <p:nvPr/>
        </p:nvSpPr>
        <p:spPr>
          <a:xfrm>
            <a:off x="336466" y="1087116"/>
            <a:ext cx="11268159" cy="269735"/>
          </a:xfrm>
          <a:prstGeom prst="rect">
            <a:avLst/>
          </a:prstGeom>
          <a:solidFill>
            <a:srgbClr val="502604"/>
          </a:solidFill>
        </p:spPr>
        <p:txBody>
          <a:bodyPr wrap="square" lIns="91440" tIns="45720" rIns="91440" bIns="45720" rtlCol="0" anchor="t">
            <a:spAutoFit/>
          </a:bodyPr>
          <a:lstStyle/>
          <a:p>
            <a:pPr algn="ctr"/>
            <a:r>
              <a:rPr lang="en-US" altLang="zh-CN" sz="1100" b="1">
                <a:solidFill>
                  <a:schemeClr val="bg1"/>
                </a:solidFill>
                <a:ea typeface="Open Sans Light"/>
                <a:cs typeface="Open Sans Light"/>
              </a:rPr>
              <a:t>Competitors </a:t>
            </a:r>
          </a:p>
        </p:txBody>
      </p:sp>
      <p:pic>
        <p:nvPicPr>
          <p:cNvPr id="4" name="Picture 3" descr="A group of logos of different brands&#10;&#10;Description automatically generated">
            <a:extLst>
              <a:ext uri="{FF2B5EF4-FFF2-40B4-BE49-F238E27FC236}">
                <a16:creationId xmlns:a16="http://schemas.microsoft.com/office/drawing/2014/main" id="{ED6E66AD-72E1-5967-D7B9-CABB3DFE4864}"/>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336466" y="1544781"/>
            <a:ext cx="3701143" cy="2053937"/>
          </a:xfrm>
          <a:prstGeom prst="rect">
            <a:avLst/>
          </a:prstGeom>
          <a:ln>
            <a:solidFill>
              <a:srgbClr val="502604"/>
            </a:solidFill>
          </a:ln>
        </p:spPr>
      </p:pic>
      <p:pic>
        <p:nvPicPr>
          <p:cNvPr id="16" name="Picture 15" descr="A blue and white text&#10;&#10;Description automatically generated">
            <a:extLst>
              <a:ext uri="{FF2B5EF4-FFF2-40B4-BE49-F238E27FC236}">
                <a16:creationId xmlns:a16="http://schemas.microsoft.com/office/drawing/2014/main" id="{4FA6C686-CC82-F4E9-C4EA-E835DC42E700}"/>
              </a:ext>
            </a:extLst>
          </p:cNvPr>
          <p:cNvPicPr>
            <a:picLocks noChangeAspect="1"/>
          </p:cNvPicPr>
          <p:nvPr/>
        </p:nvPicPr>
        <p:blipFill>
          <a:blip r:embed="rId5"/>
          <a:stretch>
            <a:fillRect/>
          </a:stretch>
        </p:blipFill>
        <p:spPr>
          <a:xfrm>
            <a:off x="4864922" y="1544781"/>
            <a:ext cx="2234541" cy="2046516"/>
          </a:xfrm>
          <a:prstGeom prst="rect">
            <a:avLst/>
          </a:prstGeom>
          <a:ln>
            <a:solidFill>
              <a:srgbClr val="502604"/>
            </a:solidFill>
          </a:ln>
        </p:spPr>
      </p:pic>
      <p:pic>
        <p:nvPicPr>
          <p:cNvPr id="17" name="Picture 16" descr="A white text on a red background&#10;&#10;Description automatically generated">
            <a:extLst>
              <a:ext uri="{FF2B5EF4-FFF2-40B4-BE49-F238E27FC236}">
                <a16:creationId xmlns:a16="http://schemas.microsoft.com/office/drawing/2014/main" id="{76A8BCD6-8F63-2761-1E39-574610CAE0BE}"/>
              </a:ext>
            </a:extLst>
          </p:cNvPr>
          <p:cNvPicPr>
            <a:picLocks noChangeAspect="1"/>
          </p:cNvPicPr>
          <p:nvPr/>
        </p:nvPicPr>
        <p:blipFill>
          <a:blip r:embed="rId6"/>
          <a:stretch>
            <a:fillRect/>
          </a:stretch>
        </p:blipFill>
        <p:spPr>
          <a:xfrm>
            <a:off x="7926777" y="1478479"/>
            <a:ext cx="3641766" cy="2112818"/>
          </a:xfrm>
          <a:prstGeom prst="rect">
            <a:avLst/>
          </a:prstGeom>
          <a:ln>
            <a:solidFill>
              <a:srgbClr val="502604"/>
            </a:solidFill>
          </a:ln>
        </p:spPr>
      </p:pic>
      <p:sp>
        <p:nvSpPr>
          <p:cNvPr id="41" name="TextBox 40">
            <a:extLst>
              <a:ext uri="{FF2B5EF4-FFF2-40B4-BE49-F238E27FC236}">
                <a16:creationId xmlns:a16="http://schemas.microsoft.com/office/drawing/2014/main" id="{0AB8F312-DC91-B45B-3C1F-0775CB2920CE}"/>
              </a:ext>
            </a:extLst>
          </p:cNvPr>
          <p:cNvSpPr txBox="1"/>
          <p:nvPr/>
        </p:nvSpPr>
        <p:spPr>
          <a:xfrm>
            <a:off x="247402" y="3958442"/>
            <a:ext cx="4189349"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u="sng">
                <a:ea typeface="Open Sans Light"/>
                <a:cs typeface="Open Sans Light"/>
              </a:rPr>
              <a:t>Mondelez International</a:t>
            </a:r>
            <a:r>
              <a:rPr lang="en-US" sz="2400" b="1">
                <a:ea typeface="Open Sans Light"/>
                <a:cs typeface="Open Sans Light"/>
              </a:rPr>
              <a:t> (In millions)</a:t>
            </a:r>
            <a:endParaRPr lang="en-US" sz="2400" b="1" u="sng">
              <a:ea typeface="Open Sans Light"/>
              <a:cs typeface="Open Sans Light"/>
            </a:endParaRPr>
          </a:p>
          <a:p>
            <a:pPr algn="ctr"/>
            <a:r>
              <a:rPr lang="en-US" sz="2400">
                <a:ea typeface="Open Sans Light"/>
                <a:cs typeface="Open Sans Light"/>
              </a:rPr>
              <a:t>Total Sales: $36,016</a:t>
            </a:r>
          </a:p>
          <a:p>
            <a:pPr algn="ctr"/>
            <a:r>
              <a:rPr lang="en-US" sz="2400">
                <a:ea typeface="Open Sans Light"/>
                <a:cs typeface="Open Sans Light"/>
              </a:rPr>
              <a:t>Chocolate Sales: $14,400 </a:t>
            </a:r>
          </a:p>
        </p:txBody>
      </p:sp>
      <p:sp>
        <p:nvSpPr>
          <p:cNvPr id="42" name="TextBox 41">
            <a:extLst>
              <a:ext uri="{FF2B5EF4-FFF2-40B4-BE49-F238E27FC236}">
                <a16:creationId xmlns:a16="http://schemas.microsoft.com/office/drawing/2014/main" id="{C4348CDC-A89B-56EF-C01D-BB62EC108462}"/>
              </a:ext>
            </a:extLst>
          </p:cNvPr>
          <p:cNvSpPr txBox="1"/>
          <p:nvPr/>
        </p:nvSpPr>
        <p:spPr>
          <a:xfrm>
            <a:off x="4666205" y="3958442"/>
            <a:ext cx="285959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u="sng">
                <a:ea typeface="Open Sans Light"/>
                <a:cs typeface="Open Sans Light"/>
              </a:rPr>
              <a:t>Mars Inc.</a:t>
            </a:r>
            <a:r>
              <a:rPr lang="en-US" sz="2400" b="1">
                <a:ea typeface="Open Sans Light"/>
                <a:cs typeface="Open Sans Light"/>
              </a:rPr>
              <a:t> (In millions)</a:t>
            </a:r>
            <a:endParaRPr lang="en-US" sz="2400" b="1" u="sng">
              <a:ea typeface="Open Sans Light"/>
              <a:cs typeface="Open Sans Light"/>
            </a:endParaRPr>
          </a:p>
          <a:p>
            <a:pPr algn="ctr"/>
            <a:r>
              <a:rPr lang="en-US" sz="2400">
                <a:ea typeface="Open Sans Light"/>
                <a:cs typeface="Open Sans Light"/>
              </a:rPr>
              <a:t>Total Sales: $50,000</a:t>
            </a:r>
            <a:endParaRPr lang="en-US" sz="2400" b="1">
              <a:ea typeface="Open Sans Light"/>
              <a:cs typeface="Open Sans Light"/>
            </a:endParaRPr>
          </a:p>
          <a:p>
            <a:pPr algn="ctr"/>
            <a:r>
              <a:rPr lang="en-US" sz="2400">
                <a:ea typeface="Open Sans Light"/>
                <a:cs typeface="Open Sans Light"/>
              </a:rPr>
              <a:t>Chocolate Sales: $22,000</a:t>
            </a:r>
            <a:endParaRPr lang="en-US" sz="2400" b="1" u="sng">
              <a:ea typeface="Open Sans Light"/>
              <a:cs typeface="Open Sans Light"/>
            </a:endParaRPr>
          </a:p>
        </p:txBody>
      </p:sp>
      <p:sp>
        <p:nvSpPr>
          <p:cNvPr id="43" name="TextBox 42">
            <a:extLst>
              <a:ext uri="{FF2B5EF4-FFF2-40B4-BE49-F238E27FC236}">
                <a16:creationId xmlns:a16="http://schemas.microsoft.com/office/drawing/2014/main" id="{3AA63AD9-34DF-6C03-80C3-604F4C460052}"/>
              </a:ext>
            </a:extLst>
          </p:cNvPr>
          <p:cNvSpPr txBox="1"/>
          <p:nvPr/>
        </p:nvSpPr>
        <p:spPr>
          <a:xfrm>
            <a:off x="7852556" y="3958442"/>
            <a:ext cx="379020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ea typeface="Open Sans Light"/>
                <a:cs typeface="Open Sans Light"/>
              </a:rPr>
              <a:t> Ferrero (In millions)</a:t>
            </a:r>
            <a:endParaRPr lang="en-US" sz="2400" b="1" u="sng">
              <a:ea typeface="Open Sans Light"/>
              <a:cs typeface="Open Sans Light"/>
            </a:endParaRPr>
          </a:p>
          <a:p>
            <a:pPr algn="ctr"/>
            <a:r>
              <a:rPr lang="en-US" sz="2400">
                <a:ea typeface="Open Sans Light"/>
                <a:cs typeface="Open Sans Light"/>
              </a:rPr>
              <a:t>Total Sales: $18,244</a:t>
            </a:r>
            <a:endParaRPr lang="en-US" sz="2400" b="1">
              <a:ea typeface="Open Sans Light"/>
              <a:cs typeface="Open Sans Light"/>
            </a:endParaRPr>
          </a:p>
          <a:p>
            <a:pPr algn="ctr"/>
            <a:r>
              <a:rPr lang="en-US" sz="2400">
                <a:ea typeface="Open Sans Light"/>
                <a:cs typeface="Open Sans Light"/>
              </a:rPr>
              <a:t>Chocolate Sales: $13,080</a:t>
            </a:r>
          </a:p>
        </p:txBody>
      </p:sp>
    </p:spTree>
    <p:extLst>
      <p:ext uri="{BB962C8B-B14F-4D97-AF65-F5344CB8AC3E}">
        <p14:creationId xmlns:p14="http://schemas.microsoft.com/office/powerpoint/2010/main" val="1225011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1B8CD-C250-6396-F3C0-D7609B6F1911}"/>
              </a:ext>
            </a:extLst>
          </p:cNvPr>
          <p:cNvSpPr>
            <a:spLocks noGrp="1"/>
          </p:cNvSpPr>
          <p:nvPr>
            <p:ph type="title"/>
          </p:nvPr>
        </p:nvSpPr>
        <p:spPr/>
        <p:txBody>
          <a:bodyPr lIns="91440" tIns="45720" rIns="91440" bIns="45720" anchor="t">
            <a:spAutoFit/>
          </a:bodyPr>
          <a:lstStyle/>
          <a:p>
            <a:r>
              <a:rPr lang="en-US">
                <a:solidFill>
                  <a:srgbClr val="582A04"/>
                </a:solidFill>
                <a:ea typeface="Open Sans Light"/>
                <a:cs typeface="Open Sans Light"/>
              </a:rPr>
              <a:t>Comparison vs S@P 500 index</a:t>
            </a:r>
          </a:p>
        </p:txBody>
      </p:sp>
      <p:pic>
        <p:nvPicPr>
          <p:cNvPr id="5" name="Picture 4" descr="A graph of stock market&#10;&#10;Description automatically generated">
            <a:extLst>
              <a:ext uri="{FF2B5EF4-FFF2-40B4-BE49-F238E27FC236}">
                <a16:creationId xmlns:a16="http://schemas.microsoft.com/office/drawing/2014/main" id="{97721865-3674-35EA-6AA1-45947C51F12C}"/>
              </a:ext>
            </a:extLst>
          </p:cNvPr>
          <p:cNvPicPr>
            <a:picLocks noChangeAspect="1"/>
          </p:cNvPicPr>
          <p:nvPr/>
        </p:nvPicPr>
        <p:blipFill>
          <a:blip r:embed="rId2"/>
          <a:stretch>
            <a:fillRect/>
          </a:stretch>
        </p:blipFill>
        <p:spPr>
          <a:xfrm>
            <a:off x="237507" y="1529888"/>
            <a:ext cx="7610104" cy="4481051"/>
          </a:xfrm>
          <a:prstGeom prst="rect">
            <a:avLst/>
          </a:prstGeom>
        </p:spPr>
      </p:pic>
      <p:graphicFrame>
        <p:nvGraphicFramePr>
          <p:cNvPr id="7" name="Group 108">
            <a:extLst>
              <a:ext uri="{FF2B5EF4-FFF2-40B4-BE49-F238E27FC236}">
                <a16:creationId xmlns:a16="http://schemas.microsoft.com/office/drawing/2014/main" id="{C1913E56-73D2-6216-BC62-9B181CC388DD}"/>
              </a:ext>
            </a:extLst>
          </p:cNvPr>
          <p:cNvGraphicFramePr>
            <a:graphicFrameLocks noGrp="1"/>
          </p:cNvGraphicFramePr>
          <p:nvPr>
            <p:extLst>
              <p:ext uri="{D42A27DB-BD31-4B8C-83A1-F6EECF244321}">
                <p14:modId xmlns:p14="http://schemas.microsoft.com/office/powerpoint/2010/main" val="1965165727"/>
              </p:ext>
            </p:extLst>
          </p:nvPr>
        </p:nvGraphicFramePr>
        <p:xfrm>
          <a:off x="8089726" y="1179534"/>
          <a:ext cx="3841121" cy="1962423"/>
        </p:xfrm>
        <a:graphic>
          <a:graphicData uri="http://schemas.openxmlformats.org/drawingml/2006/table">
            <a:tbl>
              <a:tblPr/>
              <a:tblGrid>
                <a:gridCol w="3028486">
                  <a:extLst>
                    <a:ext uri="{9D8B030D-6E8A-4147-A177-3AD203B41FA5}">
                      <a16:colId xmlns:a16="http://schemas.microsoft.com/office/drawing/2014/main" val="20000"/>
                    </a:ext>
                  </a:extLst>
                </a:gridCol>
                <a:gridCol w="812635">
                  <a:extLst>
                    <a:ext uri="{9D8B030D-6E8A-4147-A177-3AD203B41FA5}">
                      <a16:colId xmlns:a16="http://schemas.microsoft.com/office/drawing/2014/main" val="20001"/>
                    </a:ext>
                  </a:extLst>
                </a:gridCol>
              </a:tblGrid>
              <a:tr h="711859">
                <a:tc>
                  <a:txBody>
                    <a:bodyPr/>
                    <a:lstStyle/>
                    <a:p>
                      <a:pPr marL="0" marR="0" lvl="0" indent="0" algn="ctr" rtl="0" eaLnBrk="1" fontAlgn="base" latinLnBrk="0" hangingPunct="1">
                        <a:lnSpc>
                          <a:spcPct val="100000"/>
                        </a:lnSpc>
                        <a:spcBef>
                          <a:spcPct val="0"/>
                        </a:spcBef>
                        <a:spcAft>
                          <a:spcPct val="0"/>
                        </a:spcAft>
                        <a:buClrTx/>
                        <a:buSzTx/>
                        <a:buFontTx/>
                        <a:buNone/>
                      </a:pPr>
                      <a:r>
                        <a:rPr lang="en-AU" sz="1000" b="1" i="0" u="none" strike="noStrike" cap="none" normalizeH="0" baseline="0">
                          <a:ln>
                            <a:noFill/>
                          </a:ln>
                          <a:solidFill>
                            <a:schemeClr val="bg1"/>
                          </a:solidFill>
                          <a:effectLst/>
                          <a:latin typeface="+mn-lt"/>
                          <a:ea typeface="ＭＳ Ｐゴシック"/>
                          <a:cs typeface="Arial"/>
                        </a:rPr>
                        <a:t>Equity</a:t>
                      </a:r>
                      <a:endParaRPr kumimoji="0" lang="en-AU" sz="1000" b="1" i="0" u="none" strike="noStrike" cap="none" normalizeH="0" baseline="0">
                        <a:ln>
                          <a:noFill/>
                        </a:ln>
                        <a:solidFill>
                          <a:schemeClr val="bg1"/>
                        </a:solidFill>
                        <a:effectLst/>
                        <a:latin typeface="+mn-lt"/>
                        <a:ea typeface="ＭＳ Ｐゴシック"/>
                        <a:cs typeface="Arial"/>
                      </a:endParaRPr>
                    </a:p>
                  </a:txBody>
                  <a:tcPr marL="45720" marR="45720" marT="36576" marB="36576" anchor="ctr" horzOverflow="overflow">
                    <a:lnL>
                      <a:noFill/>
                    </a:lnL>
                    <a:lnR w="12700" cap="flat" cmpd="sng" algn="ctr">
                      <a:noFill/>
                      <a:prstDash val="solid"/>
                      <a:round/>
                      <a:headEnd type="none" w="med" len="med"/>
                      <a:tailEnd type="none" w="med" len="med"/>
                    </a:lnR>
                    <a:lnT>
                      <a:noFill/>
                    </a:lnT>
                    <a:lnB w="19050" cap="flat" cmpd="sng" algn="ctr">
                      <a:noFill/>
                      <a:prstDash val="solid"/>
                      <a:round/>
                      <a:headEnd type="none" w="med" len="med"/>
                      <a:tailEnd type="none" w="med" len="med"/>
                    </a:lnB>
                    <a:lnTlToBr>
                      <a:noFill/>
                    </a:lnTlToBr>
                    <a:lnBlToTr>
                      <a:noFill/>
                    </a:lnBlToTr>
                    <a:solidFill>
                      <a:srgbClr val="502604"/>
                    </a:solidFill>
                  </a:tcPr>
                </a:tc>
                <a:tc>
                  <a:txBody>
                    <a:bodyPr/>
                    <a:lstStyle/>
                    <a:p>
                      <a:pPr marL="0" marR="0" lvl="0" indent="0" algn="ctr" rtl="0" eaLnBrk="1" fontAlgn="base" latinLnBrk="0" hangingPunct="1">
                        <a:lnSpc>
                          <a:spcPct val="100000"/>
                        </a:lnSpc>
                        <a:spcBef>
                          <a:spcPct val="0"/>
                        </a:spcBef>
                        <a:spcAft>
                          <a:spcPct val="0"/>
                        </a:spcAft>
                        <a:buClrTx/>
                        <a:buSzTx/>
                        <a:buFontTx/>
                        <a:buNone/>
                      </a:pPr>
                      <a:r>
                        <a:rPr lang="en-US" sz="1000" b="1" i="0" u="none" strike="noStrike" cap="none" normalizeH="0" baseline="0">
                          <a:ln>
                            <a:noFill/>
                          </a:ln>
                          <a:solidFill>
                            <a:schemeClr val="bg1"/>
                          </a:solidFill>
                          <a:effectLst/>
                          <a:latin typeface="+mn-lt"/>
                          <a:ea typeface="ＭＳ Ｐゴシック"/>
                          <a:cs typeface="Arial"/>
                        </a:rPr>
                        <a:t>% (1 YR)</a:t>
                      </a:r>
                      <a:endParaRPr lang="en-US" sz="1200" b="1" i="0" u="none" strike="noStrike" cap="none" normalizeH="0" baseline="0">
                        <a:ln>
                          <a:noFill/>
                        </a:ln>
                        <a:solidFill>
                          <a:schemeClr val="bg1"/>
                        </a:solidFill>
                        <a:effectLst/>
                        <a:latin typeface="+mn-lt"/>
                        <a:ea typeface="ＭＳ Ｐゴシック"/>
                        <a:cs typeface="Arial"/>
                      </a:endParaRPr>
                    </a:p>
                    <a:p>
                      <a:pPr marL="0" marR="0" lvl="0" indent="0" algn="ctr">
                        <a:lnSpc>
                          <a:spcPct val="100000"/>
                        </a:lnSpc>
                        <a:spcBef>
                          <a:spcPct val="0"/>
                        </a:spcBef>
                        <a:spcAft>
                          <a:spcPct val="0"/>
                        </a:spcAft>
                        <a:buClrTx/>
                        <a:buSzTx/>
                        <a:buFontTx/>
                        <a:buNone/>
                      </a:pPr>
                      <a:r>
                        <a:rPr lang="en-US" sz="1000" b="1" i="0" u="none" strike="noStrike" cap="none" normalizeH="0" baseline="0">
                          <a:ln>
                            <a:noFill/>
                          </a:ln>
                          <a:solidFill>
                            <a:schemeClr val="bg1"/>
                          </a:solidFill>
                          <a:effectLst/>
                          <a:latin typeface="+mn-lt"/>
                          <a:ea typeface="ＭＳ Ｐゴシック"/>
                          <a:cs typeface="Arial"/>
                        </a:rPr>
                        <a:t>(April 11th)</a:t>
                      </a:r>
                    </a:p>
                  </a:txBody>
                  <a:tcPr marL="45720" marR="45720" marT="36576" marB="36576" anchor="ctr" horzOverflow="overflow">
                    <a:lnL w="127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19050" cap="flat" cmpd="sng" algn="ctr">
                      <a:noFill/>
                      <a:prstDash val="solid"/>
                      <a:round/>
                      <a:headEnd type="none" w="med" len="med"/>
                      <a:tailEnd type="none" w="med" len="med"/>
                    </a:lnB>
                    <a:lnTlToBr>
                      <a:noFill/>
                    </a:lnTlToBr>
                    <a:lnBlToTr>
                      <a:noFill/>
                    </a:lnBlToTr>
                    <a:solidFill>
                      <a:srgbClr val="502604"/>
                    </a:solidFill>
                  </a:tcPr>
                </a:tc>
                <a:extLst>
                  <a:ext uri="{0D108BD9-81ED-4DB2-BD59-A6C34878D82A}">
                    <a16:rowId xmlns:a16="http://schemas.microsoft.com/office/drawing/2014/main" val="10000"/>
                  </a:ext>
                </a:extLst>
              </a:tr>
              <a:tr h="625282">
                <a:tc>
                  <a:txBody>
                    <a:bodyPr/>
                    <a:lstStyle/>
                    <a:p>
                      <a:pPr marL="0" marR="0" lvl="0" indent="0" algn="ctr" rtl="0" eaLnBrk="1" fontAlgn="base" latinLnBrk="0" hangingPunct="1">
                        <a:lnSpc>
                          <a:spcPct val="100000"/>
                        </a:lnSpc>
                        <a:spcBef>
                          <a:spcPct val="0"/>
                        </a:spcBef>
                        <a:spcAft>
                          <a:spcPct val="0"/>
                        </a:spcAft>
                        <a:buClrTx/>
                        <a:buSzTx/>
                        <a:buFontTx/>
                        <a:buNone/>
                      </a:pPr>
                      <a:r>
                        <a:rPr lang="en-US" sz="900" b="0" i="0" u="none" strike="noStrike" cap="none" normalizeH="0" baseline="0">
                          <a:ln>
                            <a:noFill/>
                          </a:ln>
                          <a:solidFill>
                            <a:schemeClr val="tx1"/>
                          </a:solidFill>
                          <a:effectLst/>
                          <a:latin typeface="+mn-lt"/>
                          <a:ea typeface="ＭＳ Ｐゴシック"/>
                          <a:cs typeface="Arial"/>
                        </a:rPr>
                        <a:t>The Hershey Company (HSY) (BLUE)</a:t>
                      </a:r>
                      <a:endParaRPr kumimoji="0" lang="en-US" sz="900" b="0" i="0" u="none" strike="noStrike" cap="none" normalizeH="0" baseline="0">
                        <a:ln>
                          <a:noFill/>
                        </a:ln>
                        <a:solidFill>
                          <a:schemeClr val="tx1"/>
                        </a:solidFill>
                        <a:effectLst/>
                        <a:latin typeface="+mn-lt"/>
                        <a:ea typeface="ＭＳ Ｐゴシック"/>
                        <a:cs typeface="Arial"/>
                      </a:endParaRPr>
                    </a:p>
                  </a:txBody>
                  <a:tcPr marL="45720" marR="45720" marT="18288" marB="18288" anchor="ctr" horzOverflow="overflow">
                    <a:lnL>
                      <a:noFill/>
                    </a:lnL>
                    <a:lnR w="381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sz="900" b="0" i="0" u="none" strike="noStrike" cap="none" normalizeH="0" baseline="0">
                          <a:ln>
                            <a:noFill/>
                          </a:ln>
                          <a:solidFill>
                            <a:schemeClr val="tx1"/>
                          </a:solidFill>
                          <a:effectLst/>
                          <a:latin typeface="+mn-lt"/>
                          <a:ea typeface="ＭＳ Ｐゴシック"/>
                          <a:cs typeface="Arial"/>
                        </a:rPr>
                        <a:t>-26.89%</a:t>
                      </a:r>
                      <a:endParaRPr kumimoji="0" lang="en-US" sz="900" b="0" i="0" u="none" strike="noStrike" cap="none" normalizeH="0" baseline="0">
                        <a:ln>
                          <a:noFill/>
                        </a:ln>
                        <a:solidFill>
                          <a:schemeClr val="tx1"/>
                        </a:solidFill>
                        <a:effectLst/>
                        <a:latin typeface="+mn-lt"/>
                        <a:ea typeface="ＭＳ Ｐゴシック"/>
                        <a:cs typeface="Arial"/>
                      </a:endParaRPr>
                    </a:p>
                  </a:txBody>
                  <a:tcPr marL="45720" marR="45720" marT="18288" marB="18288"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25282">
                <a:tc>
                  <a:txBody>
                    <a:bodyPr/>
                    <a:lstStyle/>
                    <a:p>
                      <a:pPr marL="0" marR="0" lvl="0" indent="0" algn="ctr" rtl="0" eaLnBrk="1" fontAlgn="base" latinLnBrk="0" hangingPunct="1">
                        <a:lnSpc>
                          <a:spcPct val="100000"/>
                        </a:lnSpc>
                        <a:spcBef>
                          <a:spcPct val="0"/>
                        </a:spcBef>
                        <a:spcAft>
                          <a:spcPct val="0"/>
                        </a:spcAft>
                        <a:buClrTx/>
                        <a:buSzTx/>
                        <a:buFontTx/>
                        <a:buNone/>
                      </a:pPr>
                      <a:r>
                        <a:rPr lang="en-US" sz="900" b="0" i="0" u="none" strike="noStrike" cap="none" normalizeH="0" baseline="0">
                          <a:ln>
                            <a:noFill/>
                          </a:ln>
                          <a:solidFill>
                            <a:schemeClr val="tx1"/>
                          </a:solidFill>
                          <a:effectLst/>
                          <a:latin typeface="+mn-lt"/>
                          <a:ea typeface="ＭＳ Ｐゴシック"/>
                          <a:cs typeface="Arial"/>
                        </a:rPr>
                        <a:t>S@P 500 Index (SPX) (ORANGE)</a:t>
                      </a:r>
                      <a:endParaRPr kumimoji="0" lang="en-US" sz="900" b="0" i="0" u="none" strike="noStrike" cap="none" normalizeH="0" baseline="0">
                        <a:ln>
                          <a:noFill/>
                        </a:ln>
                        <a:solidFill>
                          <a:schemeClr val="tx1"/>
                        </a:solidFill>
                        <a:effectLst/>
                        <a:latin typeface="+mn-lt"/>
                        <a:ea typeface="ＭＳ Ｐゴシック"/>
                        <a:cs typeface="Arial"/>
                      </a:endParaRPr>
                    </a:p>
                  </a:txBody>
                  <a:tcPr marL="45720" marR="45720" marT="18288" marB="18288" anchor="ctr" horzOverflow="overflow">
                    <a:lnL>
                      <a:noFill/>
                    </a:lnL>
                    <a:lnR w="381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sz="900" b="0" i="0" u="none" strike="noStrike" cap="none" normalizeH="0" baseline="0">
                          <a:ln>
                            <a:noFill/>
                          </a:ln>
                          <a:solidFill>
                            <a:schemeClr val="tx1"/>
                          </a:solidFill>
                          <a:effectLst/>
                          <a:latin typeface="+mn-lt"/>
                          <a:ea typeface="ＭＳ Ｐゴシック"/>
                          <a:cs typeface="Arial"/>
                        </a:rPr>
                        <a:t>26.19%</a:t>
                      </a:r>
                      <a:endParaRPr kumimoji="0" lang="en-US" sz="900" b="0" i="0" u="none" strike="noStrike" cap="none" normalizeH="0" baseline="0">
                        <a:ln>
                          <a:noFill/>
                        </a:ln>
                        <a:solidFill>
                          <a:schemeClr val="tx1"/>
                        </a:solidFill>
                        <a:effectLst/>
                        <a:latin typeface="+mn-lt"/>
                        <a:ea typeface="ＭＳ Ｐゴシック"/>
                        <a:cs typeface="Arial"/>
                      </a:endParaRPr>
                    </a:p>
                  </a:txBody>
                  <a:tcPr marL="45720" marR="45720" marT="18288" marB="18288" anchor="ctr" horzOverflow="overflow">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9" name="TextBox 8">
            <a:extLst>
              <a:ext uri="{FF2B5EF4-FFF2-40B4-BE49-F238E27FC236}">
                <a16:creationId xmlns:a16="http://schemas.microsoft.com/office/drawing/2014/main" id="{F0891F87-A036-6784-CB47-E6880407C8FE}"/>
              </a:ext>
            </a:extLst>
          </p:cNvPr>
          <p:cNvSpPr txBox="1"/>
          <p:nvPr/>
        </p:nvSpPr>
        <p:spPr>
          <a:xfrm>
            <a:off x="242244" y="1175346"/>
            <a:ext cx="6764976" cy="261610"/>
          </a:xfrm>
          <a:prstGeom prst="rect">
            <a:avLst/>
          </a:prstGeom>
          <a:solidFill>
            <a:srgbClr val="502604"/>
          </a:solidFill>
        </p:spPr>
        <p:txBody>
          <a:bodyPr wrap="square" lIns="91440" tIns="45720" rIns="91440" bIns="45720" rtlCol="0" anchor="t">
            <a:spAutoFit/>
          </a:bodyPr>
          <a:lstStyle/>
          <a:p>
            <a:r>
              <a:rPr lang="en-US" altLang="zh-CN" sz="1100" b="1">
                <a:solidFill>
                  <a:schemeClr val="bg1"/>
                </a:solidFill>
                <a:ea typeface="Open Sans Light"/>
                <a:cs typeface="Open Sans Light"/>
              </a:rPr>
              <a:t>Comparison Chart</a:t>
            </a:r>
          </a:p>
        </p:txBody>
      </p:sp>
      <p:cxnSp>
        <p:nvCxnSpPr>
          <p:cNvPr id="3" name="Straight Connector 2">
            <a:extLst>
              <a:ext uri="{FF2B5EF4-FFF2-40B4-BE49-F238E27FC236}">
                <a16:creationId xmlns:a16="http://schemas.microsoft.com/office/drawing/2014/main" id="{34E3F86A-6203-44B1-7A8D-F0BA90D337F5}"/>
              </a:ext>
            </a:extLst>
          </p:cNvPr>
          <p:cNvCxnSpPr/>
          <p:nvPr/>
        </p:nvCxnSpPr>
        <p:spPr>
          <a:xfrm>
            <a:off x="0" y="1011749"/>
            <a:ext cx="2185147" cy="0"/>
          </a:xfrm>
          <a:prstGeom prst="line">
            <a:avLst/>
          </a:prstGeom>
          <a:ln w="19050">
            <a:solidFill>
              <a:schemeClr val="bg2">
                <a:lumMod val="90000"/>
              </a:schemeClr>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870297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2" name="Group 294"/>
          <p:cNvGraphicFramePr>
            <a:graphicFrameLocks noGrp="1"/>
          </p:cNvGraphicFramePr>
          <p:nvPr>
            <p:extLst>
              <p:ext uri="{D42A27DB-BD31-4B8C-83A1-F6EECF244321}">
                <p14:modId xmlns:p14="http://schemas.microsoft.com/office/powerpoint/2010/main" val="3880130939"/>
              </p:ext>
            </p:extLst>
          </p:nvPr>
        </p:nvGraphicFramePr>
        <p:xfrm>
          <a:off x="838044" y="1545470"/>
          <a:ext cx="5311422" cy="3761563"/>
        </p:xfrm>
        <a:graphic>
          <a:graphicData uri="http://schemas.openxmlformats.org/drawingml/2006/table">
            <a:tbl>
              <a:tblPr/>
              <a:tblGrid>
                <a:gridCol w="3733192">
                  <a:extLst>
                    <a:ext uri="{9D8B030D-6E8A-4147-A177-3AD203B41FA5}">
                      <a16:colId xmlns:a16="http://schemas.microsoft.com/office/drawing/2014/main" val="20000"/>
                    </a:ext>
                  </a:extLst>
                </a:gridCol>
                <a:gridCol w="1578230">
                  <a:extLst>
                    <a:ext uri="{9D8B030D-6E8A-4147-A177-3AD203B41FA5}">
                      <a16:colId xmlns:a16="http://schemas.microsoft.com/office/drawing/2014/main" val="20001"/>
                    </a:ext>
                  </a:extLst>
                </a:gridCol>
              </a:tblGrid>
              <a:tr h="370399">
                <a:tc gridSpan="2">
                  <a:txBody>
                    <a:bodyPr/>
                    <a:lstStyle/>
                    <a:p>
                      <a:pPr marL="0" marR="0" lvl="0" indent="0" algn="l" rtl="0">
                        <a:lnSpc>
                          <a:spcPct val="100000"/>
                        </a:lnSpc>
                        <a:spcBef>
                          <a:spcPts val="600"/>
                        </a:spcBef>
                        <a:spcAft>
                          <a:spcPts val="300"/>
                        </a:spcAft>
                        <a:buSzTx/>
                        <a:buFont typeface="Wingdings" pitchFamily="2" charset="2"/>
                        <a:buNone/>
                      </a:pPr>
                      <a:r>
                        <a:rPr lang="en-US" sz="900" b="1" i="0" u="none" strike="noStrike" cap="none" normalizeH="0" baseline="0">
                          <a:ln>
                            <a:noFill/>
                          </a:ln>
                          <a:solidFill>
                            <a:schemeClr val="bg1"/>
                          </a:solidFill>
                          <a:effectLst/>
                          <a:latin typeface="+mj-lt"/>
                          <a:ea typeface="MS PGothic"/>
                          <a:cs typeface="Arial"/>
                        </a:rPr>
                        <a:t>Industry Revenue Breakdown by Major Segment (2023) </a:t>
                      </a:r>
                      <a:endParaRPr kumimoji="0" lang="en-US" sz="900" b="1" i="0" u="none" strike="noStrike" cap="none" normalizeH="0" baseline="0">
                        <a:ln>
                          <a:noFill/>
                        </a:ln>
                        <a:solidFill>
                          <a:schemeClr val="bg1"/>
                        </a:solidFill>
                        <a:effectLst/>
                        <a:latin typeface="+mj-lt"/>
                        <a:ea typeface="MS PGothic"/>
                        <a:cs typeface="Arial"/>
                      </a:endParaRPr>
                    </a:p>
                  </a:txBody>
                  <a:tcPr marT="0" marB="0" anchor="ctr">
                    <a:lnL w="9524">
                      <a:solidFill>
                        <a:srgbClr val="FFFFFF"/>
                      </a:solidFill>
                    </a:lnL>
                    <a:lnR w="9524">
                      <a:solidFill>
                        <a:srgbClr val="FFFFFF"/>
                      </a:solidFill>
                    </a:lnR>
                    <a:lnT w="12700">
                      <a:solidFill>
                        <a:schemeClr val="bg1"/>
                      </a:solidFill>
                    </a:lnT>
                    <a:lnB w="12700">
                      <a:solidFill>
                        <a:schemeClr val="bg1"/>
                      </a:solidFill>
                    </a:lnB>
                    <a:lnTlToBr w="0">
                      <a:noFill/>
                    </a:lnTlToBr>
                    <a:lnBlToTr w="0">
                      <a:noFill/>
                    </a:lnBlToTr>
                    <a:solidFill>
                      <a:schemeClr val="bg1">
                        <a:lumMod val="50000"/>
                      </a:schemeClr>
                    </a:solidFill>
                  </a:tcPr>
                </a:tc>
                <a:tc hMerge="1">
                  <a:txBody>
                    <a:bodyPr/>
                    <a:lstStyle/>
                    <a:p>
                      <a:pPr marL="0" marR="0" lvl="0" indent="0" algn="l" defTabSz="914400" rtl="0" eaLnBrk="1" fontAlgn="base" latinLnBrk="0" hangingPunct="1">
                        <a:lnSpc>
                          <a:spcPct val="100000"/>
                        </a:lnSpc>
                        <a:spcBef>
                          <a:spcPts val="600"/>
                        </a:spcBef>
                        <a:spcAft>
                          <a:spcPts val="300"/>
                        </a:spcAft>
                        <a:buClr>
                          <a:srgbClr val="003399"/>
                        </a:buClr>
                        <a:buSzTx/>
                        <a:buFont typeface="Wingdings" pitchFamily="2" charset="2"/>
                        <a:buNone/>
                        <a:tabLst/>
                      </a:pPr>
                      <a:endParaRPr kumimoji="0" lang="en-US" sz="900" b="0" i="0" u="none" strike="noStrike" cap="none" normalizeH="0" baseline="0">
                        <a:ln>
                          <a:noFill/>
                        </a:ln>
                        <a:solidFill>
                          <a:schemeClr val="tx1"/>
                        </a:solidFill>
                        <a:effectLst/>
                        <a:latin typeface="+mj-lt"/>
                        <a:ea typeface="MS PGothic" pitchFamily="34" charset="-128"/>
                        <a:cs typeface="Arial" charset="0"/>
                      </a:endParaRPr>
                    </a:p>
                  </a:txBody>
                  <a:tcPr marT="0" marB="0" anchor="ctr" horzOverflow="overflow">
                    <a:lnL w="12700" cap="flat" cmpd="sng" algn="ctr">
                      <a:solidFill>
                        <a:schemeClr val="bg1"/>
                      </a:solidFill>
                      <a:prstDash val="solid"/>
                      <a:round/>
                      <a:headEnd type="none" w="med" len="med"/>
                      <a:tailEnd type="none" w="med" len="med"/>
                    </a:lnL>
                    <a:lnR w="9525"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370399">
                <a:tc>
                  <a:txBody>
                    <a:bodyPr/>
                    <a:lstStyle/>
                    <a:p>
                      <a:pPr marL="0" marR="0" lvl="0" indent="0" algn="l" rtl="0">
                        <a:lnSpc>
                          <a:spcPct val="100000"/>
                        </a:lnSpc>
                        <a:spcBef>
                          <a:spcPts val="600"/>
                        </a:spcBef>
                        <a:spcAft>
                          <a:spcPts val="300"/>
                        </a:spcAft>
                        <a:buSzTx/>
                        <a:buFont typeface="Wingdings" pitchFamily="2" charset="2"/>
                        <a:buNone/>
                      </a:pPr>
                      <a:r>
                        <a:rPr lang="en-US" sz="900" b="0" i="0" u="none" strike="noStrike" cap="none" normalizeH="0" baseline="0">
                          <a:ln>
                            <a:noFill/>
                          </a:ln>
                          <a:solidFill>
                            <a:schemeClr val="tx1"/>
                          </a:solidFill>
                          <a:effectLst/>
                          <a:latin typeface="+mj-lt"/>
                          <a:ea typeface="MS PGothic"/>
                          <a:cs typeface="Arial"/>
                        </a:rPr>
                        <a:t>Total Value (US)</a:t>
                      </a:r>
                      <a:endParaRPr kumimoji="0" lang="en-US" sz="900" b="0" i="0" u="none" strike="noStrike" cap="none" normalizeH="0" baseline="0">
                        <a:ln>
                          <a:noFill/>
                        </a:ln>
                        <a:solidFill>
                          <a:schemeClr val="tx1"/>
                        </a:solidFill>
                        <a:effectLst/>
                        <a:latin typeface="+mj-lt"/>
                        <a:ea typeface="MS PGothic"/>
                        <a:cs typeface="Arial"/>
                      </a:endParaRPr>
                    </a:p>
                  </a:txBody>
                  <a:tcPr marT="0" marB="0" anchor="ctr">
                    <a:lnL w="9524">
                      <a:solidFill>
                        <a:srgbClr val="FFFFFF"/>
                      </a:solidFill>
                    </a:lnL>
                    <a:lnR w="12700">
                      <a:solidFill>
                        <a:schemeClr val="bg1"/>
                      </a:solidFill>
                    </a:lnR>
                    <a:lnT w="12700">
                      <a:solidFill>
                        <a:schemeClr val="bg1"/>
                      </a:solidFill>
                    </a:lnT>
                    <a:lnB w="12700">
                      <a:solidFill>
                        <a:schemeClr val="bg1"/>
                      </a:solidFill>
                    </a:lnB>
                    <a:lnTlToBr w="0">
                      <a:noFill/>
                    </a:lnTlToBr>
                    <a:lnBlToTr w="0">
                      <a:noFill/>
                    </a:lnBlToTr>
                    <a:solidFill>
                      <a:srgbClr val="DDDDDD"/>
                    </a:solidFill>
                  </a:tcPr>
                </a:tc>
                <a:tc>
                  <a:txBody>
                    <a:bodyPr/>
                    <a:lstStyle/>
                    <a:p>
                      <a:pPr marL="0" marR="0" lvl="0" indent="0" algn="l" rtl="0">
                        <a:lnSpc>
                          <a:spcPct val="100000"/>
                        </a:lnSpc>
                        <a:spcBef>
                          <a:spcPts val="600"/>
                        </a:spcBef>
                        <a:spcAft>
                          <a:spcPts val="300"/>
                        </a:spcAft>
                        <a:buSzTx/>
                        <a:buFont typeface="Wingdings" pitchFamily="2" charset="2"/>
                        <a:buNone/>
                      </a:pPr>
                      <a:r>
                        <a:rPr lang="en-US" sz="900" b="0" i="0" u="none" strike="noStrike" cap="none" normalizeH="0" baseline="0">
                          <a:ln>
                            <a:noFill/>
                          </a:ln>
                          <a:solidFill>
                            <a:schemeClr val="tx1"/>
                          </a:solidFill>
                          <a:effectLst/>
                          <a:latin typeface="+mj-lt"/>
                          <a:ea typeface="MS PGothic"/>
                          <a:cs typeface="Arial"/>
                        </a:rPr>
                        <a:t>$1080.3 Billion</a:t>
                      </a:r>
                      <a:endParaRPr kumimoji="0" lang="en-US" sz="900" b="0" i="0" u="none" strike="noStrike" cap="none" normalizeH="0" baseline="0">
                        <a:ln>
                          <a:noFill/>
                        </a:ln>
                        <a:solidFill>
                          <a:schemeClr val="tx1"/>
                        </a:solidFill>
                        <a:effectLst/>
                        <a:latin typeface="+mj-lt"/>
                        <a:ea typeface="MS PGothic"/>
                        <a:cs typeface="Arial"/>
                      </a:endParaRPr>
                    </a:p>
                  </a:txBody>
                  <a:tcPr marT="0" marB="0" anchor="ctr">
                    <a:lnL w="12700">
                      <a:solidFill>
                        <a:schemeClr val="bg1"/>
                      </a:solidFill>
                    </a:lnL>
                    <a:lnR w="9524">
                      <a:solidFill>
                        <a:srgbClr val="FFFFFF"/>
                      </a:solidFill>
                    </a:lnR>
                    <a:lnT w="12700">
                      <a:solidFill>
                        <a:schemeClr val="bg1"/>
                      </a:solidFill>
                    </a:lnT>
                    <a:lnB w="12700">
                      <a:solidFill>
                        <a:schemeClr val="bg1"/>
                      </a:solidFill>
                    </a:lnB>
                    <a:lnTlToBr w="0">
                      <a:noFill/>
                    </a:lnTlToBr>
                    <a:lnBlToTr w="0">
                      <a:noFill/>
                    </a:lnBlToTr>
                    <a:solidFill>
                      <a:schemeClr val="bg2"/>
                    </a:solidFill>
                  </a:tcPr>
                </a:tc>
                <a:extLst>
                  <a:ext uri="{0D108BD9-81ED-4DB2-BD59-A6C34878D82A}">
                    <a16:rowId xmlns:a16="http://schemas.microsoft.com/office/drawing/2014/main" val="10002"/>
                  </a:ext>
                </a:extLst>
              </a:tr>
              <a:tr h="370399">
                <a:tc>
                  <a:txBody>
                    <a:bodyPr/>
                    <a:lstStyle/>
                    <a:p>
                      <a:pPr marL="0" marR="0" lvl="0" indent="-287020" algn="l" rtl="0">
                        <a:lnSpc>
                          <a:spcPct val="100000"/>
                        </a:lnSpc>
                        <a:spcBef>
                          <a:spcPts val="600"/>
                        </a:spcBef>
                        <a:spcAft>
                          <a:spcPts val="300"/>
                        </a:spcAft>
                        <a:buSzTx/>
                        <a:buFont typeface="Wingdings" pitchFamily="2" charset="2"/>
                        <a:buNone/>
                      </a:pPr>
                      <a:r>
                        <a:rPr lang="en-US" sz="900" b="0" i="0" u="none" strike="noStrike" cap="none" normalizeH="0" baseline="0">
                          <a:ln>
                            <a:noFill/>
                          </a:ln>
                          <a:solidFill>
                            <a:schemeClr val="tx1"/>
                          </a:solidFill>
                          <a:effectLst/>
                          <a:latin typeface="+mj-lt"/>
                          <a:ea typeface="MS PGothic"/>
                          <a:cs typeface="Arial"/>
                        </a:rPr>
                        <a:t>Largest Segment in US  (America Confectionary) </a:t>
                      </a:r>
                      <a:endParaRPr kumimoji="0" lang="en-US" sz="900" b="0" i="0" u="none" strike="noStrike" cap="none" normalizeH="0" baseline="0">
                        <a:ln>
                          <a:noFill/>
                        </a:ln>
                        <a:solidFill>
                          <a:schemeClr val="tx1"/>
                        </a:solidFill>
                        <a:effectLst/>
                        <a:latin typeface="+mj-lt"/>
                        <a:ea typeface="MS PGothic"/>
                        <a:cs typeface="Arial"/>
                      </a:endParaRPr>
                    </a:p>
                  </a:txBody>
                  <a:tcPr marT="0" marB="0" anchor="ctr">
                    <a:lnL w="9524">
                      <a:solidFill>
                        <a:srgbClr val="FFFFFF"/>
                      </a:solidFill>
                    </a:lnL>
                    <a:lnR w="12700">
                      <a:solidFill>
                        <a:schemeClr val="bg1"/>
                      </a:solidFill>
                    </a:lnR>
                    <a:lnT w="12700">
                      <a:solidFill>
                        <a:schemeClr val="bg1"/>
                      </a:solidFill>
                    </a:lnT>
                    <a:lnB w="12700">
                      <a:solidFill>
                        <a:schemeClr val="bg1"/>
                      </a:solidFill>
                    </a:lnB>
                    <a:lnTlToBr w="0">
                      <a:noFill/>
                    </a:lnTlToBr>
                    <a:lnBlToTr w="0">
                      <a:noFill/>
                    </a:lnBlToTr>
                    <a:solidFill>
                      <a:srgbClr val="DDDDDD"/>
                    </a:solidFill>
                  </a:tcPr>
                </a:tc>
                <a:tc>
                  <a:txBody>
                    <a:bodyPr/>
                    <a:lstStyle/>
                    <a:p>
                      <a:pPr marL="0" marR="0" lvl="0" indent="0" algn="l" rtl="0">
                        <a:lnSpc>
                          <a:spcPct val="100000"/>
                        </a:lnSpc>
                        <a:spcBef>
                          <a:spcPts val="600"/>
                        </a:spcBef>
                        <a:spcAft>
                          <a:spcPts val="300"/>
                        </a:spcAft>
                        <a:buSzTx/>
                        <a:buFont typeface="Wingdings" pitchFamily="2" charset="2"/>
                        <a:buNone/>
                      </a:pPr>
                      <a:r>
                        <a:rPr lang="en-US" sz="900" b="0" i="0" u="none" strike="noStrike" cap="none" normalizeH="0" baseline="0">
                          <a:ln>
                            <a:noFill/>
                          </a:ln>
                          <a:solidFill>
                            <a:schemeClr val="tx1"/>
                          </a:solidFill>
                          <a:effectLst/>
                          <a:latin typeface="+mj-lt"/>
                          <a:ea typeface="MS PGothic"/>
                          <a:cs typeface="Arial"/>
                        </a:rPr>
                        <a:t>313 Billion</a:t>
                      </a:r>
                      <a:endParaRPr kumimoji="0" lang="en-US" sz="900" b="0" i="0" u="none" strike="noStrike" cap="none" normalizeH="0" baseline="0">
                        <a:ln>
                          <a:noFill/>
                        </a:ln>
                        <a:solidFill>
                          <a:schemeClr val="tx1"/>
                        </a:solidFill>
                        <a:effectLst/>
                        <a:latin typeface="+mj-lt"/>
                        <a:ea typeface="MS PGothic"/>
                        <a:cs typeface="Arial"/>
                      </a:endParaRPr>
                    </a:p>
                  </a:txBody>
                  <a:tcPr marT="0" marB="0" anchor="ctr">
                    <a:lnL w="12700">
                      <a:solidFill>
                        <a:schemeClr val="bg1"/>
                      </a:solidFill>
                    </a:lnL>
                    <a:lnR w="9524">
                      <a:solidFill>
                        <a:srgbClr val="FFFFFF"/>
                      </a:solidFill>
                    </a:lnR>
                    <a:lnT w="12700">
                      <a:solidFill>
                        <a:schemeClr val="bg1"/>
                      </a:solidFill>
                    </a:lnT>
                    <a:lnB w="12700">
                      <a:solidFill>
                        <a:schemeClr val="bg1"/>
                      </a:solidFill>
                    </a:lnB>
                    <a:lnTlToBr w="0">
                      <a:noFill/>
                    </a:lnTlToBr>
                    <a:lnBlToTr w="0">
                      <a:noFill/>
                    </a:lnBlToTr>
                    <a:solidFill>
                      <a:schemeClr val="bg2"/>
                    </a:solidFill>
                  </a:tcPr>
                </a:tc>
                <a:extLst>
                  <a:ext uri="{0D108BD9-81ED-4DB2-BD59-A6C34878D82A}">
                    <a16:rowId xmlns:a16="http://schemas.microsoft.com/office/drawing/2014/main" val="10003"/>
                  </a:ext>
                </a:extLst>
              </a:tr>
              <a:tr h="370399">
                <a:tc gridSpan="2">
                  <a:txBody>
                    <a:bodyPr/>
                    <a:lstStyle/>
                    <a:p>
                      <a:pPr marL="0" marR="0" lvl="0" indent="0" algn="l" defTabSz="914400" rtl="0" eaLnBrk="1" fontAlgn="base" latinLnBrk="0" hangingPunct="1">
                        <a:lnSpc>
                          <a:spcPct val="100000"/>
                        </a:lnSpc>
                        <a:spcBef>
                          <a:spcPts val="600"/>
                        </a:spcBef>
                        <a:spcAft>
                          <a:spcPts val="300"/>
                        </a:spcAft>
                        <a:buClr>
                          <a:srgbClr val="003399"/>
                        </a:buClr>
                        <a:buSzTx/>
                        <a:buFont typeface="Wingdings" pitchFamily="2" charset="2"/>
                        <a:buNone/>
                        <a:tabLst/>
                      </a:pPr>
                      <a:r>
                        <a:rPr kumimoji="0" lang="en-US" sz="900" b="1" i="0" u="none" strike="noStrike" cap="none" normalizeH="0" baseline="0">
                          <a:ln>
                            <a:noFill/>
                          </a:ln>
                          <a:solidFill>
                            <a:schemeClr val="bg1"/>
                          </a:solidFill>
                          <a:effectLst/>
                          <a:latin typeface="+mj-lt"/>
                          <a:ea typeface="MS PGothic"/>
                          <a:cs typeface="Arial"/>
                        </a:rPr>
                        <a:t>Key Industry Averages</a:t>
                      </a:r>
                    </a:p>
                  </a:txBody>
                  <a:tcPr marT="0" marB="0" anchor="ctr" horzOverflow="overflow">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50000"/>
                      </a:schemeClr>
                    </a:solidFill>
                  </a:tcPr>
                </a:tc>
                <a:tc hMerge="1">
                  <a:txBody>
                    <a:bodyPr/>
                    <a:lstStyle/>
                    <a:p>
                      <a:endParaRPr lang="en-US"/>
                    </a:p>
                  </a:txBody>
                  <a:tcPr/>
                </a:tc>
                <a:extLst>
                  <a:ext uri="{0D108BD9-81ED-4DB2-BD59-A6C34878D82A}">
                    <a16:rowId xmlns:a16="http://schemas.microsoft.com/office/drawing/2014/main" val="10008"/>
                  </a:ext>
                </a:extLst>
              </a:tr>
              <a:tr h="427972">
                <a:tc>
                  <a:txBody>
                    <a:bodyPr/>
                    <a:lstStyle/>
                    <a:p>
                      <a:pPr marL="0" marR="0" lvl="0" indent="0" algn="l" rtl="0" eaLnBrk="1" fontAlgn="base" latinLnBrk="0" hangingPunct="1">
                        <a:lnSpc>
                          <a:spcPct val="100000"/>
                        </a:lnSpc>
                        <a:spcBef>
                          <a:spcPts val="600"/>
                        </a:spcBef>
                        <a:spcAft>
                          <a:spcPts val="300"/>
                        </a:spcAft>
                        <a:buClr>
                          <a:srgbClr val="003399"/>
                        </a:buClr>
                        <a:buSzTx/>
                        <a:buFont typeface="Wingdings" pitchFamily="2" charset="2"/>
                        <a:buNone/>
                      </a:pPr>
                      <a:r>
                        <a:rPr kumimoji="0" lang="en-US" sz="900" b="0" i="0" u="none" strike="noStrike" cap="none" normalizeH="0" baseline="0">
                          <a:ln>
                            <a:noFill/>
                          </a:ln>
                          <a:solidFill>
                            <a:schemeClr val="tx1"/>
                          </a:solidFill>
                          <a:effectLst/>
                          <a:latin typeface="+mj-lt"/>
                          <a:ea typeface="MS PGothic"/>
                          <a:cs typeface="Arial"/>
                        </a:rPr>
                        <a:t>Total Debt/EV</a:t>
                      </a:r>
                      <a:r>
                        <a:rPr lang="en-US" sz="900" b="0" i="0" u="none" strike="noStrike" cap="none" normalizeH="0" baseline="0">
                          <a:ln>
                            <a:noFill/>
                          </a:ln>
                          <a:solidFill>
                            <a:schemeClr val="tx1"/>
                          </a:solidFill>
                          <a:effectLst/>
                          <a:latin typeface="+mj-lt"/>
                          <a:ea typeface="MS PGothic"/>
                          <a:cs typeface="Arial"/>
                        </a:rPr>
                        <a:t> ratio</a:t>
                      </a:r>
                      <a:endParaRPr kumimoji="0" lang="en-US" sz="900" b="0" i="0" u="none" strike="noStrike" cap="none" normalizeH="0" baseline="0">
                        <a:ln>
                          <a:noFill/>
                        </a:ln>
                        <a:solidFill>
                          <a:schemeClr val="tx1"/>
                        </a:solidFill>
                        <a:effectLst/>
                        <a:latin typeface="+mj-lt"/>
                        <a:ea typeface="MS PGothic" pitchFamily="34" charset="-128"/>
                        <a:cs typeface="Arial" charset="0"/>
                      </a:endParaRPr>
                    </a:p>
                  </a:txBody>
                  <a:tcPr marT="0" marB="0" anchor="ctr" horzOverflow="overflow">
                    <a:lnL w="9525"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ts val="600"/>
                        </a:spcBef>
                        <a:spcAft>
                          <a:spcPts val="300"/>
                        </a:spcAft>
                        <a:buClr>
                          <a:srgbClr val="003399"/>
                        </a:buClr>
                        <a:buSzTx/>
                        <a:buFont typeface="Wingdings" pitchFamily="2" charset="2"/>
                        <a:buNone/>
                        <a:tabLst/>
                      </a:pPr>
                      <a:r>
                        <a:rPr lang="en-US" sz="900" b="0" i="0" u="none" strike="noStrike" cap="none" normalizeH="0" baseline="0">
                          <a:ln>
                            <a:noFill/>
                          </a:ln>
                          <a:solidFill>
                            <a:schemeClr val="tx1"/>
                          </a:solidFill>
                          <a:effectLst/>
                          <a:latin typeface="+mj-lt"/>
                          <a:ea typeface="MS PGothic"/>
                          <a:cs typeface="Arial"/>
                        </a:rPr>
                        <a:t>65.6%</a:t>
                      </a:r>
                      <a:endParaRPr kumimoji="0" lang="en-US" sz="900" b="0" i="0" u="none" strike="noStrike" cap="none" normalizeH="0" baseline="0">
                        <a:ln>
                          <a:noFill/>
                        </a:ln>
                        <a:solidFill>
                          <a:schemeClr val="tx1"/>
                        </a:solidFill>
                        <a:effectLst/>
                        <a:latin typeface="+mj-lt"/>
                        <a:ea typeface="MS PGothic"/>
                        <a:cs typeface="Arial"/>
                      </a:endParaRPr>
                    </a:p>
                  </a:txBody>
                  <a:tcPr marT="0" marB="0" anchor="ctr" horzOverflow="overflow">
                    <a:lnL w="12700" cap="flat" cmpd="sng" algn="ctr">
                      <a:solidFill>
                        <a:schemeClr val="bg1"/>
                      </a:solidFill>
                      <a:prstDash val="solid"/>
                      <a:round/>
                      <a:headEnd type="none" w="med" len="med"/>
                      <a:tailEnd type="none" w="med" len="med"/>
                    </a:lnL>
                    <a:lnR w="9525"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10"/>
                  </a:ext>
                </a:extLst>
              </a:tr>
              <a:tr h="370399">
                <a:tc>
                  <a:txBody>
                    <a:bodyPr/>
                    <a:lstStyle/>
                    <a:p>
                      <a:pPr marL="0" marR="0" lvl="0" indent="0" algn="l" defTabSz="914400" rtl="0" eaLnBrk="1" fontAlgn="base" latinLnBrk="0" hangingPunct="1">
                        <a:lnSpc>
                          <a:spcPct val="100000"/>
                        </a:lnSpc>
                        <a:spcBef>
                          <a:spcPts val="600"/>
                        </a:spcBef>
                        <a:spcAft>
                          <a:spcPts val="300"/>
                        </a:spcAft>
                        <a:buClr>
                          <a:srgbClr val="003399"/>
                        </a:buClr>
                        <a:buSzTx/>
                        <a:buFont typeface="Wingdings" pitchFamily="2" charset="2"/>
                        <a:buNone/>
                        <a:tabLst/>
                      </a:pPr>
                      <a:r>
                        <a:rPr kumimoji="0" lang="en-US" sz="900" b="0" i="0" u="none" strike="noStrike" cap="none" normalizeH="0" baseline="0">
                          <a:ln>
                            <a:noFill/>
                          </a:ln>
                          <a:solidFill>
                            <a:schemeClr val="tx1"/>
                          </a:solidFill>
                          <a:effectLst/>
                          <a:latin typeface="+mj-lt"/>
                          <a:ea typeface="MS PGothic"/>
                          <a:cs typeface="Arial"/>
                        </a:rPr>
                        <a:t>EBITDA margin</a:t>
                      </a:r>
                    </a:p>
                  </a:txBody>
                  <a:tcPr marT="0" marB="0" anchor="ctr" horzOverflow="overflow">
                    <a:lnL w="9525"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ts val="600"/>
                        </a:spcBef>
                        <a:spcAft>
                          <a:spcPts val="300"/>
                        </a:spcAft>
                        <a:buClr>
                          <a:srgbClr val="003399"/>
                        </a:buClr>
                        <a:buSzTx/>
                        <a:buFont typeface="Wingdings" pitchFamily="2" charset="2"/>
                        <a:buNone/>
                        <a:tabLst/>
                      </a:pPr>
                      <a:r>
                        <a:rPr lang="en-US" sz="900" b="0" i="0" u="none" strike="noStrike" cap="none" normalizeH="0" baseline="0">
                          <a:ln>
                            <a:noFill/>
                          </a:ln>
                          <a:solidFill>
                            <a:schemeClr val="tx1"/>
                          </a:solidFill>
                          <a:effectLst/>
                          <a:latin typeface="+mj-lt"/>
                          <a:ea typeface="MS PGothic"/>
                          <a:cs typeface="Arial"/>
                        </a:rPr>
                        <a:t>13%</a:t>
                      </a:r>
                      <a:endParaRPr kumimoji="0" lang="en-US" sz="900" b="0" i="0" u="none" strike="noStrike" cap="none" normalizeH="0" baseline="0">
                        <a:ln>
                          <a:noFill/>
                        </a:ln>
                        <a:solidFill>
                          <a:schemeClr val="tx1"/>
                        </a:solidFill>
                        <a:effectLst/>
                        <a:latin typeface="+mj-lt"/>
                        <a:ea typeface="MS PGothic" pitchFamily="34" charset="-128"/>
                        <a:cs typeface="Arial" charset="0"/>
                      </a:endParaRPr>
                    </a:p>
                  </a:txBody>
                  <a:tcPr marT="0" marB="0" anchor="ctr" horzOverflow="overflow">
                    <a:lnL w="12700" cap="flat" cmpd="sng" algn="ctr">
                      <a:solidFill>
                        <a:schemeClr val="bg1"/>
                      </a:solidFill>
                      <a:prstDash val="solid"/>
                      <a:round/>
                      <a:headEnd type="none" w="med" len="med"/>
                      <a:tailEnd type="none" w="med" len="med"/>
                    </a:lnL>
                    <a:lnR w="9525"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11"/>
                  </a:ext>
                </a:extLst>
              </a:tr>
              <a:tr h="370399">
                <a:tc>
                  <a:txBody>
                    <a:bodyPr/>
                    <a:lstStyle/>
                    <a:p>
                      <a:pPr marL="0" marR="0" lvl="0" indent="0" algn="l" rtl="0" eaLnBrk="1" fontAlgn="base" latinLnBrk="0" hangingPunct="1">
                        <a:lnSpc>
                          <a:spcPct val="100000"/>
                        </a:lnSpc>
                        <a:spcBef>
                          <a:spcPts val="600"/>
                        </a:spcBef>
                        <a:spcAft>
                          <a:spcPts val="300"/>
                        </a:spcAft>
                        <a:buClr>
                          <a:srgbClr val="003399"/>
                        </a:buClr>
                        <a:buSzTx/>
                        <a:buFont typeface="Wingdings" pitchFamily="2" charset="2"/>
                        <a:buNone/>
                      </a:pPr>
                      <a:r>
                        <a:rPr kumimoji="0" lang="en-US" sz="900" b="0" i="0" u="none" strike="noStrike" cap="none" normalizeH="0" baseline="0">
                          <a:ln>
                            <a:noFill/>
                          </a:ln>
                          <a:solidFill>
                            <a:schemeClr val="tx1"/>
                          </a:solidFill>
                          <a:effectLst/>
                          <a:latin typeface="+mj-lt"/>
                          <a:ea typeface="MS PGothic"/>
                          <a:cs typeface="Arial"/>
                        </a:rPr>
                        <a:t>EV/EBITDA</a:t>
                      </a:r>
                      <a:r>
                        <a:rPr lang="en-US" sz="900" b="0" i="0" u="none" strike="noStrike" cap="none" normalizeH="0" baseline="0">
                          <a:ln>
                            <a:noFill/>
                          </a:ln>
                          <a:solidFill>
                            <a:schemeClr val="tx1"/>
                          </a:solidFill>
                          <a:effectLst/>
                          <a:latin typeface="+mj-lt"/>
                          <a:ea typeface="MS PGothic"/>
                          <a:cs typeface="Arial"/>
                        </a:rPr>
                        <a:t> </a:t>
                      </a:r>
                      <a:endParaRPr kumimoji="0" lang="en-US" sz="900" b="0" i="0" u="none" strike="noStrike" cap="none" normalizeH="0" baseline="0">
                        <a:ln>
                          <a:noFill/>
                        </a:ln>
                        <a:solidFill>
                          <a:schemeClr val="tx1"/>
                        </a:solidFill>
                        <a:effectLst/>
                        <a:latin typeface="+mj-lt"/>
                        <a:ea typeface="MS PGothic" pitchFamily="34" charset="-128"/>
                        <a:cs typeface="Arial" charset="0"/>
                      </a:endParaRPr>
                    </a:p>
                  </a:txBody>
                  <a:tcPr marT="0" marB="0" anchor="ctr" horzOverflow="overflow">
                    <a:lnL w="9525"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a:lnSpc>
                          <a:spcPct val="100000"/>
                        </a:lnSpc>
                        <a:spcBef>
                          <a:spcPts val="600"/>
                        </a:spcBef>
                        <a:spcAft>
                          <a:spcPts val="300"/>
                        </a:spcAft>
                        <a:buNone/>
                        <a:tabLst/>
                      </a:pPr>
                      <a:r>
                        <a:rPr lang="en-US" sz="900" b="0" i="0" u="none" strike="noStrike" cap="none" normalizeH="0" baseline="0" noProof="0">
                          <a:ln>
                            <a:noFill/>
                          </a:ln>
                          <a:solidFill>
                            <a:schemeClr val="tx1"/>
                          </a:solidFill>
                          <a:effectLst/>
                        </a:rPr>
                        <a:t>15.8x</a:t>
                      </a:r>
                      <a:endParaRPr kumimoji="0" lang="en-US" sz="900" b="0" i="0" u="none" strike="noStrike" cap="none" normalizeH="0" baseline="0" noProof="0">
                        <a:ln>
                          <a:noFill/>
                        </a:ln>
                        <a:solidFill>
                          <a:schemeClr val="tx1"/>
                        </a:solidFill>
                        <a:effectLst/>
                      </a:endParaRPr>
                    </a:p>
                  </a:txBody>
                  <a:tcPr marT="0" marB="0" anchor="ctr" horzOverflow="overflow">
                    <a:lnL w="12700" cap="flat" cmpd="sng" algn="ctr">
                      <a:solidFill>
                        <a:schemeClr val="bg1"/>
                      </a:solidFill>
                      <a:prstDash val="solid"/>
                      <a:round/>
                      <a:headEnd type="none" w="med" len="med"/>
                      <a:tailEnd type="none" w="med" len="med"/>
                    </a:lnL>
                    <a:lnR w="9525"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12"/>
                  </a:ext>
                </a:extLst>
              </a:tr>
              <a:tr h="370399">
                <a:tc>
                  <a:txBody>
                    <a:bodyPr/>
                    <a:lstStyle/>
                    <a:p>
                      <a:pPr marL="0" marR="0" lvl="0" indent="0" algn="l" defTabSz="914400" rtl="0" eaLnBrk="1" fontAlgn="base" latinLnBrk="0" hangingPunct="1">
                        <a:lnSpc>
                          <a:spcPct val="100000"/>
                        </a:lnSpc>
                        <a:spcBef>
                          <a:spcPts val="600"/>
                        </a:spcBef>
                        <a:spcAft>
                          <a:spcPts val="300"/>
                        </a:spcAft>
                        <a:buClr>
                          <a:srgbClr val="003399"/>
                        </a:buClr>
                        <a:buSzTx/>
                        <a:buFont typeface="Wingdings" pitchFamily="2" charset="2"/>
                        <a:buNone/>
                        <a:tabLst/>
                      </a:pPr>
                      <a:r>
                        <a:rPr kumimoji="0" lang="en-US" sz="900" b="0" i="0" u="none" strike="noStrike" cap="none" normalizeH="0" baseline="0">
                          <a:ln>
                            <a:noFill/>
                          </a:ln>
                          <a:solidFill>
                            <a:schemeClr val="tx1"/>
                          </a:solidFill>
                          <a:effectLst/>
                          <a:latin typeface="+mj-lt"/>
                          <a:ea typeface="MS PGothic"/>
                          <a:cs typeface="Arial"/>
                        </a:rPr>
                        <a:t>P/E Ratio</a:t>
                      </a:r>
                    </a:p>
                  </a:txBody>
                  <a:tcPr marT="0" marB="0" anchor="ctr" horzOverflow="overflow">
                    <a:lnL w="9525"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ts val="600"/>
                        </a:spcBef>
                        <a:spcAft>
                          <a:spcPts val="300"/>
                        </a:spcAft>
                        <a:buClr>
                          <a:srgbClr val="003399"/>
                        </a:buClr>
                        <a:buSzTx/>
                        <a:buFont typeface="Wingdings" pitchFamily="2" charset="2"/>
                        <a:buNone/>
                        <a:tabLst/>
                      </a:pPr>
                      <a:r>
                        <a:rPr lang="en-US" sz="900" b="0" i="0" u="none" strike="noStrike" cap="none" normalizeH="0" baseline="0">
                          <a:ln>
                            <a:noFill/>
                          </a:ln>
                          <a:solidFill>
                            <a:schemeClr val="tx1"/>
                          </a:solidFill>
                          <a:effectLst/>
                          <a:latin typeface="+mj-lt"/>
                          <a:ea typeface="MS PGothic"/>
                          <a:cs typeface="Arial"/>
                        </a:rPr>
                        <a:t>19.6x</a:t>
                      </a:r>
                      <a:endParaRPr kumimoji="0" lang="en-US" sz="900" b="0" i="0" u="none" strike="noStrike" cap="none" normalizeH="0" baseline="0">
                        <a:ln>
                          <a:noFill/>
                        </a:ln>
                        <a:solidFill>
                          <a:schemeClr val="tx1"/>
                        </a:solidFill>
                        <a:effectLst/>
                        <a:latin typeface="+mj-lt"/>
                        <a:ea typeface="MS PGothic"/>
                        <a:cs typeface="Arial"/>
                      </a:endParaRPr>
                    </a:p>
                  </a:txBody>
                  <a:tcPr marT="0" marB="0" anchor="ctr" horzOverflow="overflow">
                    <a:lnL w="12700" cap="flat" cmpd="sng" algn="ctr">
                      <a:solidFill>
                        <a:schemeClr val="bg1"/>
                      </a:solidFill>
                      <a:prstDash val="solid"/>
                      <a:round/>
                      <a:headEnd type="none" w="med" len="med"/>
                      <a:tailEnd type="none" w="med" len="med"/>
                    </a:lnL>
                    <a:lnR w="9525"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13"/>
                  </a:ext>
                </a:extLst>
              </a:tr>
              <a:tr h="370399">
                <a:tc gridSpan="2">
                  <a:txBody>
                    <a:bodyPr/>
                    <a:lstStyle/>
                    <a:p>
                      <a:pPr marL="0" marR="0" lvl="0" indent="0" algn="l" defTabSz="914400" rtl="0" eaLnBrk="1" fontAlgn="base" latinLnBrk="0" hangingPunct="1">
                        <a:lnSpc>
                          <a:spcPct val="100000"/>
                        </a:lnSpc>
                        <a:spcBef>
                          <a:spcPts val="600"/>
                        </a:spcBef>
                        <a:spcAft>
                          <a:spcPts val="300"/>
                        </a:spcAft>
                        <a:buClr>
                          <a:srgbClr val="003399"/>
                        </a:buClr>
                        <a:buSzTx/>
                        <a:buFont typeface="Wingdings" pitchFamily="2" charset="2"/>
                        <a:buNone/>
                        <a:tabLst/>
                        <a:defRPr/>
                      </a:pPr>
                      <a:r>
                        <a:rPr kumimoji="0" lang="en-US" sz="900" b="1" i="0" u="none" strike="noStrike" kern="1200" cap="none" normalizeH="0" baseline="0">
                          <a:ln>
                            <a:noFill/>
                          </a:ln>
                          <a:solidFill>
                            <a:schemeClr val="bg1"/>
                          </a:solidFill>
                          <a:effectLst/>
                          <a:latin typeface="+mj-lt"/>
                          <a:ea typeface="MS PGothic"/>
                          <a:cs typeface="Arial"/>
                        </a:rPr>
                        <a:t>Global Industry</a:t>
                      </a:r>
                    </a:p>
                  </a:txBody>
                  <a:tcPr marT="0" marB="0" anchor="ctr" horzOverflow="overflow">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50000"/>
                      </a:schemeClr>
                    </a:solidFill>
                  </a:tcPr>
                </a:tc>
                <a:tc hMerge="1">
                  <a:txBody>
                    <a:bodyPr/>
                    <a:lstStyle/>
                    <a:p>
                      <a:pPr marL="0" marR="0" lvl="0" indent="0" algn="l" defTabSz="914400" rtl="0" eaLnBrk="1" fontAlgn="base" latinLnBrk="0" hangingPunct="1">
                        <a:lnSpc>
                          <a:spcPct val="100000"/>
                        </a:lnSpc>
                        <a:spcBef>
                          <a:spcPct val="0"/>
                        </a:spcBef>
                        <a:spcAft>
                          <a:spcPct val="0"/>
                        </a:spcAft>
                        <a:buClr>
                          <a:srgbClr val="003399"/>
                        </a:buClr>
                        <a:buSzTx/>
                        <a:buFont typeface="Wingdings" pitchFamily="2" charset="2"/>
                        <a:buNone/>
                        <a:tabLst/>
                      </a:pPr>
                      <a:endParaRPr kumimoji="0" lang="en-US" sz="1000" b="0" i="0" u="none" strike="noStrike" cap="none" normalizeH="0" baseline="0">
                        <a:ln>
                          <a:noFill/>
                        </a:ln>
                        <a:solidFill>
                          <a:schemeClr val="tx1"/>
                        </a:solidFill>
                        <a:effectLst/>
                        <a:latin typeface="Helvetica" pitchFamily="34" charset="0"/>
                        <a:ea typeface="MS PGothic" pitchFamily="34" charset="-128"/>
                        <a:cs typeface="Arial" charset="0"/>
                      </a:endParaRPr>
                    </a:p>
                  </a:txBody>
                  <a:tcPr marT="0" marB="0" anchor="ctr" horzOverflow="overflow">
                    <a:lnL w="12700" cap="flat" cmpd="sng" algn="ctr">
                      <a:solidFill>
                        <a:schemeClr val="bg1"/>
                      </a:solidFill>
                      <a:prstDash val="solid"/>
                      <a:round/>
                      <a:headEnd type="none" w="med" len="med"/>
                      <a:tailEnd type="none" w="med" len="med"/>
                    </a:lnL>
                    <a:lnR w="9525"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15"/>
                  </a:ext>
                </a:extLst>
              </a:tr>
              <a:tr h="370399">
                <a:tc>
                  <a:txBody>
                    <a:bodyPr/>
                    <a:lstStyle/>
                    <a:p>
                      <a:pPr marL="0" marR="0" lvl="0" indent="0" algn="l" defTabSz="914400" rtl="0" eaLnBrk="1" fontAlgn="base" latinLnBrk="0" hangingPunct="1">
                        <a:lnSpc>
                          <a:spcPct val="100000"/>
                        </a:lnSpc>
                        <a:spcBef>
                          <a:spcPts val="600"/>
                        </a:spcBef>
                        <a:spcAft>
                          <a:spcPts val="300"/>
                        </a:spcAft>
                        <a:buClr>
                          <a:srgbClr val="003399"/>
                        </a:buClr>
                        <a:buSzTx/>
                        <a:buFont typeface="Wingdings" pitchFamily="2" charset="2"/>
                        <a:buNone/>
                        <a:tabLst/>
                      </a:pPr>
                      <a:r>
                        <a:rPr kumimoji="0" lang="en-US" sz="900" b="0" i="0" u="none" strike="noStrike" cap="none" normalizeH="0" baseline="0">
                          <a:ln>
                            <a:noFill/>
                          </a:ln>
                          <a:solidFill>
                            <a:schemeClr val="tx1"/>
                          </a:solidFill>
                          <a:effectLst/>
                          <a:latin typeface="+mj-lt"/>
                          <a:ea typeface="MS PGothic"/>
                          <a:cs typeface="Arial"/>
                        </a:rPr>
                        <a:t>Total revenues</a:t>
                      </a:r>
                    </a:p>
                  </a:txBody>
                  <a:tcPr marT="0" marB="0" anchor="ctr" horzOverflow="overflow">
                    <a:lnL w="9525" cap="flat" cmpd="sng" algn="ctr">
                      <a:solidFill>
                        <a:srgbClr val="FFFF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rtl="0" eaLnBrk="1" fontAlgn="base" latinLnBrk="0" hangingPunct="1">
                        <a:lnSpc>
                          <a:spcPct val="100000"/>
                        </a:lnSpc>
                        <a:spcBef>
                          <a:spcPts val="600"/>
                        </a:spcBef>
                        <a:spcAft>
                          <a:spcPts val="300"/>
                        </a:spcAft>
                        <a:buClr>
                          <a:srgbClr val="003399"/>
                        </a:buClr>
                        <a:buSzTx/>
                        <a:buFont typeface="Wingdings" pitchFamily="2" charset="2"/>
                        <a:buNone/>
                      </a:pPr>
                      <a:r>
                        <a:rPr lang="en-US" sz="900" b="0" i="0" u="none" strike="noStrike" cap="none" normalizeH="0" baseline="0">
                          <a:ln>
                            <a:noFill/>
                          </a:ln>
                          <a:solidFill>
                            <a:schemeClr val="tx1"/>
                          </a:solidFill>
                          <a:effectLst/>
                          <a:latin typeface="+mj-lt"/>
                          <a:ea typeface="MS PGothic"/>
                          <a:cs typeface="Arial"/>
                        </a:rPr>
                        <a:t>$3001 Billion </a:t>
                      </a:r>
                      <a:endParaRPr kumimoji="0" lang="en-US" sz="900" b="0" i="0" u="none" strike="noStrike" cap="none" normalizeH="0" baseline="0">
                        <a:ln>
                          <a:noFill/>
                        </a:ln>
                        <a:solidFill>
                          <a:schemeClr val="tx1"/>
                        </a:solidFill>
                        <a:effectLst/>
                        <a:latin typeface="+mj-lt"/>
                        <a:ea typeface="MS PGothic"/>
                        <a:cs typeface="Arial"/>
                      </a:endParaRPr>
                    </a:p>
                  </a:txBody>
                  <a:tcPr marT="0" marB="0" anchor="ctr" horzOverflow="overflow">
                    <a:lnL w="12700" cap="flat" cmpd="sng" algn="ctr">
                      <a:solidFill>
                        <a:schemeClr val="bg1"/>
                      </a:solidFill>
                      <a:prstDash val="solid"/>
                      <a:round/>
                      <a:headEnd type="none" w="med" len="med"/>
                      <a:tailEnd type="none" w="med" len="med"/>
                    </a:lnL>
                    <a:lnR w="9525"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16"/>
                  </a:ext>
                </a:extLst>
              </a:tr>
            </a:tbl>
          </a:graphicData>
        </a:graphic>
      </p:graphicFrame>
      <p:sp>
        <p:nvSpPr>
          <p:cNvPr id="25" name="TextBox 24">
            <a:extLst>
              <a:ext uri="{FF2B5EF4-FFF2-40B4-BE49-F238E27FC236}">
                <a16:creationId xmlns:a16="http://schemas.microsoft.com/office/drawing/2014/main" id="{D536C543-B46B-4E0D-8C94-3A99BCB109CC}"/>
              </a:ext>
            </a:extLst>
          </p:cNvPr>
          <p:cNvSpPr txBox="1"/>
          <p:nvPr/>
        </p:nvSpPr>
        <p:spPr>
          <a:xfrm>
            <a:off x="590257" y="1205859"/>
            <a:ext cx="5812457" cy="261610"/>
          </a:xfrm>
          <a:prstGeom prst="rect">
            <a:avLst/>
          </a:prstGeom>
          <a:solidFill>
            <a:srgbClr val="502604"/>
          </a:solidFill>
        </p:spPr>
        <p:txBody>
          <a:bodyPr wrap="square" lIns="91440" tIns="45720" rIns="91440" bIns="45720" rtlCol="0" anchor="t">
            <a:spAutoFit/>
          </a:bodyPr>
          <a:lstStyle/>
          <a:p>
            <a:r>
              <a:rPr lang="en-US" sz="1100" b="1">
                <a:solidFill>
                  <a:schemeClr val="bg1"/>
                </a:solidFill>
              </a:rPr>
              <a:t>Industry Overview (Packaged Food and Meats )</a:t>
            </a:r>
            <a:endParaRPr lang="en-CA" sz="1100" b="1">
              <a:solidFill>
                <a:schemeClr val="bg1"/>
              </a:solidFill>
            </a:endParaRPr>
          </a:p>
        </p:txBody>
      </p:sp>
      <p:sp>
        <p:nvSpPr>
          <p:cNvPr id="27" name="TextBox 26">
            <a:extLst>
              <a:ext uri="{FF2B5EF4-FFF2-40B4-BE49-F238E27FC236}">
                <a16:creationId xmlns:a16="http://schemas.microsoft.com/office/drawing/2014/main" id="{4AF743B8-EF17-4026-8B14-1A3A31552304}"/>
              </a:ext>
            </a:extLst>
          </p:cNvPr>
          <p:cNvSpPr txBox="1"/>
          <p:nvPr/>
        </p:nvSpPr>
        <p:spPr>
          <a:xfrm>
            <a:off x="6854800" y="1214930"/>
            <a:ext cx="4726400" cy="261610"/>
          </a:xfrm>
          <a:prstGeom prst="rect">
            <a:avLst/>
          </a:prstGeom>
          <a:solidFill>
            <a:srgbClr val="502604"/>
          </a:solidFill>
        </p:spPr>
        <p:txBody>
          <a:bodyPr wrap="square" lIns="91440" tIns="45720" rIns="91440" bIns="45720" rtlCol="0" anchor="t">
            <a:spAutoFit/>
          </a:bodyPr>
          <a:lstStyle/>
          <a:p>
            <a:r>
              <a:rPr lang="en-US" sz="1100" b="1">
                <a:solidFill>
                  <a:schemeClr val="bg1"/>
                </a:solidFill>
                <a:ea typeface="Open Sans Light"/>
                <a:cs typeface="Open Sans Light"/>
              </a:rPr>
              <a:t>Total Revenue of Chocolate Confectionary Market (2018-2028)</a:t>
            </a:r>
          </a:p>
        </p:txBody>
      </p:sp>
      <p:sp>
        <p:nvSpPr>
          <p:cNvPr id="6" name="Title 5">
            <a:extLst>
              <a:ext uri="{FF2B5EF4-FFF2-40B4-BE49-F238E27FC236}">
                <a16:creationId xmlns:a16="http://schemas.microsoft.com/office/drawing/2014/main" id="{55849CAB-E223-4380-85F9-A50D93B5CDDF}"/>
              </a:ext>
            </a:extLst>
          </p:cNvPr>
          <p:cNvSpPr>
            <a:spLocks noGrp="1"/>
          </p:cNvSpPr>
          <p:nvPr>
            <p:ph type="title"/>
          </p:nvPr>
        </p:nvSpPr>
        <p:spPr/>
        <p:txBody>
          <a:bodyPr/>
          <a:lstStyle/>
          <a:p>
            <a:r>
              <a:rPr lang="en-CA">
                <a:solidFill>
                  <a:srgbClr val="582A04"/>
                </a:solidFill>
              </a:rPr>
              <a:t>Key Industry Trends</a:t>
            </a:r>
          </a:p>
        </p:txBody>
      </p:sp>
      <p:cxnSp>
        <p:nvCxnSpPr>
          <p:cNvPr id="2" name="Straight Connector 1">
            <a:extLst>
              <a:ext uri="{FF2B5EF4-FFF2-40B4-BE49-F238E27FC236}">
                <a16:creationId xmlns:a16="http://schemas.microsoft.com/office/drawing/2014/main" id="{9CBAA5A2-756A-8FE1-8771-DE9B18876272}"/>
              </a:ext>
            </a:extLst>
          </p:cNvPr>
          <p:cNvCxnSpPr/>
          <p:nvPr/>
        </p:nvCxnSpPr>
        <p:spPr>
          <a:xfrm>
            <a:off x="0" y="992085"/>
            <a:ext cx="2185147" cy="0"/>
          </a:xfrm>
          <a:prstGeom prst="line">
            <a:avLst/>
          </a:prstGeom>
          <a:ln w="19050">
            <a:solidFill>
              <a:schemeClr val="bg2">
                <a:lumMod val="90000"/>
              </a:schemeClr>
            </a:solidFill>
          </a:ln>
        </p:spPr>
        <p:style>
          <a:lnRef idx="1">
            <a:schemeClr val="accent2"/>
          </a:lnRef>
          <a:fillRef idx="0">
            <a:schemeClr val="accent2"/>
          </a:fillRef>
          <a:effectRef idx="0">
            <a:schemeClr val="accent2"/>
          </a:effectRef>
          <a:fontRef idx="minor">
            <a:schemeClr val="tx1"/>
          </a:fontRef>
        </p:style>
      </p:cxnSp>
      <p:pic>
        <p:nvPicPr>
          <p:cNvPr id="9" name="Picture 8" descr="A graph of a bar chart&#10;&#10;Description automatically generated">
            <a:extLst>
              <a:ext uri="{FF2B5EF4-FFF2-40B4-BE49-F238E27FC236}">
                <a16:creationId xmlns:a16="http://schemas.microsoft.com/office/drawing/2014/main" id="{62A8DF30-A87F-18CB-A358-B7631579E7DE}"/>
              </a:ext>
            </a:extLst>
          </p:cNvPr>
          <p:cNvPicPr>
            <a:picLocks noChangeAspect="1"/>
          </p:cNvPicPr>
          <p:nvPr/>
        </p:nvPicPr>
        <p:blipFill rotWithShape="1">
          <a:blip r:embed="rId2"/>
          <a:srcRect r="201" b="10736"/>
          <a:stretch/>
        </p:blipFill>
        <p:spPr>
          <a:xfrm>
            <a:off x="6572394" y="1874753"/>
            <a:ext cx="5295384" cy="3273410"/>
          </a:xfrm>
          <a:prstGeom prst="rect">
            <a:avLst/>
          </a:prstGeom>
          <a:ln>
            <a:solidFill>
              <a:srgbClr val="582A04"/>
            </a:solidFill>
          </a:ln>
        </p:spPr>
      </p:pic>
    </p:spTree>
    <p:extLst>
      <p:ext uri="{BB962C8B-B14F-4D97-AF65-F5344CB8AC3E}">
        <p14:creationId xmlns:p14="http://schemas.microsoft.com/office/powerpoint/2010/main" val="3104302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 name="Rectangle 73"/>
          <p:cNvSpPr/>
          <p:nvPr/>
        </p:nvSpPr>
        <p:spPr bwMode="auto">
          <a:xfrm>
            <a:off x="612770" y="1715667"/>
            <a:ext cx="5095478" cy="64711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457189" fontAlgn="base">
              <a:spcBef>
                <a:spcPct val="0"/>
              </a:spcBef>
              <a:spcAft>
                <a:spcPct val="0"/>
              </a:spcAft>
              <a:defRPr/>
            </a:pPr>
            <a:r>
              <a:rPr lang="en-US" sz="1200" b="1">
                <a:solidFill>
                  <a:srgbClr val="000000"/>
                </a:solidFill>
                <a:ea typeface="ＭＳ Ｐゴシック"/>
                <a:cs typeface="Arial"/>
              </a:rPr>
              <a:t>Headwind 1: </a:t>
            </a:r>
            <a:r>
              <a:rPr lang="en-US" sz="1200">
                <a:solidFill>
                  <a:srgbClr val="000000"/>
                </a:solidFill>
                <a:ea typeface="ＭＳ Ｐゴシック"/>
                <a:cs typeface="Arial"/>
              </a:rPr>
              <a:t>Cocoa production has seemingly halted in the Ivory coast due to over-farming, adverse weather conditions, and crop diseases that were not anticipated. </a:t>
            </a:r>
          </a:p>
        </p:txBody>
      </p:sp>
      <p:sp>
        <p:nvSpPr>
          <p:cNvPr id="15" name="Rectangle 14">
            <a:extLst>
              <a:ext uri="{FF2B5EF4-FFF2-40B4-BE49-F238E27FC236}">
                <a16:creationId xmlns:a16="http://schemas.microsoft.com/office/drawing/2014/main" id="{6E612827-987B-49BF-B0F6-99CDED1E9E00}"/>
              </a:ext>
            </a:extLst>
          </p:cNvPr>
          <p:cNvSpPr/>
          <p:nvPr/>
        </p:nvSpPr>
        <p:spPr bwMode="auto">
          <a:xfrm>
            <a:off x="591893" y="2510176"/>
            <a:ext cx="5095478" cy="1035935"/>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457189" fontAlgn="base">
              <a:spcBef>
                <a:spcPct val="0"/>
              </a:spcBef>
              <a:spcAft>
                <a:spcPct val="0"/>
              </a:spcAft>
              <a:defRPr/>
            </a:pPr>
            <a:r>
              <a:rPr lang="en-US" sz="1200" b="1">
                <a:solidFill>
                  <a:srgbClr val="000000"/>
                </a:solidFill>
                <a:ea typeface="ＭＳ Ｐゴシック" pitchFamily="34" charset="-128"/>
                <a:cs typeface="Arial"/>
              </a:rPr>
              <a:t>Headwind 2: </a:t>
            </a:r>
            <a:r>
              <a:rPr lang="en-US" sz="1200">
                <a:solidFill>
                  <a:srgbClr val="000000"/>
                </a:solidFill>
                <a:ea typeface="ＭＳ Ｐゴシック" pitchFamily="34" charset="-128"/>
                <a:cs typeface="Arial"/>
              </a:rPr>
              <a:t>Palm oil futures are rising in accordance with cocoa due to over-farming, labor issues within Malaysia, and adverse weather conditions predicted in Indonesia. This is significant as 9/12 of Hershey’s suppliers are located in these two countries.</a:t>
            </a:r>
          </a:p>
        </p:txBody>
      </p:sp>
      <p:sp>
        <p:nvSpPr>
          <p:cNvPr id="16" name="Rectangle 15">
            <a:extLst>
              <a:ext uri="{FF2B5EF4-FFF2-40B4-BE49-F238E27FC236}">
                <a16:creationId xmlns:a16="http://schemas.microsoft.com/office/drawing/2014/main" id="{51104351-1875-42C8-A087-19B47A0D76CB}"/>
              </a:ext>
            </a:extLst>
          </p:cNvPr>
          <p:cNvSpPr/>
          <p:nvPr/>
        </p:nvSpPr>
        <p:spPr bwMode="auto">
          <a:xfrm>
            <a:off x="612770" y="3709715"/>
            <a:ext cx="5074602" cy="671767"/>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457189" fontAlgn="base">
              <a:spcBef>
                <a:spcPct val="0"/>
              </a:spcBef>
              <a:spcAft>
                <a:spcPct val="0"/>
              </a:spcAft>
              <a:defRPr/>
            </a:pPr>
            <a:r>
              <a:rPr lang="en-US" sz="1200" b="1">
                <a:solidFill>
                  <a:srgbClr val="000000"/>
                </a:solidFill>
                <a:ea typeface="ＭＳ Ｐゴシック"/>
                <a:cs typeface="Arial"/>
              </a:rPr>
              <a:t>Headwind 3: </a:t>
            </a:r>
            <a:r>
              <a:rPr lang="en-US" sz="1200">
                <a:solidFill>
                  <a:srgbClr val="000000"/>
                </a:solidFill>
                <a:ea typeface="ＭＳ Ｐゴシック"/>
                <a:cs typeface="Arial"/>
              </a:rPr>
              <a:t>Chocolate confectionary demand is continuously declining compared to other confectionary markets, which Hershey have a much smaller portion of.</a:t>
            </a:r>
          </a:p>
        </p:txBody>
      </p:sp>
      <p:sp>
        <p:nvSpPr>
          <p:cNvPr id="40" name="Title 1"/>
          <p:cNvSpPr>
            <a:spLocks noGrp="1"/>
          </p:cNvSpPr>
          <p:nvPr>
            <p:ph type="title"/>
          </p:nvPr>
        </p:nvSpPr>
        <p:spPr/>
        <p:txBody>
          <a:bodyPr lIns="91440" tIns="45720" rIns="91440" bIns="45720" anchor="t">
            <a:spAutoFit/>
          </a:bodyPr>
          <a:lstStyle/>
          <a:p>
            <a:r>
              <a:rPr lang="en-US" b="1">
                <a:solidFill>
                  <a:srgbClr val="582A04"/>
                </a:solidFill>
                <a:latin typeface="+mn-lt"/>
              </a:rPr>
              <a:t>Investment Reasoning – Why Bother Shorting?</a:t>
            </a:r>
          </a:p>
        </p:txBody>
      </p:sp>
      <p:sp>
        <p:nvSpPr>
          <p:cNvPr id="25" name="TextBox 24">
            <a:extLst>
              <a:ext uri="{FF2B5EF4-FFF2-40B4-BE49-F238E27FC236}">
                <a16:creationId xmlns:a16="http://schemas.microsoft.com/office/drawing/2014/main" id="{A9A8DCF5-C520-45B2-8A32-7902EB845721}"/>
              </a:ext>
            </a:extLst>
          </p:cNvPr>
          <p:cNvSpPr txBox="1"/>
          <p:nvPr/>
        </p:nvSpPr>
        <p:spPr>
          <a:xfrm>
            <a:off x="608400" y="1214930"/>
            <a:ext cx="10972800" cy="261610"/>
          </a:xfrm>
          <a:prstGeom prst="rect">
            <a:avLst/>
          </a:prstGeom>
          <a:solidFill>
            <a:srgbClr val="582A04"/>
          </a:solidFill>
        </p:spPr>
        <p:txBody>
          <a:bodyPr wrap="square" lIns="91440" tIns="45720" rIns="91440" bIns="45720" rtlCol="0" anchor="t">
            <a:spAutoFit/>
          </a:bodyPr>
          <a:lstStyle/>
          <a:p>
            <a:r>
              <a:rPr lang="en-US" sz="1100" b="1">
                <a:solidFill>
                  <a:schemeClr val="bg1"/>
                </a:solidFill>
              </a:rPr>
              <a:t>Investment Thesis</a:t>
            </a:r>
          </a:p>
        </p:txBody>
      </p:sp>
      <p:cxnSp>
        <p:nvCxnSpPr>
          <p:cNvPr id="5" name="Straight Connector 4">
            <a:extLst>
              <a:ext uri="{FF2B5EF4-FFF2-40B4-BE49-F238E27FC236}">
                <a16:creationId xmlns:a16="http://schemas.microsoft.com/office/drawing/2014/main" id="{B3E937F4-3F90-9878-F063-AAD5EF88A1F8}"/>
              </a:ext>
            </a:extLst>
          </p:cNvPr>
          <p:cNvCxnSpPr/>
          <p:nvPr/>
        </p:nvCxnSpPr>
        <p:spPr>
          <a:xfrm>
            <a:off x="0" y="1011749"/>
            <a:ext cx="2185147" cy="0"/>
          </a:xfrm>
          <a:prstGeom prst="line">
            <a:avLst/>
          </a:prstGeom>
          <a:ln w="19050">
            <a:solidFill>
              <a:schemeClr val="bg2">
                <a:lumMod val="90000"/>
              </a:schemeClr>
            </a:solidFill>
          </a:ln>
        </p:spPr>
        <p:style>
          <a:lnRef idx="1">
            <a:schemeClr val="accent2"/>
          </a:lnRef>
          <a:fillRef idx="0">
            <a:schemeClr val="accent2"/>
          </a:fillRef>
          <a:effectRef idx="0">
            <a:schemeClr val="accent2"/>
          </a:effectRef>
          <a:fontRef idx="minor">
            <a:schemeClr val="tx1"/>
          </a:fontRef>
        </p:style>
      </p:cxnSp>
      <p:pic>
        <p:nvPicPr>
          <p:cNvPr id="7" name="Picture 6">
            <a:extLst>
              <a:ext uri="{FF2B5EF4-FFF2-40B4-BE49-F238E27FC236}">
                <a16:creationId xmlns:a16="http://schemas.microsoft.com/office/drawing/2014/main" id="{73D50032-188A-FD91-06A9-21A5C3DB5399}"/>
              </a:ext>
            </a:extLst>
          </p:cNvPr>
          <p:cNvPicPr>
            <a:picLocks noChangeAspect="1"/>
          </p:cNvPicPr>
          <p:nvPr/>
        </p:nvPicPr>
        <p:blipFill rotWithShape="1">
          <a:blip r:embed="rId2"/>
          <a:srcRect r="1121" b="435"/>
          <a:stretch/>
        </p:blipFill>
        <p:spPr>
          <a:xfrm>
            <a:off x="5983200" y="2228850"/>
            <a:ext cx="5611725" cy="2389866"/>
          </a:xfrm>
          <a:prstGeom prst="rect">
            <a:avLst/>
          </a:prstGeom>
        </p:spPr>
      </p:pic>
      <p:sp>
        <p:nvSpPr>
          <p:cNvPr id="8" name="Rectangle 7">
            <a:extLst>
              <a:ext uri="{FF2B5EF4-FFF2-40B4-BE49-F238E27FC236}">
                <a16:creationId xmlns:a16="http://schemas.microsoft.com/office/drawing/2014/main" id="{09528627-A1B7-BF02-39B7-2C5304861601}"/>
              </a:ext>
            </a:extLst>
          </p:cNvPr>
          <p:cNvSpPr/>
          <p:nvPr/>
        </p:nvSpPr>
        <p:spPr bwMode="auto">
          <a:xfrm>
            <a:off x="6677455" y="1632159"/>
            <a:ext cx="4197780" cy="407032"/>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457189">
              <a:spcBef>
                <a:spcPct val="0"/>
              </a:spcBef>
              <a:spcAft>
                <a:spcPct val="0"/>
              </a:spcAft>
              <a:defRPr/>
            </a:pPr>
            <a:r>
              <a:rPr lang="en-US" b="1">
                <a:solidFill>
                  <a:srgbClr val="000000"/>
                </a:solidFill>
                <a:ea typeface="ＭＳ Ｐゴシック"/>
                <a:cs typeface="Arial"/>
              </a:rPr>
              <a:t>Analyst Consensus? They Don’t Know</a:t>
            </a:r>
            <a:endParaRPr lang="en-US"/>
          </a:p>
        </p:txBody>
      </p:sp>
      <p:sp>
        <p:nvSpPr>
          <p:cNvPr id="9" name="Rectangle 8">
            <a:extLst>
              <a:ext uri="{FF2B5EF4-FFF2-40B4-BE49-F238E27FC236}">
                <a16:creationId xmlns:a16="http://schemas.microsoft.com/office/drawing/2014/main" id="{FE249049-4205-BE62-0FC2-D642B8163438}"/>
              </a:ext>
            </a:extLst>
          </p:cNvPr>
          <p:cNvSpPr/>
          <p:nvPr/>
        </p:nvSpPr>
        <p:spPr bwMode="auto">
          <a:xfrm>
            <a:off x="2690004" y="5139769"/>
            <a:ext cx="6817807" cy="75527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457189">
              <a:spcBef>
                <a:spcPct val="0"/>
              </a:spcBef>
              <a:spcAft>
                <a:spcPct val="0"/>
              </a:spcAft>
              <a:defRPr/>
            </a:pPr>
            <a:r>
              <a:rPr lang="en-US" sz="1400" b="1">
                <a:solidFill>
                  <a:srgbClr val="000000"/>
                </a:solidFill>
                <a:ea typeface="ＭＳ Ｐゴシック"/>
                <a:cs typeface="Arial"/>
              </a:rPr>
              <a:t>Hershey is not prepared to for the upcoming agricultural markets, furthering their increase on prices. Consumers are not responding well, and will not continue to tolerate prices being put on them.</a:t>
            </a:r>
            <a:endParaRPr lang="en-US" sz="1400" b="1">
              <a:ea typeface="Open Sans Light"/>
              <a:cs typeface="Open Sans Light"/>
            </a:endParaRPr>
          </a:p>
        </p:txBody>
      </p:sp>
    </p:spTree>
    <p:extLst>
      <p:ext uri="{BB962C8B-B14F-4D97-AF65-F5344CB8AC3E}">
        <p14:creationId xmlns:p14="http://schemas.microsoft.com/office/powerpoint/2010/main" val="13422777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1" name="Picture 10" descr="A graph showing the growth of a stock market&#10;&#10;Description automatically generated">
            <a:extLst>
              <a:ext uri="{FF2B5EF4-FFF2-40B4-BE49-F238E27FC236}">
                <a16:creationId xmlns:a16="http://schemas.microsoft.com/office/drawing/2014/main" id="{E3334683-9C0D-67B5-32E7-2C30AC200D68}"/>
              </a:ext>
            </a:extLst>
          </p:cNvPr>
          <p:cNvPicPr>
            <a:picLocks noChangeAspect="1"/>
          </p:cNvPicPr>
          <p:nvPr/>
        </p:nvPicPr>
        <p:blipFill rotWithShape="1">
          <a:blip r:embed="rId2"/>
          <a:srcRect r="4788" b="-1544"/>
          <a:stretch/>
        </p:blipFill>
        <p:spPr>
          <a:xfrm>
            <a:off x="6014533" y="1629740"/>
            <a:ext cx="5557796" cy="2314944"/>
          </a:xfrm>
          <a:prstGeom prst="rect">
            <a:avLst/>
          </a:prstGeom>
        </p:spPr>
      </p:pic>
      <p:sp>
        <p:nvSpPr>
          <p:cNvPr id="74" name="Rectangle 73"/>
          <p:cNvSpPr/>
          <p:nvPr/>
        </p:nvSpPr>
        <p:spPr bwMode="auto">
          <a:xfrm>
            <a:off x="612770" y="1628857"/>
            <a:ext cx="5095478" cy="1032936"/>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457189">
              <a:spcBef>
                <a:spcPct val="0"/>
              </a:spcBef>
              <a:spcAft>
                <a:spcPct val="0"/>
              </a:spcAft>
              <a:defRPr/>
            </a:pPr>
            <a:r>
              <a:rPr lang="en-US" sz="1200">
                <a:solidFill>
                  <a:srgbClr val="000000"/>
                </a:solidFill>
                <a:ea typeface="ＭＳ Ｐゴシック"/>
                <a:cs typeface="Arial"/>
              </a:rPr>
              <a:t>Global cocoa production is expected to fall to</a:t>
            </a:r>
            <a:r>
              <a:rPr lang="en-US" sz="1200" b="1">
                <a:solidFill>
                  <a:srgbClr val="000000"/>
                </a:solidFill>
                <a:ea typeface="ＭＳ Ｐゴシック"/>
                <a:cs typeface="Arial"/>
              </a:rPr>
              <a:t> 4.5 million metric tons </a:t>
            </a:r>
            <a:r>
              <a:rPr lang="en-US" sz="1200">
                <a:solidFill>
                  <a:srgbClr val="000000"/>
                </a:solidFill>
                <a:ea typeface="ＭＳ Ｐゴシック"/>
                <a:cs typeface="Arial"/>
              </a:rPr>
              <a:t>in the current crop year, resulting additional </a:t>
            </a:r>
            <a:r>
              <a:rPr lang="en-US" sz="1200" b="1">
                <a:solidFill>
                  <a:srgbClr val="000000"/>
                </a:solidFill>
                <a:ea typeface="ＭＳ Ｐゴシック"/>
                <a:cs typeface="Arial"/>
              </a:rPr>
              <a:t>330,000 metric tons</a:t>
            </a:r>
            <a:r>
              <a:rPr lang="en-US" sz="1200">
                <a:solidFill>
                  <a:srgbClr val="000000"/>
                </a:solidFill>
                <a:ea typeface="ＭＳ Ｐゴシック"/>
                <a:cs typeface="Arial"/>
              </a:rPr>
              <a:t> still needed to meet demand. This imbalance is supposed to worsen in the next coming years, expecting to cover only </a:t>
            </a:r>
            <a:r>
              <a:rPr lang="en-US" sz="1200" b="1">
                <a:solidFill>
                  <a:srgbClr val="000000"/>
                </a:solidFill>
                <a:ea typeface="ＭＳ Ｐゴシック"/>
                <a:cs typeface="Arial"/>
              </a:rPr>
              <a:t>31.4%</a:t>
            </a:r>
            <a:r>
              <a:rPr lang="en-US" sz="1200">
                <a:solidFill>
                  <a:srgbClr val="000000"/>
                </a:solidFill>
                <a:ea typeface="ＭＳ Ｐゴシック"/>
                <a:cs typeface="Arial"/>
              </a:rPr>
              <a:t> of processing demand, a </a:t>
            </a:r>
            <a:r>
              <a:rPr lang="en-US" sz="1200" b="1">
                <a:solidFill>
                  <a:srgbClr val="000000"/>
                </a:solidFill>
                <a:ea typeface="ＭＳ Ｐゴシック"/>
                <a:cs typeface="Arial"/>
              </a:rPr>
              <a:t>decrease </a:t>
            </a:r>
            <a:r>
              <a:rPr lang="en-US" sz="1200">
                <a:solidFill>
                  <a:srgbClr val="000000"/>
                </a:solidFill>
                <a:ea typeface="ＭＳ Ｐゴシック"/>
                <a:cs typeface="Arial"/>
              </a:rPr>
              <a:t>of </a:t>
            </a:r>
            <a:r>
              <a:rPr lang="en-US" sz="1200" b="1">
                <a:solidFill>
                  <a:srgbClr val="000000"/>
                </a:solidFill>
                <a:ea typeface="ＭＳ Ｐゴシック"/>
                <a:cs typeface="Arial"/>
              </a:rPr>
              <a:t>3.7% YoY. </a:t>
            </a:r>
            <a:endParaRPr lang="en-US" sz="1200">
              <a:ea typeface="ＭＳ Ｐゴシック"/>
              <a:cs typeface="Arial"/>
            </a:endParaRPr>
          </a:p>
        </p:txBody>
      </p:sp>
      <p:sp>
        <p:nvSpPr>
          <p:cNvPr id="40" name="Title 1"/>
          <p:cNvSpPr>
            <a:spLocks noGrp="1"/>
          </p:cNvSpPr>
          <p:nvPr>
            <p:ph type="title"/>
          </p:nvPr>
        </p:nvSpPr>
        <p:spPr/>
        <p:txBody>
          <a:bodyPr>
            <a:spAutoFit/>
          </a:bodyPr>
          <a:lstStyle/>
          <a:p>
            <a:r>
              <a:rPr lang="en-US" b="1">
                <a:solidFill>
                  <a:srgbClr val="582A04"/>
                </a:solidFill>
                <a:latin typeface="+mn-lt"/>
              </a:rPr>
              <a:t>Headwind 1: Cocoa Production</a:t>
            </a:r>
          </a:p>
        </p:txBody>
      </p:sp>
      <p:sp>
        <p:nvSpPr>
          <p:cNvPr id="25" name="TextBox 24">
            <a:extLst>
              <a:ext uri="{FF2B5EF4-FFF2-40B4-BE49-F238E27FC236}">
                <a16:creationId xmlns:a16="http://schemas.microsoft.com/office/drawing/2014/main" id="{A9A8DCF5-C520-45B2-8A32-7902EB845721}"/>
              </a:ext>
            </a:extLst>
          </p:cNvPr>
          <p:cNvSpPr txBox="1"/>
          <p:nvPr/>
        </p:nvSpPr>
        <p:spPr>
          <a:xfrm>
            <a:off x="608400" y="1214930"/>
            <a:ext cx="10972800" cy="261610"/>
          </a:xfrm>
          <a:prstGeom prst="rect">
            <a:avLst/>
          </a:prstGeom>
          <a:solidFill>
            <a:srgbClr val="582A04"/>
          </a:solidFill>
        </p:spPr>
        <p:txBody>
          <a:bodyPr wrap="square" lIns="91440" tIns="45720" rIns="91440" bIns="45720" rtlCol="0" anchor="t">
            <a:spAutoFit/>
          </a:bodyPr>
          <a:lstStyle/>
          <a:p>
            <a:r>
              <a:rPr lang="en-US" sz="1100" b="1">
                <a:solidFill>
                  <a:schemeClr val="bg1"/>
                </a:solidFill>
                <a:ea typeface="Open Sans Light"/>
                <a:cs typeface="Open Sans Light"/>
              </a:rPr>
              <a:t>Worst Case Scenario for Cocoa Farmers</a:t>
            </a:r>
          </a:p>
        </p:txBody>
      </p:sp>
      <p:sp>
        <p:nvSpPr>
          <p:cNvPr id="12" name="Rectangle 11">
            <a:extLst>
              <a:ext uri="{FF2B5EF4-FFF2-40B4-BE49-F238E27FC236}">
                <a16:creationId xmlns:a16="http://schemas.microsoft.com/office/drawing/2014/main" id="{37A67931-D401-1170-D8B2-73A3681FC879}"/>
              </a:ext>
            </a:extLst>
          </p:cNvPr>
          <p:cNvSpPr/>
          <p:nvPr/>
        </p:nvSpPr>
        <p:spPr bwMode="auto">
          <a:xfrm>
            <a:off x="6660541" y="2005034"/>
            <a:ext cx="2143933" cy="550658"/>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457189">
              <a:spcBef>
                <a:spcPct val="0"/>
              </a:spcBef>
              <a:spcAft>
                <a:spcPct val="0"/>
              </a:spcAft>
              <a:defRPr/>
            </a:pPr>
            <a:r>
              <a:rPr lang="en-US" sz="1400" b="1">
                <a:ea typeface="ＭＳ Ｐゴシック"/>
                <a:cs typeface="Arial"/>
              </a:rPr>
              <a:t>52 Week High – $10,411</a:t>
            </a:r>
          </a:p>
          <a:p>
            <a:pPr defTabSz="457189">
              <a:spcBef>
                <a:spcPct val="0"/>
              </a:spcBef>
              <a:spcAft>
                <a:spcPct val="0"/>
              </a:spcAft>
              <a:defRPr/>
            </a:pPr>
            <a:r>
              <a:rPr lang="en-US" sz="1400" b="1">
                <a:ea typeface="ＭＳ Ｐゴシック"/>
                <a:cs typeface="Arial"/>
              </a:rPr>
              <a:t>52 Week Low - $2,767</a:t>
            </a:r>
          </a:p>
        </p:txBody>
      </p:sp>
      <p:sp>
        <p:nvSpPr>
          <p:cNvPr id="17" name="Rectangle 16">
            <a:extLst>
              <a:ext uri="{FF2B5EF4-FFF2-40B4-BE49-F238E27FC236}">
                <a16:creationId xmlns:a16="http://schemas.microsoft.com/office/drawing/2014/main" id="{7B49AE75-162B-926F-D3CA-8916E92B2130}"/>
              </a:ext>
            </a:extLst>
          </p:cNvPr>
          <p:cNvSpPr/>
          <p:nvPr/>
        </p:nvSpPr>
        <p:spPr bwMode="auto">
          <a:xfrm>
            <a:off x="6679831" y="1628856"/>
            <a:ext cx="2867350" cy="270937"/>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457189">
              <a:spcBef>
                <a:spcPct val="0"/>
              </a:spcBef>
              <a:spcAft>
                <a:spcPct val="0"/>
              </a:spcAft>
              <a:defRPr/>
            </a:pPr>
            <a:r>
              <a:rPr lang="en-US" sz="1400" b="1">
                <a:ea typeface="ＭＳ Ｐゴシック"/>
                <a:cs typeface="Arial"/>
              </a:rPr>
              <a:t>CCK4 – Cocoa Futures May 2024</a:t>
            </a:r>
            <a:endParaRPr lang="en-US"/>
          </a:p>
        </p:txBody>
      </p:sp>
      <p:sp>
        <p:nvSpPr>
          <p:cNvPr id="18" name="Rectangle 17">
            <a:extLst>
              <a:ext uri="{FF2B5EF4-FFF2-40B4-BE49-F238E27FC236}">
                <a16:creationId xmlns:a16="http://schemas.microsoft.com/office/drawing/2014/main" id="{6D1B874C-88A0-00F2-1576-5971E2842B3C}"/>
              </a:ext>
            </a:extLst>
          </p:cNvPr>
          <p:cNvSpPr/>
          <p:nvPr/>
        </p:nvSpPr>
        <p:spPr bwMode="auto">
          <a:xfrm>
            <a:off x="612769" y="2786458"/>
            <a:ext cx="5095478" cy="1032936"/>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457189">
              <a:spcBef>
                <a:spcPct val="0"/>
              </a:spcBef>
              <a:spcAft>
                <a:spcPct val="0"/>
              </a:spcAft>
              <a:defRPr/>
            </a:pPr>
            <a:r>
              <a:rPr lang="en-US" sz="1200">
                <a:solidFill>
                  <a:srgbClr val="000000"/>
                </a:solidFill>
                <a:ea typeface="ＭＳ Ｐゴシック"/>
                <a:cs typeface="Arial"/>
              </a:rPr>
              <a:t>Hershey has </a:t>
            </a:r>
            <a:r>
              <a:rPr lang="en-US" sz="1200" b="1">
                <a:solidFill>
                  <a:srgbClr val="000000"/>
                </a:solidFill>
                <a:ea typeface="ＭＳ Ｐゴシック"/>
                <a:cs typeface="Arial"/>
              </a:rPr>
              <a:t>70%</a:t>
            </a:r>
            <a:r>
              <a:rPr lang="en-US" sz="1200">
                <a:solidFill>
                  <a:srgbClr val="000000"/>
                </a:solidFill>
                <a:ea typeface="ＭＳ Ｐゴシック"/>
                <a:cs typeface="Arial"/>
              </a:rPr>
              <a:t> of its future hedging expiring in 2024. Cocoa futures are expected to rise over time into 2025 according to Hershey's  competitors, thus impacting Hershey's ability to efficiently hedge against the long-term increase in future prices. </a:t>
            </a:r>
            <a:endParaRPr lang="en-US" sz="1200">
              <a:ea typeface="ＭＳ Ｐゴシック"/>
              <a:cs typeface="Arial"/>
            </a:endParaRPr>
          </a:p>
        </p:txBody>
      </p:sp>
      <p:pic>
        <p:nvPicPr>
          <p:cNvPr id="21" name="Picture 20" descr="A graph of different colored bars">
            <a:extLst>
              <a:ext uri="{FF2B5EF4-FFF2-40B4-BE49-F238E27FC236}">
                <a16:creationId xmlns:a16="http://schemas.microsoft.com/office/drawing/2014/main" id="{FB0751B5-FE4A-93C0-01F5-B928C564F03A}"/>
              </a:ext>
            </a:extLst>
          </p:cNvPr>
          <p:cNvPicPr>
            <a:picLocks noChangeAspect="1"/>
          </p:cNvPicPr>
          <p:nvPr/>
        </p:nvPicPr>
        <p:blipFill>
          <a:blip r:embed="rId3"/>
          <a:stretch>
            <a:fillRect/>
          </a:stretch>
        </p:blipFill>
        <p:spPr>
          <a:xfrm>
            <a:off x="614820" y="3948571"/>
            <a:ext cx="5096006" cy="2906559"/>
          </a:xfrm>
          <a:prstGeom prst="rect">
            <a:avLst/>
          </a:prstGeom>
        </p:spPr>
      </p:pic>
      <p:sp>
        <p:nvSpPr>
          <p:cNvPr id="22" name="Rectangle 21">
            <a:extLst>
              <a:ext uri="{FF2B5EF4-FFF2-40B4-BE49-F238E27FC236}">
                <a16:creationId xmlns:a16="http://schemas.microsoft.com/office/drawing/2014/main" id="{D0A8E232-5B6A-6D60-3400-4696BEAFB0E5}"/>
              </a:ext>
            </a:extLst>
          </p:cNvPr>
          <p:cNvSpPr/>
          <p:nvPr/>
        </p:nvSpPr>
        <p:spPr bwMode="auto">
          <a:xfrm>
            <a:off x="6249481" y="4280200"/>
            <a:ext cx="5095478" cy="1053813"/>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457189">
              <a:spcBef>
                <a:spcPct val="0"/>
              </a:spcBef>
              <a:spcAft>
                <a:spcPct val="0"/>
              </a:spcAft>
              <a:defRPr/>
            </a:pPr>
            <a:r>
              <a:rPr lang="en-US" sz="1200">
                <a:solidFill>
                  <a:srgbClr val="000000"/>
                </a:solidFill>
                <a:ea typeface="ＭＳ Ｐゴシック"/>
                <a:cs typeface="Arial"/>
              </a:rPr>
              <a:t>The Ivory Coast is by far the largest producer of cocoa beans within recent history, producing over </a:t>
            </a:r>
            <a:r>
              <a:rPr lang="en-US" sz="1200" b="1">
                <a:solidFill>
                  <a:srgbClr val="000000"/>
                </a:solidFill>
                <a:ea typeface="ＭＳ Ｐゴシック"/>
                <a:cs typeface="Arial"/>
              </a:rPr>
              <a:t>47%</a:t>
            </a:r>
            <a:r>
              <a:rPr lang="en-US" sz="1200">
                <a:solidFill>
                  <a:srgbClr val="000000"/>
                </a:solidFill>
                <a:ea typeface="ＭＳ Ｐゴシック"/>
                <a:cs typeface="Arial"/>
              </a:rPr>
              <a:t> of the world's total production. Their production is expected to fall by </a:t>
            </a:r>
            <a:r>
              <a:rPr lang="en-US" sz="1200" b="1">
                <a:solidFill>
                  <a:srgbClr val="000000"/>
                </a:solidFill>
                <a:ea typeface="ＭＳ Ｐゴシック"/>
                <a:cs typeface="Arial"/>
              </a:rPr>
              <a:t>28.5%</a:t>
            </a:r>
            <a:r>
              <a:rPr lang="en-US" sz="1200">
                <a:solidFill>
                  <a:srgbClr val="000000"/>
                </a:solidFill>
                <a:ea typeface="ＭＳ Ｐゴシック"/>
                <a:cs typeface="Arial"/>
              </a:rPr>
              <a:t> within the current quarter due to adverse weather effects and new child labor laws cracking down on producers.</a:t>
            </a:r>
            <a:endParaRPr lang="en-US" sz="1200">
              <a:ea typeface="ＭＳ Ｐゴシック"/>
              <a:cs typeface="Arial"/>
            </a:endParaRPr>
          </a:p>
        </p:txBody>
      </p:sp>
      <p:sp>
        <p:nvSpPr>
          <p:cNvPr id="24" name="Arrow: Left-Up 23">
            <a:extLst>
              <a:ext uri="{FF2B5EF4-FFF2-40B4-BE49-F238E27FC236}">
                <a16:creationId xmlns:a16="http://schemas.microsoft.com/office/drawing/2014/main" id="{E4F658BA-E0DC-C887-AEC4-6E23F8C2F4A6}"/>
              </a:ext>
            </a:extLst>
          </p:cNvPr>
          <p:cNvSpPr/>
          <p:nvPr/>
        </p:nvSpPr>
        <p:spPr>
          <a:xfrm>
            <a:off x="6252575" y="5334000"/>
            <a:ext cx="3183698" cy="1148220"/>
          </a:xfrm>
          <a:prstGeom prst="leftUpArrow">
            <a:avLst/>
          </a:prstGeom>
          <a:solidFill>
            <a:srgbClr val="582A04"/>
          </a:solidFill>
          <a:ln>
            <a:solidFill>
              <a:srgbClr val="E6E7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19976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6E612827-987B-49BF-B0F6-99CDED1E9E00}"/>
              </a:ext>
            </a:extLst>
          </p:cNvPr>
          <p:cNvSpPr/>
          <p:nvPr/>
        </p:nvSpPr>
        <p:spPr bwMode="auto">
          <a:xfrm>
            <a:off x="6455607" y="1591601"/>
            <a:ext cx="5116354" cy="104637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457189" fontAlgn="base">
              <a:spcBef>
                <a:spcPct val="0"/>
              </a:spcBef>
              <a:spcAft>
                <a:spcPct val="0"/>
              </a:spcAft>
              <a:defRPr/>
            </a:pPr>
            <a:r>
              <a:rPr lang="en-US" sz="1200">
                <a:solidFill>
                  <a:srgbClr val="000000"/>
                </a:solidFill>
                <a:ea typeface="ＭＳ Ｐゴシック"/>
                <a:cs typeface="Arial"/>
              </a:rPr>
              <a:t>Palm oil futures are rising in accordance with cocoa due to over-farming, labor issues within Malaysia, and adverse weather conditions predicted in Indonesia. This is significant as </a:t>
            </a:r>
            <a:r>
              <a:rPr lang="en-US" sz="1200" b="1">
                <a:solidFill>
                  <a:srgbClr val="000000"/>
                </a:solidFill>
                <a:ea typeface="ＭＳ Ｐゴシック"/>
                <a:cs typeface="Arial"/>
              </a:rPr>
              <a:t>9/12 </a:t>
            </a:r>
            <a:r>
              <a:rPr lang="en-US" sz="1200">
                <a:solidFill>
                  <a:srgbClr val="000000"/>
                </a:solidFill>
                <a:ea typeface="ＭＳ Ｐゴシック"/>
                <a:cs typeface="Arial"/>
              </a:rPr>
              <a:t>of Hershey’s suppliers are located in these two countries.</a:t>
            </a:r>
          </a:p>
        </p:txBody>
      </p:sp>
      <p:sp>
        <p:nvSpPr>
          <p:cNvPr id="40" name="Title 1"/>
          <p:cNvSpPr>
            <a:spLocks noGrp="1"/>
          </p:cNvSpPr>
          <p:nvPr>
            <p:ph type="title"/>
          </p:nvPr>
        </p:nvSpPr>
        <p:spPr/>
        <p:txBody>
          <a:bodyPr>
            <a:spAutoFit/>
          </a:bodyPr>
          <a:lstStyle/>
          <a:p>
            <a:r>
              <a:rPr lang="en-US" b="1">
                <a:solidFill>
                  <a:srgbClr val="582A04"/>
                </a:solidFill>
                <a:latin typeface="+mn-lt"/>
              </a:rPr>
              <a:t>Headwind 2: Palm Oil Futures</a:t>
            </a:r>
          </a:p>
        </p:txBody>
      </p:sp>
      <p:sp>
        <p:nvSpPr>
          <p:cNvPr id="25" name="TextBox 24">
            <a:extLst>
              <a:ext uri="{FF2B5EF4-FFF2-40B4-BE49-F238E27FC236}">
                <a16:creationId xmlns:a16="http://schemas.microsoft.com/office/drawing/2014/main" id="{A9A8DCF5-C520-45B2-8A32-7902EB845721}"/>
              </a:ext>
            </a:extLst>
          </p:cNvPr>
          <p:cNvSpPr txBox="1"/>
          <p:nvPr/>
        </p:nvSpPr>
        <p:spPr>
          <a:xfrm>
            <a:off x="608400" y="1214930"/>
            <a:ext cx="10972800" cy="261610"/>
          </a:xfrm>
          <a:prstGeom prst="rect">
            <a:avLst/>
          </a:prstGeom>
          <a:solidFill>
            <a:srgbClr val="582A04"/>
          </a:solidFill>
        </p:spPr>
        <p:txBody>
          <a:bodyPr wrap="square" lIns="91440" tIns="45720" rIns="91440" bIns="45720" rtlCol="0" anchor="t">
            <a:spAutoFit/>
          </a:bodyPr>
          <a:lstStyle/>
          <a:p>
            <a:r>
              <a:rPr lang="en-US" sz="1100" b="1">
                <a:solidFill>
                  <a:schemeClr val="bg1"/>
                </a:solidFill>
                <a:ea typeface="Open Sans Light"/>
                <a:cs typeface="Open Sans Light"/>
              </a:rPr>
              <a:t>Further Agricultural Troubles</a:t>
            </a:r>
          </a:p>
        </p:txBody>
      </p:sp>
      <p:pic>
        <p:nvPicPr>
          <p:cNvPr id="5" name="Picture 4" descr="A graph with orange lines&#10;&#10;Description automatically generated">
            <a:extLst>
              <a:ext uri="{FF2B5EF4-FFF2-40B4-BE49-F238E27FC236}">
                <a16:creationId xmlns:a16="http://schemas.microsoft.com/office/drawing/2014/main" id="{481EEE35-7D98-3D73-9C9D-E38750701A5F}"/>
              </a:ext>
            </a:extLst>
          </p:cNvPr>
          <p:cNvPicPr>
            <a:picLocks noChangeAspect="1"/>
          </p:cNvPicPr>
          <p:nvPr/>
        </p:nvPicPr>
        <p:blipFill rotWithShape="1">
          <a:blip r:embed="rId2"/>
          <a:srcRect t="-868" r="1542" b="1389"/>
          <a:stretch/>
        </p:blipFill>
        <p:spPr>
          <a:xfrm>
            <a:off x="584546" y="3295258"/>
            <a:ext cx="5260679" cy="2956474"/>
          </a:xfrm>
          <a:prstGeom prst="rect">
            <a:avLst/>
          </a:prstGeom>
        </p:spPr>
      </p:pic>
      <p:sp>
        <p:nvSpPr>
          <p:cNvPr id="6" name="Rectangle 5">
            <a:extLst>
              <a:ext uri="{FF2B5EF4-FFF2-40B4-BE49-F238E27FC236}">
                <a16:creationId xmlns:a16="http://schemas.microsoft.com/office/drawing/2014/main" id="{A91E84CB-18CB-07A5-A164-8DDC8DFF34CA}"/>
              </a:ext>
            </a:extLst>
          </p:cNvPr>
          <p:cNvSpPr/>
          <p:nvPr/>
        </p:nvSpPr>
        <p:spPr bwMode="auto">
          <a:xfrm>
            <a:off x="610128" y="1591601"/>
            <a:ext cx="5116354" cy="104637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457189">
              <a:spcBef>
                <a:spcPct val="0"/>
              </a:spcBef>
              <a:spcAft>
                <a:spcPct val="0"/>
              </a:spcAft>
              <a:defRPr/>
            </a:pPr>
            <a:r>
              <a:rPr lang="en-US" sz="1200">
                <a:ea typeface="ＭＳ Ｐゴシック"/>
                <a:cs typeface="Arial"/>
              </a:rPr>
              <a:t>While there are many additional sources of Palm Oil Hershey could pursue, the company is committed to verifying the ESG impact of partner distributors before pursuing an agreement. This commitment would prevent Hershey from switching to a cheaper alternative if necessary.</a:t>
            </a:r>
          </a:p>
        </p:txBody>
      </p:sp>
      <p:sp>
        <p:nvSpPr>
          <p:cNvPr id="10" name="Rectangle 9">
            <a:extLst>
              <a:ext uri="{FF2B5EF4-FFF2-40B4-BE49-F238E27FC236}">
                <a16:creationId xmlns:a16="http://schemas.microsoft.com/office/drawing/2014/main" id="{1B32968E-31E1-B1C9-6981-9FD1EBB5C786}"/>
              </a:ext>
            </a:extLst>
          </p:cNvPr>
          <p:cNvSpPr/>
          <p:nvPr/>
        </p:nvSpPr>
        <p:spPr bwMode="auto">
          <a:xfrm>
            <a:off x="704074" y="5307655"/>
            <a:ext cx="2454573" cy="660155"/>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457189">
              <a:spcBef>
                <a:spcPct val="0"/>
              </a:spcBef>
              <a:spcAft>
                <a:spcPct val="0"/>
              </a:spcAft>
              <a:defRPr/>
            </a:pPr>
            <a:r>
              <a:rPr lang="en-US" sz="1200" b="1">
                <a:ea typeface="ＭＳ Ｐゴシック"/>
                <a:cs typeface="Arial"/>
              </a:rPr>
              <a:t>Gradual stagnation and decline of palm oil production since 2012 in Malaysia </a:t>
            </a:r>
            <a:endParaRPr lang="en-US" b="1">
              <a:ea typeface="Open Sans Light"/>
              <a:cs typeface="Open Sans Light"/>
            </a:endParaRPr>
          </a:p>
        </p:txBody>
      </p:sp>
      <p:pic>
        <p:nvPicPr>
          <p:cNvPr id="11" name="Picture 10" descr="A graph of palm oil production&#10;&#10;Description automatically generated">
            <a:extLst>
              <a:ext uri="{FF2B5EF4-FFF2-40B4-BE49-F238E27FC236}">
                <a16:creationId xmlns:a16="http://schemas.microsoft.com/office/drawing/2014/main" id="{3B2D2256-7413-E3F5-3270-D6C0F9BF74A3}"/>
              </a:ext>
            </a:extLst>
          </p:cNvPr>
          <p:cNvPicPr>
            <a:picLocks noChangeAspect="1"/>
          </p:cNvPicPr>
          <p:nvPr/>
        </p:nvPicPr>
        <p:blipFill>
          <a:blip r:embed="rId3"/>
          <a:stretch>
            <a:fillRect/>
          </a:stretch>
        </p:blipFill>
        <p:spPr>
          <a:xfrm>
            <a:off x="6099720" y="3290951"/>
            <a:ext cx="5504015" cy="2948314"/>
          </a:xfrm>
          <a:prstGeom prst="rect">
            <a:avLst/>
          </a:prstGeom>
        </p:spPr>
      </p:pic>
    </p:spTree>
    <p:extLst>
      <p:ext uri="{BB962C8B-B14F-4D97-AF65-F5344CB8AC3E}">
        <p14:creationId xmlns:p14="http://schemas.microsoft.com/office/powerpoint/2010/main" val="19713848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 name="Title 1"/>
          <p:cNvSpPr>
            <a:spLocks noGrp="1"/>
          </p:cNvSpPr>
          <p:nvPr>
            <p:ph type="title"/>
          </p:nvPr>
        </p:nvSpPr>
        <p:spPr/>
        <p:txBody>
          <a:bodyPr lIns="91440" tIns="45720" rIns="91440" bIns="45720" anchor="t">
            <a:spAutoFit/>
          </a:bodyPr>
          <a:lstStyle/>
          <a:p>
            <a:r>
              <a:rPr lang="en-US" b="1">
                <a:solidFill>
                  <a:srgbClr val="582A04"/>
                </a:solidFill>
                <a:latin typeface="+mn-lt"/>
              </a:rPr>
              <a:t>Headwind 3: Confectionary Market Troubles</a:t>
            </a:r>
          </a:p>
        </p:txBody>
      </p:sp>
      <p:sp>
        <p:nvSpPr>
          <p:cNvPr id="25" name="TextBox 24">
            <a:extLst>
              <a:ext uri="{FF2B5EF4-FFF2-40B4-BE49-F238E27FC236}">
                <a16:creationId xmlns:a16="http://schemas.microsoft.com/office/drawing/2014/main" id="{A9A8DCF5-C520-45B2-8A32-7902EB845721}"/>
              </a:ext>
            </a:extLst>
          </p:cNvPr>
          <p:cNvSpPr txBox="1"/>
          <p:nvPr/>
        </p:nvSpPr>
        <p:spPr>
          <a:xfrm>
            <a:off x="608400" y="1214930"/>
            <a:ext cx="10972800" cy="261610"/>
          </a:xfrm>
          <a:prstGeom prst="rect">
            <a:avLst/>
          </a:prstGeom>
          <a:solidFill>
            <a:srgbClr val="582A04"/>
          </a:solidFill>
        </p:spPr>
        <p:txBody>
          <a:bodyPr wrap="square" lIns="91440" tIns="45720" rIns="91440" bIns="45720" rtlCol="0" anchor="t">
            <a:spAutoFit/>
          </a:bodyPr>
          <a:lstStyle/>
          <a:p>
            <a:r>
              <a:rPr lang="en-US" sz="1100" b="1">
                <a:solidFill>
                  <a:schemeClr val="bg1"/>
                </a:solidFill>
                <a:ea typeface="Open Sans Light"/>
                <a:cs typeface="Open Sans Light"/>
              </a:rPr>
              <a:t>Declining Industry Struggles</a:t>
            </a:r>
          </a:p>
        </p:txBody>
      </p:sp>
      <p:pic>
        <p:nvPicPr>
          <p:cNvPr id="5" name="Picture 4" descr="A graph of a market segment&#10;&#10;Description automatically generated">
            <a:extLst>
              <a:ext uri="{FF2B5EF4-FFF2-40B4-BE49-F238E27FC236}">
                <a16:creationId xmlns:a16="http://schemas.microsoft.com/office/drawing/2014/main" id="{CCF2AFF9-3D6B-2516-8961-6FC29A9C8584}"/>
              </a:ext>
            </a:extLst>
          </p:cNvPr>
          <p:cNvPicPr>
            <a:picLocks noChangeAspect="1"/>
          </p:cNvPicPr>
          <p:nvPr/>
        </p:nvPicPr>
        <p:blipFill>
          <a:blip r:embed="rId2"/>
          <a:stretch>
            <a:fillRect/>
          </a:stretch>
        </p:blipFill>
        <p:spPr>
          <a:xfrm>
            <a:off x="6208944" y="1638823"/>
            <a:ext cx="5369073" cy="3935260"/>
          </a:xfrm>
          <a:prstGeom prst="rect">
            <a:avLst/>
          </a:prstGeom>
        </p:spPr>
      </p:pic>
      <p:sp>
        <p:nvSpPr>
          <p:cNvPr id="10" name="Rectangle 9">
            <a:extLst>
              <a:ext uri="{FF2B5EF4-FFF2-40B4-BE49-F238E27FC236}">
                <a16:creationId xmlns:a16="http://schemas.microsoft.com/office/drawing/2014/main" id="{F3DC5B1C-E5F9-C6B6-E8E4-BE2B96FC851D}"/>
              </a:ext>
            </a:extLst>
          </p:cNvPr>
          <p:cNvSpPr/>
          <p:nvPr/>
        </p:nvSpPr>
        <p:spPr bwMode="auto">
          <a:xfrm>
            <a:off x="589252" y="1643792"/>
            <a:ext cx="5137230" cy="524457"/>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457189">
              <a:spcBef>
                <a:spcPct val="0"/>
              </a:spcBef>
              <a:spcAft>
                <a:spcPct val="0"/>
              </a:spcAft>
              <a:defRPr/>
            </a:pPr>
            <a:r>
              <a:rPr lang="en-US" sz="1200">
                <a:ea typeface="ＭＳ Ｐゴシック"/>
                <a:cs typeface="Arial"/>
              </a:rPr>
              <a:t>Consumers do not want chocolate any more. It is the slowest growing confectionary market segment, even experiencing slight decline.</a:t>
            </a:r>
          </a:p>
        </p:txBody>
      </p:sp>
      <p:sp>
        <p:nvSpPr>
          <p:cNvPr id="11" name="Rectangle 10">
            <a:extLst>
              <a:ext uri="{FF2B5EF4-FFF2-40B4-BE49-F238E27FC236}">
                <a16:creationId xmlns:a16="http://schemas.microsoft.com/office/drawing/2014/main" id="{EBB84A5E-BE65-C0F3-EF2D-53250C39DBC0}"/>
              </a:ext>
            </a:extLst>
          </p:cNvPr>
          <p:cNvSpPr/>
          <p:nvPr/>
        </p:nvSpPr>
        <p:spPr bwMode="auto">
          <a:xfrm>
            <a:off x="610127" y="2395354"/>
            <a:ext cx="5116354" cy="712347"/>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457189">
              <a:spcBef>
                <a:spcPct val="0"/>
              </a:spcBef>
              <a:spcAft>
                <a:spcPct val="0"/>
              </a:spcAft>
              <a:defRPr/>
            </a:pPr>
            <a:r>
              <a:rPr lang="en-US" sz="1200">
                <a:ea typeface="ＭＳ Ｐゴシック"/>
                <a:cs typeface="Arial"/>
              </a:rPr>
              <a:t>The demand for non-chocolate products saw a </a:t>
            </a:r>
            <a:r>
              <a:rPr lang="en-US" sz="1200" b="1">
                <a:ea typeface="ＭＳ Ｐゴシック"/>
                <a:cs typeface="Arial"/>
              </a:rPr>
              <a:t>12.1% increase</a:t>
            </a:r>
            <a:r>
              <a:rPr lang="en-US" sz="1200">
                <a:ea typeface="ＭＳ Ｐゴシック"/>
                <a:cs typeface="Arial"/>
              </a:rPr>
              <a:t> in 2023, doubling chocolate's </a:t>
            </a:r>
            <a:r>
              <a:rPr lang="en-US" sz="1200" b="1">
                <a:ea typeface="ＭＳ Ｐゴシック"/>
                <a:cs typeface="Arial"/>
              </a:rPr>
              <a:t>5.8%</a:t>
            </a:r>
            <a:r>
              <a:rPr lang="en-US" sz="1200">
                <a:ea typeface="ＭＳ Ｐゴシック"/>
                <a:cs typeface="Arial"/>
              </a:rPr>
              <a:t>. Unit sales also decreased by </a:t>
            </a:r>
            <a:r>
              <a:rPr lang="en-US" sz="1200" b="1">
                <a:ea typeface="ＭＳ Ｐゴシック"/>
                <a:cs typeface="Arial"/>
              </a:rPr>
              <a:t>5.3% </a:t>
            </a:r>
            <a:r>
              <a:rPr lang="en-US" sz="1200">
                <a:ea typeface="ＭＳ Ｐゴシック"/>
                <a:cs typeface="Arial"/>
              </a:rPr>
              <a:t>for chocolate goods.</a:t>
            </a:r>
          </a:p>
        </p:txBody>
      </p:sp>
      <p:sp>
        <p:nvSpPr>
          <p:cNvPr id="12" name="Rectangle 11">
            <a:extLst>
              <a:ext uri="{FF2B5EF4-FFF2-40B4-BE49-F238E27FC236}">
                <a16:creationId xmlns:a16="http://schemas.microsoft.com/office/drawing/2014/main" id="{DB45687F-2932-B4F1-7859-859BA5AE3A59}"/>
              </a:ext>
            </a:extLst>
          </p:cNvPr>
          <p:cNvSpPr/>
          <p:nvPr/>
        </p:nvSpPr>
        <p:spPr bwMode="auto">
          <a:xfrm>
            <a:off x="610128" y="3345244"/>
            <a:ext cx="5137230" cy="524457"/>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457189">
              <a:spcBef>
                <a:spcPct val="0"/>
              </a:spcBef>
              <a:spcAft>
                <a:spcPct val="0"/>
              </a:spcAft>
              <a:defRPr/>
            </a:pPr>
            <a:r>
              <a:rPr lang="en-US" sz="1200" b="1">
                <a:ea typeface="ＭＳ Ｐゴシック"/>
                <a:cs typeface="Arial"/>
              </a:rPr>
              <a:t>44%</a:t>
            </a:r>
            <a:r>
              <a:rPr lang="en-US" sz="1200">
                <a:ea typeface="ＭＳ Ｐゴシック"/>
                <a:cs typeface="Arial"/>
              </a:rPr>
              <a:t> of consumers recently reported purchasing chocolate less often, with </a:t>
            </a:r>
            <a:r>
              <a:rPr lang="en-US" sz="1200" b="1">
                <a:ea typeface="ＭＳ Ｐゴシック"/>
                <a:cs typeface="Arial"/>
              </a:rPr>
              <a:t>30% </a:t>
            </a:r>
            <a:r>
              <a:rPr lang="en-US" sz="1200">
                <a:ea typeface="ＭＳ Ｐゴシック"/>
                <a:cs typeface="Arial"/>
              </a:rPr>
              <a:t>claiming they only buy what is on sale.</a:t>
            </a:r>
          </a:p>
        </p:txBody>
      </p:sp>
    </p:spTree>
    <p:extLst>
      <p:ext uri="{BB962C8B-B14F-4D97-AF65-F5344CB8AC3E}">
        <p14:creationId xmlns:p14="http://schemas.microsoft.com/office/powerpoint/2010/main" val="535907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836999" y="540695"/>
            <a:ext cx="10515600" cy="480131"/>
          </a:xfrm>
        </p:spPr>
        <p:txBody>
          <a:bodyPr>
            <a:spAutoFit/>
          </a:bodyPr>
          <a:lstStyle/>
          <a:p>
            <a:r>
              <a:rPr lang="en-US" sz="2800">
                <a:solidFill>
                  <a:srgbClr val="582A04"/>
                </a:solidFill>
                <a:latin typeface="+mn-lt"/>
                <a:cs typeface="Arial" pitchFamily="34" charset="0"/>
              </a:rPr>
              <a:t>Historical Share Price Performance – 50 Day Moving Average</a:t>
            </a:r>
          </a:p>
        </p:txBody>
      </p:sp>
      <p:sp>
        <p:nvSpPr>
          <p:cNvPr id="20" name="TextBox 19">
            <a:extLst>
              <a:ext uri="{FF2B5EF4-FFF2-40B4-BE49-F238E27FC236}">
                <a16:creationId xmlns:a16="http://schemas.microsoft.com/office/drawing/2014/main" id="{558797B0-E856-45ED-950C-1B43E806677A}"/>
              </a:ext>
            </a:extLst>
          </p:cNvPr>
          <p:cNvSpPr txBox="1"/>
          <p:nvPr/>
        </p:nvSpPr>
        <p:spPr>
          <a:xfrm>
            <a:off x="608400" y="1214930"/>
            <a:ext cx="10972800" cy="261610"/>
          </a:xfrm>
          <a:prstGeom prst="rect">
            <a:avLst/>
          </a:prstGeom>
          <a:solidFill>
            <a:srgbClr val="582A04"/>
          </a:solidFill>
        </p:spPr>
        <p:txBody>
          <a:bodyPr wrap="square" rtlCol="0">
            <a:spAutoFit/>
          </a:bodyPr>
          <a:lstStyle/>
          <a:p>
            <a:r>
              <a:rPr lang="en-US" altLang="zh-CN" sz="1100" b="1">
                <a:solidFill>
                  <a:schemeClr val="bg1"/>
                </a:solidFill>
              </a:rPr>
              <a:t>Key Events &amp; Share Price Drivers</a:t>
            </a:r>
            <a:endParaRPr lang="en-CA" sz="1100" b="1">
              <a:solidFill>
                <a:schemeClr val="bg1"/>
              </a:solidFill>
            </a:endParaRPr>
          </a:p>
        </p:txBody>
      </p:sp>
      <p:pic>
        <p:nvPicPr>
          <p:cNvPr id="8" name="Picture 7">
            <a:extLst>
              <a:ext uri="{FF2B5EF4-FFF2-40B4-BE49-F238E27FC236}">
                <a16:creationId xmlns:a16="http://schemas.microsoft.com/office/drawing/2014/main" id="{69349A3A-3A2E-7F25-E0E0-D18615988AAA}"/>
              </a:ext>
            </a:extLst>
          </p:cNvPr>
          <p:cNvPicPr>
            <a:picLocks noChangeAspect="1"/>
          </p:cNvPicPr>
          <p:nvPr/>
        </p:nvPicPr>
        <p:blipFill rotWithShape="1">
          <a:blip r:embed="rId2"/>
          <a:srcRect t="36221"/>
          <a:stretch/>
        </p:blipFill>
        <p:spPr>
          <a:xfrm>
            <a:off x="1149737" y="1683681"/>
            <a:ext cx="9890125" cy="4153493"/>
          </a:xfrm>
          <a:prstGeom prst="rect">
            <a:avLst/>
          </a:prstGeom>
        </p:spPr>
      </p:pic>
    </p:spTree>
    <p:extLst>
      <p:ext uri="{BB962C8B-B14F-4D97-AF65-F5344CB8AC3E}">
        <p14:creationId xmlns:p14="http://schemas.microsoft.com/office/powerpoint/2010/main" val="8447164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390F1E9-2BDE-4FDC-8918-CD989FB97680}"/>
              </a:ext>
            </a:extLst>
          </p:cNvPr>
          <p:cNvSpPr>
            <a:spLocks noGrp="1"/>
          </p:cNvSpPr>
          <p:nvPr>
            <p:ph type="title"/>
          </p:nvPr>
        </p:nvSpPr>
        <p:spPr>
          <a:xfrm>
            <a:off x="587375" y="372519"/>
            <a:ext cx="10515600" cy="535531"/>
          </a:xfrm>
        </p:spPr>
        <p:txBody>
          <a:bodyPr lIns="91440" tIns="45720" rIns="91440" bIns="45720" anchor="t">
            <a:spAutoFit/>
          </a:bodyPr>
          <a:lstStyle/>
          <a:p>
            <a:r>
              <a:rPr lang="en-CA"/>
              <a:t>Discounted Cash Flow Model &amp; EPS</a:t>
            </a:r>
            <a:endParaRPr lang="en-US"/>
          </a:p>
        </p:txBody>
      </p:sp>
      <p:grpSp>
        <p:nvGrpSpPr>
          <p:cNvPr id="15" name="Group 14">
            <a:extLst>
              <a:ext uri="{FF2B5EF4-FFF2-40B4-BE49-F238E27FC236}">
                <a16:creationId xmlns:a16="http://schemas.microsoft.com/office/drawing/2014/main" id="{8C7FE674-40FA-DF79-99BA-E3BD00B730E3}"/>
              </a:ext>
            </a:extLst>
          </p:cNvPr>
          <p:cNvGrpSpPr/>
          <p:nvPr/>
        </p:nvGrpSpPr>
        <p:grpSpPr>
          <a:xfrm>
            <a:off x="249047" y="908050"/>
            <a:ext cx="8264526" cy="5596481"/>
            <a:chOff x="446087" y="908050"/>
            <a:chExt cx="8264526" cy="5596481"/>
          </a:xfrm>
        </p:grpSpPr>
        <p:graphicFrame>
          <p:nvGraphicFramePr>
            <p:cNvPr id="4" name="Object 3">
              <a:extLst>
                <a:ext uri="{FF2B5EF4-FFF2-40B4-BE49-F238E27FC236}">
                  <a16:creationId xmlns:a16="http://schemas.microsoft.com/office/drawing/2014/main" id="{CA0C3FC0-50C0-9B06-F48D-06FA5F6F22E7}"/>
                </a:ext>
              </a:extLst>
            </p:cNvPr>
            <p:cNvGraphicFramePr>
              <a:graphicFrameLocks noChangeAspect="1"/>
            </p:cNvGraphicFramePr>
            <p:nvPr>
              <p:extLst>
                <p:ext uri="{D42A27DB-BD31-4B8C-83A1-F6EECF244321}">
                  <p14:modId xmlns:p14="http://schemas.microsoft.com/office/powerpoint/2010/main" val="3016773126"/>
                </p:ext>
              </p:extLst>
            </p:nvPr>
          </p:nvGraphicFramePr>
          <p:xfrm>
            <a:off x="446088" y="908050"/>
            <a:ext cx="8264525" cy="4167188"/>
          </p:xfrm>
          <a:graphic>
            <a:graphicData uri="http://schemas.openxmlformats.org/presentationml/2006/ole">
              <mc:AlternateContent xmlns:mc="http://schemas.openxmlformats.org/markup-compatibility/2006">
                <mc:Choice xmlns:v="urn:schemas-microsoft-com:vml" Requires="v">
                  <p:oleObj name="Worksheet" r:id="rId3" imgW="9858508" imgH="4972227" progId="Excel.Sheet.12">
                    <p:embed/>
                  </p:oleObj>
                </mc:Choice>
                <mc:Fallback>
                  <p:oleObj name="Worksheet" r:id="rId3" imgW="9858508" imgH="4972227" progId="Excel.Sheet.12">
                    <p:embed/>
                    <p:pic>
                      <p:nvPicPr>
                        <p:cNvPr id="4" name="Object 3">
                          <a:extLst>
                            <a:ext uri="{FF2B5EF4-FFF2-40B4-BE49-F238E27FC236}">
                              <a16:creationId xmlns:a16="http://schemas.microsoft.com/office/drawing/2014/main" id="{CA0C3FC0-50C0-9B06-F48D-06FA5F6F22E7}"/>
                            </a:ext>
                          </a:extLst>
                        </p:cNvPr>
                        <p:cNvPicPr/>
                        <p:nvPr/>
                      </p:nvPicPr>
                      <p:blipFill>
                        <a:blip r:embed="rId4"/>
                        <a:stretch>
                          <a:fillRect/>
                        </a:stretch>
                      </p:blipFill>
                      <p:spPr>
                        <a:xfrm>
                          <a:off x="446088" y="908050"/>
                          <a:ext cx="8264525" cy="4167188"/>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7FA2F6C2-DAD2-2B92-8B4C-1CD661D90408}"/>
                </a:ext>
              </a:extLst>
            </p:cNvPr>
            <p:cNvGraphicFramePr>
              <a:graphicFrameLocks noChangeAspect="1"/>
            </p:cNvGraphicFramePr>
            <p:nvPr>
              <p:extLst>
                <p:ext uri="{D42A27DB-BD31-4B8C-83A1-F6EECF244321}">
                  <p14:modId xmlns:p14="http://schemas.microsoft.com/office/powerpoint/2010/main" val="1661096981"/>
                </p:ext>
              </p:extLst>
            </p:nvPr>
          </p:nvGraphicFramePr>
          <p:xfrm>
            <a:off x="446087" y="5180556"/>
            <a:ext cx="2867025" cy="1304925"/>
          </p:xfrm>
          <a:graphic>
            <a:graphicData uri="http://schemas.openxmlformats.org/presentationml/2006/ole">
              <mc:AlternateContent xmlns:mc="http://schemas.openxmlformats.org/markup-compatibility/2006">
                <mc:Choice xmlns:v="urn:schemas-microsoft-com:vml" Requires="v">
                  <p:oleObj name="Worksheet" r:id="rId5" imgW="2867069" imgH="1304964" progId="Excel.Sheet.12">
                    <p:embed/>
                  </p:oleObj>
                </mc:Choice>
                <mc:Fallback>
                  <p:oleObj name="Worksheet" r:id="rId5" imgW="2867069" imgH="1304964" progId="Excel.Sheet.12">
                    <p:embed/>
                    <p:pic>
                      <p:nvPicPr>
                        <p:cNvPr id="8" name="Object 7">
                          <a:extLst>
                            <a:ext uri="{FF2B5EF4-FFF2-40B4-BE49-F238E27FC236}">
                              <a16:creationId xmlns:a16="http://schemas.microsoft.com/office/drawing/2014/main" id="{7FA2F6C2-DAD2-2B92-8B4C-1CD661D90408}"/>
                            </a:ext>
                          </a:extLst>
                        </p:cNvPr>
                        <p:cNvPicPr/>
                        <p:nvPr/>
                      </p:nvPicPr>
                      <p:blipFill>
                        <a:blip r:embed="rId6"/>
                        <a:stretch>
                          <a:fillRect/>
                        </a:stretch>
                      </p:blipFill>
                      <p:spPr>
                        <a:xfrm>
                          <a:off x="446087" y="5180556"/>
                          <a:ext cx="2867025" cy="1304925"/>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585E64AB-5F9F-A9BF-E28C-A20EB3469D21}"/>
                </a:ext>
              </a:extLst>
            </p:cNvPr>
            <p:cNvGraphicFramePr>
              <a:graphicFrameLocks noChangeAspect="1"/>
            </p:cNvGraphicFramePr>
            <p:nvPr>
              <p:extLst>
                <p:ext uri="{D42A27DB-BD31-4B8C-83A1-F6EECF244321}">
                  <p14:modId xmlns:p14="http://schemas.microsoft.com/office/powerpoint/2010/main" val="2495392146"/>
                </p:ext>
              </p:extLst>
            </p:nvPr>
          </p:nvGraphicFramePr>
          <p:xfrm>
            <a:off x="3514344" y="5342481"/>
            <a:ext cx="2497264" cy="1143000"/>
          </p:xfrm>
          <a:graphic>
            <a:graphicData uri="http://schemas.openxmlformats.org/presentationml/2006/ole">
              <mc:AlternateContent xmlns:mc="http://schemas.openxmlformats.org/markup-compatibility/2006">
                <mc:Choice xmlns:v="urn:schemas-microsoft-com:vml" Requires="v">
                  <p:oleObj name="Worksheet" r:id="rId7" imgW="2867069" imgH="1143236" progId="Excel.Sheet.12">
                    <p:embed/>
                  </p:oleObj>
                </mc:Choice>
                <mc:Fallback>
                  <p:oleObj name="Worksheet" r:id="rId7" imgW="2867069" imgH="1143236" progId="Excel.Sheet.12">
                    <p:embed/>
                    <p:pic>
                      <p:nvPicPr>
                        <p:cNvPr id="10" name="Object 9">
                          <a:extLst>
                            <a:ext uri="{FF2B5EF4-FFF2-40B4-BE49-F238E27FC236}">
                              <a16:creationId xmlns:a16="http://schemas.microsoft.com/office/drawing/2014/main" id="{585E64AB-5F9F-A9BF-E28C-A20EB3469D21}"/>
                            </a:ext>
                          </a:extLst>
                        </p:cNvPr>
                        <p:cNvPicPr/>
                        <p:nvPr/>
                      </p:nvPicPr>
                      <p:blipFill>
                        <a:blip r:embed="rId8"/>
                        <a:stretch>
                          <a:fillRect/>
                        </a:stretch>
                      </p:blipFill>
                      <p:spPr>
                        <a:xfrm>
                          <a:off x="3514344" y="5342481"/>
                          <a:ext cx="2497264" cy="1143000"/>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B8EC4452-0ABC-AC17-740B-EDC1D65006A7}"/>
                </a:ext>
              </a:extLst>
            </p:cNvPr>
            <p:cNvGraphicFramePr>
              <a:graphicFrameLocks noChangeAspect="1"/>
            </p:cNvGraphicFramePr>
            <p:nvPr>
              <p:extLst>
                <p:ext uri="{D42A27DB-BD31-4B8C-83A1-F6EECF244321}">
                  <p14:modId xmlns:p14="http://schemas.microsoft.com/office/powerpoint/2010/main" val="1412765283"/>
                </p:ext>
              </p:extLst>
            </p:nvPr>
          </p:nvGraphicFramePr>
          <p:xfrm>
            <a:off x="6212841" y="5342481"/>
            <a:ext cx="2497263" cy="1162050"/>
          </p:xfrm>
          <a:graphic>
            <a:graphicData uri="http://schemas.openxmlformats.org/presentationml/2006/ole">
              <mc:AlternateContent xmlns:mc="http://schemas.openxmlformats.org/markup-compatibility/2006">
                <mc:Choice xmlns:v="urn:schemas-microsoft-com:vml" Requires="v">
                  <p:oleObj name="Worksheet" r:id="rId9" imgW="2867069" imgH="1161795" progId="Excel.Sheet.12">
                    <p:embed/>
                  </p:oleObj>
                </mc:Choice>
                <mc:Fallback>
                  <p:oleObj name="Worksheet" r:id="rId9" imgW="2867069" imgH="1161795" progId="Excel.Sheet.12">
                    <p:embed/>
                    <p:pic>
                      <p:nvPicPr>
                        <p:cNvPr id="12" name="Object 11">
                          <a:extLst>
                            <a:ext uri="{FF2B5EF4-FFF2-40B4-BE49-F238E27FC236}">
                              <a16:creationId xmlns:a16="http://schemas.microsoft.com/office/drawing/2014/main" id="{B8EC4452-0ABC-AC17-740B-EDC1D65006A7}"/>
                            </a:ext>
                          </a:extLst>
                        </p:cNvPr>
                        <p:cNvPicPr/>
                        <p:nvPr/>
                      </p:nvPicPr>
                      <p:blipFill>
                        <a:blip r:embed="rId10"/>
                        <a:stretch>
                          <a:fillRect/>
                        </a:stretch>
                      </p:blipFill>
                      <p:spPr>
                        <a:xfrm>
                          <a:off x="6212841" y="5342481"/>
                          <a:ext cx="2497263" cy="1162050"/>
                        </a:xfrm>
                        <a:prstGeom prst="rect">
                          <a:avLst/>
                        </a:prstGeom>
                      </p:spPr>
                    </p:pic>
                  </p:oleObj>
                </mc:Fallback>
              </mc:AlternateContent>
            </a:graphicData>
          </a:graphic>
        </p:graphicFrame>
      </p:grpSp>
      <p:graphicFrame>
        <p:nvGraphicFramePr>
          <p:cNvPr id="17" name="Object 16">
            <a:extLst>
              <a:ext uri="{FF2B5EF4-FFF2-40B4-BE49-F238E27FC236}">
                <a16:creationId xmlns:a16="http://schemas.microsoft.com/office/drawing/2014/main" id="{C5989E8E-B049-C823-C77A-0EE3AE8C3854}"/>
              </a:ext>
            </a:extLst>
          </p:cNvPr>
          <p:cNvGraphicFramePr>
            <a:graphicFrameLocks noChangeAspect="1"/>
          </p:cNvGraphicFramePr>
          <p:nvPr>
            <p:extLst>
              <p:ext uri="{D42A27DB-BD31-4B8C-83A1-F6EECF244321}">
                <p14:modId xmlns:p14="http://schemas.microsoft.com/office/powerpoint/2010/main" val="3577738434"/>
              </p:ext>
            </p:extLst>
          </p:nvPr>
        </p:nvGraphicFramePr>
        <p:xfrm>
          <a:off x="8513064" y="2800096"/>
          <a:ext cx="3629025" cy="962025"/>
        </p:xfrm>
        <a:graphic>
          <a:graphicData uri="http://schemas.openxmlformats.org/presentationml/2006/ole">
            <mc:AlternateContent xmlns:mc="http://schemas.openxmlformats.org/markup-compatibility/2006">
              <mc:Choice xmlns:v="urn:schemas-microsoft-com:vml" Requires="v">
                <p:oleObj name="Worksheet" r:id="rId11" imgW="3628892" imgH="961888" progId="Excel.Sheet.12">
                  <p:embed/>
                </p:oleObj>
              </mc:Choice>
              <mc:Fallback>
                <p:oleObj name="Worksheet" r:id="rId11" imgW="3628892" imgH="961888" progId="Excel.Sheet.12">
                  <p:embed/>
                  <p:pic>
                    <p:nvPicPr>
                      <p:cNvPr id="17" name="Object 16">
                        <a:extLst>
                          <a:ext uri="{FF2B5EF4-FFF2-40B4-BE49-F238E27FC236}">
                            <a16:creationId xmlns:a16="http://schemas.microsoft.com/office/drawing/2014/main" id="{C5989E8E-B049-C823-C77A-0EE3AE8C3854}"/>
                          </a:ext>
                        </a:extLst>
                      </p:cNvPr>
                      <p:cNvPicPr/>
                      <p:nvPr/>
                    </p:nvPicPr>
                    <p:blipFill>
                      <a:blip r:embed="rId12"/>
                      <a:stretch>
                        <a:fillRect/>
                      </a:stretch>
                    </p:blipFill>
                    <p:spPr>
                      <a:xfrm>
                        <a:off x="8513064" y="2800096"/>
                        <a:ext cx="3629025" cy="962025"/>
                      </a:xfrm>
                      <a:prstGeom prst="rect">
                        <a:avLst/>
                      </a:prstGeom>
                    </p:spPr>
                  </p:pic>
                </p:oleObj>
              </mc:Fallback>
            </mc:AlternateContent>
          </a:graphicData>
        </a:graphic>
      </p:graphicFrame>
    </p:spTree>
    <p:extLst>
      <p:ext uri="{BB962C8B-B14F-4D97-AF65-F5344CB8AC3E}">
        <p14:creationId xmlns:p14="http://schemas.microsoft.com/office/powerpoint/2010/main" val="31131841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582A04"/>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a:solidFill>
                  <a:schemeClr val="tx1"/>
                </a:solidFill>
              </a:rPr>
              <a:t>Appendices</a:t>
            </a:r>
          </a:p>
        </p:txBody>
      </p:sp>
    </p:spTree>
    <p:extLst>
      <p:ext uri="{BB962C8B-B14F-4D97-AF65-F5344CB8AC3E}">
        <p14:creationId xmlns:p14="http://schemas.microsoft.com/office/powerpoint/2010/main" val="15294005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 name="Title 1"/>
          <p:cNvSpPr>
            <a:spLocks noGrp="1"/>
          </p:cNvSpPr>
          <p:nvPr>
            <p:ph type="title"/>
          </p:nvPr>
        </p:nvSpPr>
        <p:spPr/>
        <p:txBody>
          <a:bodyPr lIns="91440" tIns="45720" rIns="91440" bIns="45720" anchor="t">
            <a:spAutoFit/>
          </a:bodyPr>
          <a:lstStyle/>
          <a:p>
            <a:r>
              <a:rPr lang="en-US" b="1">
                <a:solidFill>
                  <a:srgbClr val="582A04"/>
                </a:solidFill>
                <a:latin typeface="+mn-lt"/>
              </a:rPr>
              <a:t>Appendix I – Ivory Coast Cocoa Production by %</a:t>
            </a:r>
            <a:endParaRPr lang="en-US"/>
          </a:p>
        </p:txBody>
      </p:sp>
      <p:sp>
        <p:nvSpPr>
          <p:cNvPr id="25" name="TextBox 24">
            <a:extLst>
              <a:ext uri="{FF2B5EF4-FFF2-40B4-BE49-F238E27FC236}">
                <a16:creationId xmlns:a16="http://schemas.microsoft.com/office/drawing/2014/main" id="{A9A8DCF5-C520-45B2-8A32-7902EB845721}"/>
              </a:ext>
            </a:extLst>
          </p:cNvPr>
          <p:cNvSpPr txBox="1"/>
          <p:nvPr/>
        </p:nvSpPr>
        <p:spPr>
          <a:xfrm>
            <a:off x="608400" y="1214930"/>
            <a:ext cx="10972800" cy="261610"/>
          </a:xfrm>
          <a:prstGeom prst="rect">
            <a:avLst/>
          </a:prstGeom>
          <a:solidFill>
            <a:srgbClr val="582A04"/>
          </a:solidFill>
        </p:spPr>
        <p:txBody>
          <a:bodyPr wrap="square" lIns="91440" tIns="45720" rIns="91440" bIns="45720" rtlCol="0" anchor="t">
            <a:spAutoFit/>
          </a:bodyPr>
          <a:lstStyle/>
          <a:p>
            <a:endParaRPr lang="en-US" sz="1100" b="1">
              <a:solidFill>
                <a:schemeClr val="bg1"/>
              </a:solidFill>
              <a:ea typeface="Open Sans Light"/>
              <a:cs typeface="Open Sans Light"/>
            </a:endParaRPr>
          </a:p>
        </p:txBody>
      </p:sp>
      <p:cxnSp>
        <p:nvCxnSpPr>
          <p:cNvPr id="5" name="Straight Connector 4">
            <a:extLst>
              <a:ext uri="{FF2B5EF4-FFF2-40B4-BE49-F238E27FC236}">
                <a16:creationId xmlns:a16="http://schemas.microsoft.com/office/drawing/2014/main" id="{B3E937F4-3F90-9878-F063-AAD5EF88A1F8}"/>
              </a:ext>
            </a:extLst>
          </p:cNvPr>
          <p:cNvCxnSpPr/>
          <p:nvPr/>
        </p:nvCxnSpPr>
        <p:spPr>
          <a:xfrm>
            <a:off x="0" y="1011749"/>
            <a:ext cx="2185147" cy="0"/>
          </a:xfrm>
          <a:prstGeom prst="line">
            <a:avLst/>
          </a:prstGeom>
          <a:ln w="19050">
            <a:solidFill>
              <a:schemeClr val="bg2">
                <a:lumMod val="90000"/>
              </a:schemeClr>
            </a:solidFill>
          </a:ln>
        </p:spPr>
        <p:style>
          <a:lnRef idx="1">
            <a:schemeClr val="accent2"/>
          </a:lnRef>
          <a:fillRef idx="0">
            <a:schemeClr val="accent2"/>
          </a:fillRef>
          <a:effectRef idx="0">
            <a:schemeClr val="accent2"/>
          </a:effectRef>
          <a:fontRef idx="minor">
            <a:schemeClr val="tx1"/>
          </a:fontRef>
        </p:style>
      </p:cxnSp>
      <p:pic>
        <p:nvPicPr>
          <p:cNvPr id="2" name="Picture 1">
            <a:extLst>
              <a:ext uri="{FF2B5EF4-FFF2-40B4-BE49-F238E27FC236}">
                <a16:creationId xmlns:a16="http://schemas.microsoft.com/office/drawing/2014/main" id="{CC406379-5B14-C1B8-5E43-3D948CCC4757}"/>
              </a:ext>
            </a:extLst>
          </p:cNvPr>
          <p:cNvPicPr>
            <a:picLocks noChangeAspect="1"/>
          </p:cNvPicPr>
          <p:nvPr/>
        </p:nvPicPr>
        <p:blipFill>
          <a:blip r:embed="rId2"/>
          <a:stretch>
            <a:fillRect/>
          </a:stretch>
        </p:blipFill>
        <p:spPr>
          <a:xfrm>
            <a:off x="2268843" y="1965282"/>
            <a:ext cx="7153275" cy="4305300"/>
          </a:xfrm>
          <a:prstGeom prst="rect">
            <a:avLst/>
          </a:prstGeom>
        </p:spPr>
      </p:pic>
    </p:spTree>
    <p:extLst>
      <p:ext uri="{BB962C8B-B14F-4D97-AF65-F5344CB8AC3E}">
        <p14:creationId xmlns:p14="http://schemas.microsoft.com/office/powerpoint/2010/main" val="636750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 name="Title 1"/>
          <p:cNvSpPr>
            <a:spLocks noGrp="1"/>
          </p:cNvSpPr>
          <p:nvPr>
            <p:ph type="title"/>
          </p:nvPr>
        </p:nvSpPr>
        <p:spPr/>
        <p:txBody>
          <a:bodyPr lIns="91440" tIns="45720" rIns="91440" bIns="45720" anchor="t">
            <a:spAutoFit/>
          </a:bodyPr>
          <a:lstStyle/>
          <a:p>
            <a:r>
              <a:rPr lang="en-US" b="1">
                <a:solidFill>
                  <a:srgbClr val="582A04"/>
                </a:solidFill>
                <a:latin typeface="+mn-lt"/>
              </a:rPr>
              <a:t>Appendix 2 – 10k: Purchase Obligations</a:t>
            </a:r>
            <a:endParaRPr lang="en-US"/>
          </a:p>
        </p:txBody>
      </p:sp>
      <p:sp>
        <p:nvSpPr>
          <p:cNvPr id="25" name="TextBox 24">
            <a:extLst>
              <a:ext uri="{FF2B5EF4-FFF2-40B4-BE49-F238E27FC236}">
                <a16:creationId xmlns:a16="http://schemas.microsoft.com/office/drawing/2014/main" id="{A9A8DCF5-C520-45B2-8A32-7902EB845721}"/>
              </a:ext>
            </a:extLst>
          </p:cNvPr>
          <p:cNvSpPr txBox="1"/>
          <p:nvPr/>
        </p:nvSpPr>
        <p:spPr>
          <a:xfrm>
            <a:off x="608400" y="1214930"/>
            <a:ext cx="10972800" cy="261610"/>
          </a:xfrm>
          <a:prstGeom prst="rect">
            <a:avLst/>
          </a:prstGeom>
          <a:solidFill>
            <a:srgbClr val="582A04"/>
          </a:solidFill>
        </p:spPr>
        <p:txBody>
          <a:bodyPr wrap="square" lIns="91440" tIns="45720" rIns="91440" bIns="45720" rtlCol="0" anchor="t">
            <a:spAutoFit/>
          </a:bodyPr>
          <a:lstStyle/>
          <a:p>
            <a:endParaRPr lang="en-US" sz="1100" b="1">
              <a:solidFill>
                <a:schemeClr val="bg1"/>
              </a:solidFill>
              <a:ea typeface="Open Sans Light"/>
              <a:cs typeface="Open Sans Light"/>
            </a:endParaRPr>
          </a:p>
        </p:txBody>
      </p:sp>
      <p:cxnSp>
        <p:nvCxnSpPr>
          <p:cNvPr id="5" name="Straight Connector 4">
            <a:extLst>
              <a:ext uri="{FF2B5EF4-FFF2-40B4-BE49-F238E27FC236}">
                <a16:creationId xmlns:a16="http://schemas.microsoft.com/office/drawing/2014/main" id="{B3E937F4-3F90-9878-F063-AAD5EF88A1F8}"/>
              </a:ext>
            </a:extLst>
          </p:cNvPr>
          <p:cNvCxnSpPr/>
          <p:nvPr/>
        </p:nvCxnSpPr>
        <p:spPr>
          <a:xfrm>
            <a:off x="0" y="1011749"/>
            <a:ext cx="2185147" cy="0"/>
          </a:xfrm>
          <a:prstGeom prst="line">
            <a:avLst/>
          </a:prstGeom>
          <a:ln w="19050">
            <a:solidFill>
              <a:schemeClr val="bg2">
                <a:lumMod val="90000"/>
              </a:schemeClr>
            </a:solidFill>
          </a:ln>
        </p:spPr>
        <p:style>
          <a:lnRef idx="1">
            <a:schemeClr val="accent2"/>
          </a:lnRef>
          <a:fillRef idx="0">
            <a:schemeClr val="accent2"/>
          </a:fillRef>
          <a:effectRef idx="0">
            <a:schemeClr val="accent2"/>
          </a:effectRef>
          <a:fontRef idx="minor">
            <a:schemeClr val="tx1"/>
          </a:fontRef>
        </p:style>
      </p:cxnSp>
      <p:pic>
        <p:nvPicPr>
          <p:cNvPr id="4" name="Picture 3">
            <a:extLst>
              <a:ext uri="{FF2B5EF4-FFF2-40B4-BE49-F238E27FC236}">
                <a16:creationId xmlns:a16="http://schemas.microsoft.com/office/drawing/2014/main" id="{4A2C549F-183E-09D5-DD12-9D17F3A78984}"/>
              </a:ext>
            </a:extLst>
          </p:cNvPr>
          <p:cNvPicPr>
            <a:picLocks noChangeAspect="1"/>
          </p:cNvPicPr>
          <p:nvPr/>
        </p:nvPicPr>
        <p:blipFill>
          <a:blip r:embed="rId2"/>
          <a:stretch>
            <a:fillRect/>
          </a:stretch>
        </p:blipFill>
        <p:spPr>
          <a:xfrm>
            <a:off x="587375" y="2578326"/>
            <a:ext cx="10972800" cy="2922141"/>
          </a:xfrm>
          <a:prstGeom prst="rect">
            <a:avLst/>
          </a:prstGeom>
        </p:spPr>
      </p:pic>
    </p:spTree>
    <p:extLst>
      <p:ext uri="{BB962C8B-B14F-4D97-AF65-F5344CB8AC3E}">
        <p14:creationId xmlns:p14="http://schemas.microsoft.com/office/powerpoint/2010/main" val="39994183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 name="Title 1"/>
          <p:cNvSpPr>
            <a:spLocks noGrp="1"/>
          </p:cNvSpPr>
          <p:nvPr>
            <p:ph type="title"/>
          </p:nvPr>
        </p:nvSpPr>
        <p:spPr/>
        <p:txBody>
          <a:bodyPr lIns="91440" tIns="45720" rIns="91440" bIns="45720" anchor="t">
            <a:spAutoFit/>
          </a:bodyPr>
          <a:lstStyle/>
          <a:p>
            <a:r>
              <a:rPr lang="en-US" b="1">
                <a:solidFill>
                  <a:srgbClr val="582A04"/>
                </a:solidFill>
                <a:latin typeface="+mn-lt"/>
              </a:rPr>
              <a:t>Appendix 3 – Pro Forma Income Statement</a:t>
            </a:r>
            <a:endParaRPr lang="en-US"/>
          </a:p>
        </p:txBody>
      </p:sp>
      <p:sp>
        <p:nvSpPr>
          <p:cNvPr id="25" name="TextBox 24">
            <a:extLst>
              <a:ext uri="{FF2B5EF4-FFF2-40B4-BE49-F238E27FC236}">
                <a16:creationId xmlns:a16="http://schemas.microsoft.com/office/drawing/2014/main" id="{A9A8DCF5-C520-45B2-8A32-7902EB845721}"/>
              </a:ext>
            </a:extLst>
          </p:cNvPr>
          <p:cNvSpPr txBox="1"/>
          <p:nvPr/>
        </p:nvSpPr>
        <p:spPr>
          <a:xfrm>
            <a:off x="608400" y="1214930"/>
            <a:ext cx="10972800" cy="261610"/>
          </a:xfrm>
          <a:prstGeom prst="rect">
            <a:avLst/>
          </a:prstGeom>
          <a:solidFill>
            <a:srgbClr val="582A04"/>
          </a:solidFill>
        </p:spPr>
        <p:txBody>
          <a:bodyPr wrap="square" lIns="91440" tIns="45720" rIns="91440" bIns="45720" rtlCol="0" anchor="t">
            <a:spAutoFit/>
          </a:bodyPr>
          <a:lstStyle/>
          <a:p>
            <a:endParaRPr lang="en-US" sz="1100" b="1">
              <a:solidFill>
                <a:schemeClr val="bg1"/>
              </a:solidFill>
              <a:ea typeface="Open Sans Light"/>
              <a:cs typeface="Open Sans Light"/>
            </a:endParaRPr>
          </a:p>
        </p:txBody>
      </p:sp>
      <p:cxnSp>
        <p:nvCxnSpPr>
          <p:cNvPr id="5" name="Straight Connector 4">
            <a:extLst>
              <a:ext uri="{FF2B5EF4-FFF2-40B4-BE49-F238E27FC236}">
                <a16:creationId xmlns:a16="http://schemas.microsoft.com/office/drawing/2014/main" id="{B3E937F4-3F90-9878-F063-AAD5EF88A1F8}"/>
              </a:ext>
            </a:extLst>
          </p:cNvPr>
          <p:cNvCxnSpPr/>
          <p:nvPr/>
        </p:nvCxnSpPr>
        <p:spPr>
          <a:xfrm>
            <a:off x="0" y="1011749"/>
            <a:ext cx="2185147" cy="0"/>
          </a:xfrm>
          <a:prstGeom prst="line">
            <a:avLst/>
          </a:prstGeom>
          <a:ln w="19050">
            <a:solidFill>
              <a:schemeClr val="bg2">
                <a:lumMod val="90000"/>
              </a:schemeClr>
            </a:solidFill>
          </a:ln>
        </p:spPr>
        <p:style>
          <a:lnRef idx="1">
            <a:schemeClr val="accent2"/>
          </a:lnRef>
          <a:fillRef idx="0">
            <a:schemeClr val="accent2"/>
          </a:fillRef>
          <a:effectRef idx="0">
            <a:schemeClr val="accent2"/>
          </a:effectRef>
          <a:fontRef idx="minor">
            <a:schemeClr val="tx1"/>
          </a:fontRef>
        </p:style>
      </p:cxnSp>
      <p:graphicFrame>
        <p:nvGraphicFramePr>
          <p:cNvPr id="4" name="Object 3">
            <a:extLst>
              <a:ext uri="{FF2B5EF4-FFF2-40B4-BE49-F238E27FC236}">
                <a16:creationId xmlns:a16="http://schemas.microsoft.com/office/drawing/2014/main" id="{65FE94FB-FA1E-8791-89FB-53FF8E3241F1}"/>
              </a:ext>
            </a:extLst>
          </p:cNvPr>
          <p:cNvGraphicFramePr>
            <a:graphicFrameLocks noChangeAspect="1"/>
          </p:cNvGraphicFramePr>
          <p:nvPr>
            <p:extLst>
              <p:ext uri="{D42A27DB-BD31-4B8C-83A1-F6EECF244321}">
                <p14:modId xmlns:p14="http://schemas.microsoft.com/office/powerpoint/2010/main" val="4146172091"/>
              </p:ext>
            </p:extLst>
          </p:nvPr>
        </p:nvGraphicFramePr>
        <p:xfrm>
          <a:off x="2414816" y="1527877"/>
          <a:ext cx="7359967" cy="4957604"/>
        </p:xfrm>
        <a:graphic>
          <a:graphicData uri="http://schemas.openxmlformats.org/presentationml/2006/ole">
            <mc:AlternateContent xmlns:mc="http://schemas.openxmlformats.org/markup-compatibility/2006">
              <mc:Choice xmlns:v="urn:schemas-microsoft-com:vml" Requires="v">
                <p:oleObj name="Worksheet" r:id="rId2" imgW="9629908" imgH="6486643" progId="Excel.Sheet.12">
                  <p:embed/>
                </p:oleObj>
              </mc:Choice>
              <mc:Fallback>
                <p:oleObj name="Worksheet" r:id="rId2" imgW="9629908" imgH="6486643" progId="Excel.Sheet.12">
                  <p:embed/>
                  <p:pic>
                    <p:nvPicPr>
                      <p:cNvPr id="4" name="Object 3">
                        <a:extLst>
                          <a:ext uri="{FF2B5EF4-FFF2-40B4-BE49-F238E27FC236}">
                            <a16:creationId xmlns:a16="http://schemas.microsoft.com/office/drawing/2014/main" id="{65FE94FB-FA1E-8791-89FB-53FF8E3241F1}"/>
                          </a:ext>
                        </a:extLst>
                      </p:cNvPr>
                      <p:cNvPicPr/>
                      <p:nvPr/>
                    </p:nvPicPr>
                    <p:blipFill>
                      <a:blip r:embed="rId3"/>
                      <a:stretch>
                        <a:fillRect/>
                      </a:stretch>
                    </p:blipFill>
                    <p:spPr>
                      <a:xfrm>
                        <a:off x="2414816" y="1527877"/>
                        <a:ext cx="7359967" cy="4957604"/>
                      </a:xfrm>
                      <a:prstGeom prst="rect">
                        <a:avLst/>
                      </a:prstGeom>
                    </p:spPr>
                  </p:pic>
                </p:oleObj>
              </mc:Fallback>
            </mc:AlternateContent>
          </a:graphicData>
        </a:graphic>
      </p:graphicFrame>
    </p:spTree>
    <p:extLst>
      <p:ext uri="{BB962C8B-B14F-4D97-AF65-F5344CB8AC3E}">
        <p14:creationId xmlns:p14="http://schemas.microsoft.com/office/powerpoint/2010/main" val="21533021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 name="Title 1"/>
          <p:cNvSpPr>
            <a:spLocks noGrp="1"/>
          </p:cNvSpPr>
          <p:nvPr>
            <p:ph type="title"/>
          </p:nvPr>
        </p:nvSpPr>
        <p:spPr/>
        <p:txBody>
          <a:bodyPr lIns="91440" tIns="45720" rIns="91440" bIns="45720" anchor="t">
            <a:spAutoFit/>
          </a:bodyPr>
          <a:lstStyle/>
          <a:p>
            <a:r>
              <a:rPr lang="en-US" b="1">
                <a:solidFill>
                  <a:srgbClr val="582A04"/>
                </a:solidFill>
                <a:latin typeface="+mn-lt"/>
              </a:rPr>
              <a:t>Appendix 4 – Pro Forma Balance Sheet Pt 1</a:t>
            </a:r>
            <a:endParaRPr lang="en-US"/>
          </a:p>
        </p:txBody>
      </p:sp>
      <p:sp>
        <p:nvSpPr>
          <p:cNvPr id="25" name="TextBox 24">
            <a:extLst>
              <a:ext uri="{FF2B5EF4-FFF2-40B4-BE49-F238E27FC236}">
                <a16:creationId xmlns:a16="http://schemas.microsoft.com/office/drawing/2014/main" id="{A9A8DCF5-C520-45B2-8A32-7902EB845721}"/>
              </a:ext>
            </a:extLst>
          </p:cNvPr>
          <p:cNvSpPr txBox="1"/>
          <p:nvPr/>
        </p:nvSpPr>
        <p:spPr>
          <a:xfrm>
            <a:off x="608400" y="1214930"/>
            <a:ext cx="10972800" cy="261610"/>
          </a:xfrm>
          <a:prstGeom prst="rect">
            <a:avLst/>
          </a:prstGeom>
          <a:solidFill>
            <a:srgbClr val="582A04"/>
          </a:solidFill>
        </p:spPr>
        <p:txBody>
          <a:bodyPr wrap="square" lIns="91440" tIns="45720" rIns="91440" bIns="45720" rtlCol="0" anchor="t">
            <a:spAutoFit/>
          </a:bodyPr>
          <a:lstStyle/>
          <a:p>
            <a:endParaRPr lang="en-US" sz="1100" b="1">
              <a:solidFill>
                <a:schemeClr val="bg1"/>
              </a:solidFill>
              <a:ea typeface="Open Sans Light"/>
              <a:cs typeface="Open Sans Light"/>
            </a:endParaRPr>
          </a:p>
        </p:txBody>
      </p:sp>
      <p:cxnSp>
        <p:nvCxnSpPr>
          <p:cNvPr id="5" name="Straight Connector 4">
            <a:extLst>
              <a:ext uri="{FF2B5EF4-FFF2-40B4-BE49-F238E27FC236}">
                <a16:creationId xmlns:a16="http://schemas.microsoft.com/office/drawing/2014/main" id="{B3E937F4-3F90-9878-F063-AAD5EF88A1F8}"/>
              </a:ext>
            </a:extLst>
          </p:cNvPr>
          <p:cNvCxnSpPr/>
          <p:nvPr/>
        </p:nvCxnSpPr>
        <p:spPr>
          <a:xfrm>
            <a:off x="0" y="1011749"/>
            <a:ext cx="2185147" cy="0"/>
          </a:xfrm>
          <a:prstGeom prst="line">
            <a:avLst/>
          </a:prstGeom>
          <a:ln w="19050">
            <a:solidFill>
              <a:schemeClr val="bg2">
                <a:lumMod val="90000"/>
              </a:schemeClr>
            </a:solidFill>
          </a:ln>
        </p:spPr>
        <p:style>
          <a:lnRef idx="1">
            <a:schemeClr val="accent2"/>
          </a:lnRef>
          <a:fillRef idx="0">
            <a:schemeClr val="accent2"/>
          </a:fillRef>
          <a:effectRef idx="0">
            <a:schemeClr val="accent2"/>
          </a:effectRef>
          <a:fontRef idx="minor">
            <a:schemeClr val="tx1"/>
          </a:fontRef>
        </p:style>
      </p:cxnSp>
      <p:graphicFrame>
        <p:nvGraphicFramePr>
          <p:cNvPr id="7" name="Object 6">
            <a:extLst>
              <a:ext uri="{FF2B5EF4-FFF2-40B4-BE49-F238E27FC236}">
                <a16:creationId xmlns:a16="http://schemas.microsoft.com/office/drawing/2014/main" id="{C015DC44-8F2A-E737-B2A4-6130486B463E}"/>
              </a:ext>
            </a:extLst>
          </p:cNvPr>
          <p:cNvGraphicFramePr>
            <a:graphicFrameLocks noChangeAspect="1"/>
          </p:cNvGraphicFramePr>
          <p:nvPr>
            <p:extLst>
              <p:ext uri="{D42A27DB-BD31-4B8C-83A1-F6EECF244321}">
                <p14:modId xmlns:p14="http://schemas.microsoft.com/office/powerpoint/2010/main" val="3661456238"/>
              </p:ext>
            </p:extLst>
          </p:nvPr>
        </p:nvGraphicFramePr>
        <p:xfrm>
          <a:off x="1124713" y="2279235"/>
          <a:ext cx="8931480" cy="3904762"/>
        </p:xfrm>
        <a:graphic>
          <a:graphicData uri="http://schemas.openxmlformats.org/presentationml/2006/ole">
            <mc:AlternateContent xmlns:mc="http://schemas.openxmlformats.org/markup-compatibility/2006">
              <mc:Choice xmlns:v="urn:schemas-microsoft-com:vml" Requires="v">
                <p:oleObj name="Worksheet" r:id="rId2" imgW="9629908" imgH="4210246" progId="Excel.Sheet.12">
                  <p:embed/>
                </p:oleObj>
              </mc:Choice>
              <mc:Fallback>
                <p:oleObj name="Worksheet" r:id="rId2" imgW="9629908" imgH="4210246" progId="Excel.Sheet.12">
                  <p:embed/>
                  <p:pic>
                    <p:nvPicPr>
                      <p:cNvPr id="7" name="Object 6">
                        <a:extLst>
                          <a:ext uri="{FF2B5EF4-FFF2-40B4-BE49-F238E27FC236}">
                            <a16:creationId xmlns:a16="http://schemas.microsoft.com/office/drawing/2014/main" id="{C015DC44-8F2A-E737-B2A4-6130486B463E}"/>
                          </a:ext>
                        </a:extLst>
                      </p:cNvPr>
                      <p:cNvPicPr/>
                      <p:nvPr/>
                    </p:nvPicPr>
                    <p:blipFill>
                      <a:blip r:embed="rId3"/>
                      <a:stretch>
                        <a:fillRect/>
                      </a:stretch>
                    </p:blipFill>
                    <p:spPr>
                      <a:xfrm>
                        <a:off x="1124713" y="2279235"/>
                        <a:ext cx="8931480" cy="3904762"/>
                      </a:xfrm>
                      <a:prstGeom prst="rect">
                        <a:avLst/>
                      </a:prstGeom>
                    </p:spPr>
                  </p:pic>
                </p:oleObj>
              </mc:Fallback>
            </mc:AlternateContent>
          </a:graphicData>
        </a:graphic>
      </p:graphicFrame>
    </p:spTree>
    <p:extLst>
      <p:ext uri="{BB962C8B-B14F-4D97-AF65-F5344CB8AC3E}">
        <p14:creationId xmlns:p14="http://schemas.microsoft.com/office/powerpoint/2010/main" val="32519214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 name="Title 1"/>
          <p:cNvSpPr>
            <a:spLocks noGrp="1"/>
          </p:cNvSpPr>
          <p:nvPr>
            <p:ph type="title"/>
          </p:nvPr>
        </p:nvSpPr>
        <p:spPr/>
        <p:txBody>
          <a:bodyPr lIns="91440" tIns="45720" rIns="91440" bIns="45720" anchor="t">
            <a:spAutoFit/>
          </a:bodyPr>
          <a:lstStyle/>
          <a:p>
            <a:r>
              <a:rPr lang="en-US" b="1">
                <a:solidFill>
                  <a:srgbClr val="582A04"/>
                </a:solidFill>
                <a:latin typeface="+mn-lt"/>
              </a:rPr>
              <a:t>Appendix 5 – Pro Forma Balance Sheet Pt 2</a:t>
            </a:r>
            <a:endParaRPr lang="en-US"/>
          </a:p>
        </p:txBody>
      </p:sp>
      <p:sp>
        <p:nvSpPr>
          <p:cNvPr id="25" name="TextBox 24">
            <a:extLst>
              <a:ext uri="{FF2B5EF4-FFF2-40B4-BE49-F238E27FC236}">
                <a16:creationId xmlns:a16="http://schemas.microsoft.com/office/drawing/2014/main" id="{A9A8DCF5-C520-45B2-8A32-7902EB845721}"/>
              </a:ext>
            </a:extLst>
          </p:cNvPr>
          <p:cNvSpPr txBox="1"/>
          <p:nvPr/>
        </p:nvSpPr>
        <p:spPr>
          <a:xfrm>
            <a:off x="608400" y="1214930"/>
            <a:ext cx="10972800" cy="261610"/>
          </a:xfrm>
          <a:prstGeom prst="rect">
            <a:avLst/>
          </a:prstGeom>
          <a:solidFill>
            <a:srgbClr val="582A04"/>
          </a:solidFill>
        </p:spPr>
        <p:txBody>
          <a:bodyPr wrap="square" lIns="91440" tIns="45720" rIns="91440" bIns="45720" rtlCol="0" anchor="t">
            <a:spAutoFit/>
          </a:bodyPr>
          <a:lstStyle/>
          <a:p>
            <a:endParaRPr lang="en-US" sz="1100" b="1">
              <a:solidFill>
                <a:schemeClr val="bg1"/>
              </a:solidFill>
              <a:ea typeface="Open Sans Light"/>
              <a:cs typeface="Open Sans Light"/>
            </a:endParaRPr>
          </a:p>
        </p:txBody>
      </p:sp>
      <p:cxnSp>
        <p:nvCxnSpPr>
          <p:cNvPr id="5" name="Straight Connector 4">
            <a:extLst>
              <a:ext uri="{FF2B5EF4-FFF2-40B4-BE49-F238E27FC236}">
                <a16:creationId xmlns:a16="http://schemas.microsoft.com/office/drawing/2014/main" id="{B3E937F4-3F90-9878-F063-AAD5EF88A1F8}"/>
              </a:ext>
            </a:extLst>
          </p:cNvPr>
          <p:cNvCxnSpPr/>
          <p:nvPr/>
        </p:nvCxnSpPr>
        <p:spPr>
          <a:xfrm>
            <a:off x="0" y="1011749"/>
            <a:ext cx="2185147" cy="0"/>
          </a:xfrm>
          <a:prstGeom prst="line">
            <a:avLst/>
          </a:prstGeom>
          <a:ln w="19050">
            <a:solidFill>
              <a:schemeClr val="bg2">
                <a:lumMod val="90000"/>
              </a:schemeClr>
            </a:solidFill>
          </a:ln>
        </p:spPr>
        <p:style>
          <a:lnRef idx="1">
            <a:schemeClr val="accent2"/>
          </a:lnRef>
          <a:fillRef idx="0">
            <a:schemeClr val="accent2"/>
          </a:fillRef>
          <a:effectRef idx="0">
            <a:schemeClr val="accent2"/>
          </a:effectRef>
          <a:fontRef idx="minor">
            <a:schemeClr val="tx1"/>
          </a:fontRef>
        </p:style>
      </p:cxnSp>
      <p:graphicFrame>
        <p:nvGraphicFramePr>
          <p:cNvPr id="9" name="Object 8">
            <a:extLst>
              <a:ext uri="{FF2B5EF4-FFF2-40B4-BE49-F238E27FC236}">
                <a16:creationId xmlns:a16="http://schemas.microsoft.com/office/drawing/2014/main" id="{0DC6D108-6C49-71F6-2DD8-A98372E8C297}"/>
              </a:ext>
            </a:extLst>
          </p:cNvPr>
          <p:cNvGraphicFramePr>
            <a:graphicFrameLocks noChangeAspect="1"/>
          </p:cNvGraphicFramePr>
          <p:nvPr>
            <p:extLst>
              <p:ext uri="{D42A27DB-BD31-4B8C-83A1-F6EECF244321}">
                <p14:modId xmlns:p14="http://schemas.microsoft.com/office/powerpoint/2010/main" val="474227421"/>
              </p:ext>
            </p:extLst>
          </p:nvPr>
        </p:nvGraphicFramePr>
        <p:xfrm>
          <a:off x="1709928" y="1566291"/>
          <a:ext cx="8639366" cy="3928895"/>
        </p:xfrm>
        <a:graphic>
          <a:graphicData uri="http://schemas.openxmlformats.org/presentationml/2006/ole">
            <mc:AlternateContent xmlns:mc="http://schemas.openxmlformats.org/markup-compatibility/2006">
              <mc:Choice xmlns:v="urn:schemas-microsoft-com:vml" Requires="v">
                <p:oleObj name="Worksheet" r:id="rId2" imgW="11772900" imgH="5352952" progId="Excel.Sheet.12">
                  <p:embed/>
                </p:oleObj>
              </mc:Choice>
              <mc:Fallback>
                <p:oleObj name="Worksheet" r:id="rId2" imgW="11772900" imgH="5352952" progId="Excel.Sheet.12">
                  <p:embed/>
                  <p:pic>
                    <p:nvPicPr>
                      <p:cNvPr id="9" name="Object 8">
                        <a:extLst>
                          <a:ext uri="{FF2B5EF4-FFF2-40B4-BE49-F238E27FC236}">
                            <a16:creationId xmlns:a16="http://schemas.microsoft.com/office/drawing/2014/main" id="{0DC6D108-6C49-71F6-2DD8-A98372E8C297}"/>
                          </a:ext>
                        </a:extLst>
                      </p:cNvPr>
                      <p:cNvPicPr/>
                      <p:nvPr/>
                    </p:nvPicPr>
                    <p:blipFill>
                      <a:blip r:embed="rId3"/>
                      <a:stretch>
                        <a:fillRect/>
                      </a:stretch>
                    </p:blipFill>
                    <p:spPr>
                      <a:xfrm>
                        <a:off x="1709928" y="1566291"/>
                        <a:ext cx="8639366" cy="3928895"/>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8BC9B227-BE06-9D81-6075-3B06F854C60F}"/>
              </a:ext>
            </a:extLst>
          </p:cNvPr>
          <p:cNvGraphicFramePr>
            <a:graphicFrameLocks noChangeAspect="1"/>
          </p:cNvGraphicFramePr>
          <p:nvPr>
            <p:extLst>
              <p:ext uri="{D42A27DB-BD31-4B8C-83A1-F6EECF244321}">
                <p14:modId xmlns:p14="http://schemas.microsoft.com/office/powerpoint/2010/main" val="3262101115"/>
              </p:ext>
            </p:extLst>
          </p:nvPr>
        </p:nvGraphicFramePr>
        <p:xfrm>
          <a:off x="1709929" y="5643070"/>
          <a:ext cx="8639366" cy="581025"/>
        </p:xfrm>
        <a:graphic>
          <a:graphicData uri="http://schemas.openxmlformats.org/presentationml/2006/ole">
            <mc:AlternateContent xmlns:mc="http://schemas.openxmlformats.org/markup-compatibility/2006">
              <mc:Choice xmlns:v="urn:schemas-microsoft-com:vml" Requires="v">
                <p:oleObj name="Worksheet" r:id="rId4" imgW="9629908" imgH="581162" progId="Excel.Sheet.12">
                  <p:embed/>
                </p:oleObj>
              </mc:Choice>
              <mc:Fallback>
                <p:oleObj name="Worksheet" r:id="rId4" imgW="9629908" imgH="581162" progId="Excel.Sheet.12">
                  <p:embed/>
                  <p:pic>
                    <p:nvPicPr>
                      <p:cNvPr id="3" name="Object 2">
                        <a:extLst>
                          <a:ext uri="{FF2B5EF4-FFF2-40B4-BE49-F238E27FC236}">
                            <a16:creationId xmlns:a16="http://schemas.microsoft.com/office/drawing/2014/main" id="{8BC9B227-BE06-9D81-6075-3B06F854C60F}"/>
                          </a:ext>
                        </a:extLst>
                      </p:cNvPr>
                      <p:cNvPicPr/>
                      <p:nvPr/>
                    </p:nvPicPr>
                    <p:blipFill>
                      <a:blip r:embed="rId5"/>
                      <a:stretch>
                        <a:fillRect/>
                      </a:stretch>
                    </p:blipFill>
                    <p:spPr>
                      <a:xfrm>
                        <a:off x="1709929" y="5643070"/>
                        <a:ext cx="8639366" cy="581025"/>
                      </a:xfrm>
                      <a:prstGeom prst="rect">
                        <a:avLst/>
                      </a:prstGeom>
                    </p:spPr>
                  </p:pic>
                </p:oleObj>
              </mc:Fallback>
            </mc:AlternateContent>
          </a:graphicData>
        </a:graphic>
      </p:graphicFrame>
    </p:spTree>
    <p:extLst>
      <p:ext uri="{BB962C8B-B14F-4D97-AF65-F5344CB8AC3E}">
        <p14:creationId xmlns:p14="http://schemas.microsoft.com/office/powerpoint/2010/main" val="17766766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 name="Title 1"/>
          <p:cNvSpPr>
            <a:spLocks noGrp="1"/>
          </p:cNvSpPr>
          <p:nvPr>
            <p:ph type="title"/>
          </p:nvPr>
        </p:nvSpPr>
        <p:spPr/>
        <p:txBody>
          <a:bodyPr lIns="91440" tIns="45720" rIns="91440" bIns="45720" anchor="t">
            <a:spAutoFit/>
          </a:bodyPr>
          <a:lstStyle/>
          <a:p>
            <a:r>
              <a:rPr lang="en-US" b="1">
                <a:solidFill>
                  <a:srgbClr val="582A04"/>
                </a:solidFill>
                <a:latin typeface="+mn-lt"/>
              </a:rPr>
              <a:t>Appendix 6 – Confectionary Market Data</a:t>
            </a:r>
            <a:endParaRPr lang="en-US"/>
          </a:p>
        </p:txBody>
      </p:sp>
      <p:sp>
        <p:nvSpPr>
          <p:cNvPr id="25" name="TextBox 24">
            <a:extLst>
              <a:ext uri="{FF2B5EF4-FFF2-40B4-BE49-F238E27FC236}">
                <a16:creationId xmlns:a16="http://schemas.microsoft.com/office/drawing/2014/main" id="{A9A8DCF5-C520-45B2-8A32-7902EB845721}"/>
              </a:ext>
            </a:extLst>
          </p:cNvPr>
          <p:cNvSpPr txBox="1"/>
          <p:nvPr/>
        </p:nvSpPr>
        <p:spPr>
          <a:xfrm>
            <a:off x="608400" y="1214930"/>
            <a:ext cx="10972800" cy="261610"/>
          </a:xfrm>
          <a:prstGeom prst="rect">
            <a:avLst/>
          </a:prstGeom>
          <a:solidFill>
            <a:srgbClr val="582A04"/>
          </a:solidFill>
        </p:spPr>
        <p:txBody>
          <a:bodyPr wrap="square" lIns="91440" tIns="45720" rIns="91440" bIns="45720" rtlCol="0" anchor="t">
            <a:spAutoFit/>
          </a:bodyPr>
          <a:lstStyle/>
          <a:p>
            <a:endParaRPr lang="en-US" sz="1100" b="1">
              <a:solidFill>
                <a:schemeClr val="bg1"/>
              </a:solidFill>
              <a:ea typeface="Open Sans Light"/>
              <a:cs typeface="Open Sans Light"/>
            </a:endParaRPr>
          </a:p>
        </p:txBody>
      </p:sp>
      <p:cxnSp>
        <p:nvCxnSpPr>
          <p:cNvPr id="5" name="Straight Connector 4">
            <a:extLst>
              <a:ext uri="{FF2B5EF4-FFF2-40B4-BE49-F238E27FC236}">
                <a16:creationId xmlns:a16="http://schemas.microsoft.com/office/drawing/2014/main" id="{B3E937F4-3F90-9878-F063-AAD5EF88A1F8}"/>
              </a:ext>
            </a:extLst>
          </p:cNvPr>
          <p:cNvCxnSpPr/>
          <p:nvPr/>
        </p:nvCxnSpPr>
        <p:spPr>
          <a:xfrm>
            <a:off x="0" y="1011749"/>
            <a:ext cx="2185147" cy="0"/>
          </a:xfrm>
          <a:prstGeom prst="line">
            <a:avLst/>
          </a:prstGeom>
          <a:ln w="19050">
            <a:solidFill>
              <a:schemeClr val="bg2">
                <a:lumMod val="90000"/>
              </a:schemeClr>
            </a:solidFill>
          </a:ln>
        </p:spPr>
        <p:style>
          <a:lnRef idx="1">
            <a:schemeClr val="accent2"/>
          </a:lnRef>
          <a:fillRef idx="0">
            <a:schemeClr val="accent2"/>
          </a:fillRef>
          <a:effectRef idx="0">
            <a:schemeClr val="accent2"/>
          </a:effectRef>
          <a:fontRef idx="minor">
            <a:schemeClr val="tx1"/>
          </a:fontRef>
        </p:style>
      </p:cxnSp>
      <p:pic>
        <p:nvPicPr>
          <p:cNvPr id="4" name="Picture 3">
            <a:extLst>
              <a:ext uri="{FF2B5EF4-FFF2-40B4-BE49-F238E27FC236}">
                <a16:creationId xmlns:a16="http://schemas.microsoft.com/office/drawing/2014/main" id="{8A8D6559-36CB-6D71-2071-2A5AE4FD6184}"/>
              </a:ext>
            </a:extLst>
          </p:cNvPr>
          <p:cNvPicPr>
            <a:picLocks noChangeAspect="1"/>
          </p:cNvPicPr>
          <p:nvPr/>
        </p:nvPicPr>
        <p:blipFill rotWithShape="1">
          <a:blip r:embed="rId2"/>
          <a:srcRect l="1407" t="2655" r="625" b="1051"/>
          <a:stretch/>
        </p:blipFill>
        <p:spPr>
          <a:xfrm>
            <a:off x="3377394" y="1850655"/>
            <a:ext cx="5730030" cy="4187952"/>
          </a:xfrm>
          <a:prstGeom prst="rect">
            <a:avLst/>
          </a:prstGeom>
        </p:spPr>
      </p:pic>
    </p:spTree>
    <p:extLst>
      <p:ext uri="{BB962C8B-B14F-4D97-AF65-F5344CB8AC3E}">
        <p14:creationId xmlns:p14="http://schemas.microsoft.com/office/powerpoint/2010/main" val="100439971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Custom 2">
      <a:dk1>
        <a:srgbClr val="000000"/>
      </a:dk1>
      <a:lt1>
        <a:sysClr val="window" lastClr="FFFFFF"/>
      </a:lt1>
      <a:dk2>
        <a:srgbClr val="1E2A39"/>
      </a:dk2>
      <a:lt2>
        <a:srgbClr val="E6E7E8"/>
      </a:lt2>
      <a:accent1>
        <a:srgbClr val="132E57"/>
      </a:accent1>
      <a:accent2>
        <a:srgbClr val="FA621C"/>
      </a:accent2>
      <a:accent3>
        <a:srgbClr val="1E8496"/>
      </a:accent3>
      <a:accent4>
        <a:srgbClr val="F57A16"/>
      </a:accent4>
      <a:accent5>
        <a:srgbClr val="A5A5A5"/>
      </a:accent5>
      <a:accent6>
        <a:srgbClr val="ED942D"/>
      </a:accent6>
      <a:hlink>
        <a:srgbClr val="FA621C"/>
      </a:hlink>
      <a:folHlink>
        <a:srgbClr val="FA621C"/>
      </a:folHlink>
    </a:clrScheme>
    <a:fontScheme name="Custom 1">
      <a:majorFont>
        <a:latin typeface="Open Sans Light"/>
        <a:ea typeface=""/>
        <a:cs typeface=""/>
      </a:majorFont>
      <a:minorFont>
        <a:latin typeface="Open Sa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Custom 2">
      <a:dk1>
        <a:srgbClr val="000000"/>
      </a:dk1>
      <a:lt1>
        <a:sysClr val="window" lastClr="FFFFFF"/>
      </a:lt1>
      <a:dk2>
        <a:srgbClr val="1E2A39"/>
      </a:dk2>
      <a:lt2>
        <a:srgbClr val="E6E7E8"/>
      </a:lt2>
      <a:accent1>
        <a:srgbClr val="132E57"/>
      </a:accent1>
      <a:accent2>
        <a:srgbClr val="FA621C"/>
      </a:accent2>
      <a:accent3>
        <a:srgbClr val="1E8496"/>
      </a:accent3>
      <a:accent4>
        <a:srgbClr val="F57A16"/>
      </a:accent4>
      <a:accent5>
        <a:srgbClr val="A5A5A5"/>
      </a:accent5>
      <a:accent6>
        <a:srgbClr val="ED942D"/>
      </a:accent6>
      <a:hlink>
        <a:srgbClr val="FA621C"/>
      </a:hlink>
      <a:folHlink>
        <a:srgbClr val="FA621C"/>
      </a:folHlink>
    </a:clrScheme>
    <a:fontScheme name="Custom 1">
      <a:majorFont>
        <a:latin typeface="Open Sans Light"/>
        <a:ea typeface=""/>
        <a:cs typeface=""/>
      </a:majorFont>
      <a:minorFont>
        <a:latin typeface="Open Sa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1201</Words>
  <Application>Microsoft Office PowerPoint</Application>
  <PresentationFormat>Widescreen</PresentationFormat>
  <Paragraphs>146</Paragraphs>
  <Slides>18</Slides>
  <Notes>2</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18</vt:i4>
      </vt:variant>
    </vt:vector>
  </HeadingPairs>
  <TitlesOfParts>
    <vt:vector size="26" baseType="lpstr">
      <vt:lpstr>ＭＳ Ｐゴシック</vt:lpstr>
      <vt:lpstr>Arial</vt:lpstr>
      <vt:lpstr>Calibri</vt:lpstr>
      <vt:lpstr>Open Sans Light</vt:lpstr>
      <vt:lpstr>Wingdings</vt:lpstr>
      <vt:lpstr>Office Theme</vt:lpstr>
      <vt:lpstr>1_Office Theme</vt:lpstr>
      <vt:lpstr>Worksheet</vt:lpstr>
      <vt:lpstr>Hershey (NYSE: HSY)</vt:lpstr>
      <vt:lpstr>Company Overview</vt:lpstr>
      <vt:lpstr>Competitive Environment</vt:lpstr>
      <vt:lpstr>Comparison vs S@P 500 index</vt:lpstr>
      <vt:lpstr>Key Industry Trends</vt:lpstr>
      <vt:lpstr>Investment Reasoning – Why Bother Shorting?</vt:lpstr>
      <vt:lpstr>Headwind 1: Cocoa Production</vt:lpstr>
      <vt:lpstr>Headwind 2: Palm Oil Futures</vt:lpstr>
      <vt:lpstr>Headwind 3: Confectionary Market Troubles</vt:lpstr>
      <vt:lpstr>Historical Share Price Performance – 50 Day Moving Average</vt:lpstr>
      <vt:lpstr>Discounted Cash Flow Model &amp; EPS</vt:lpstr>
      <vt:lpstr>Appendices</vt:lpstr>
      <vt:lpstr>Appendix I – Ivory Coast Cocoa Production by %</vt:lpstr>
      <vt:lpstr>Appendix 2 – 10k: Purchase Obligations</vt:lpstr>
      <vt:lpstr>Appendix 3 – Pro Forma Income Statement</vt:lpstr>
      <vt:lpstr>Appendix 4 – Pro Forma Balance Sheet Pt 1</vt:lpstr>
      <vt:lpstr>Appendix 5 – Pro Forma Balance Sheet Pt 2</vt:lpstr>
      <vt:lpstr>Appendix 6 – Confectionary Market Data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CFI</dc:creator>
  <cp:lastModifiedBy>leo goldberg</cp:lastModifiedBy>
  <cp:revision>2</cp:revision>
  <dcterms:created xsi:type="dcterms:W3CDTF">2017-12-07T17:40:14Z</dcterms:created>
  <dcterms:modified xsi:type="dcterms:W3CDTF">2024-04-12T14:40:45Z</dcterms:modified>
</cp:coreProperties>
</file>